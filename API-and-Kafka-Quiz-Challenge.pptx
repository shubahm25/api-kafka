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charset="1" panose="020B0604020202020204"/>
      <p:regular r:id="rId16"/>
    </p:embeddedFont>
    <p:embeddedFont>
      <p:font typeface="Cabin" charset="1" panose="00000500000000000000"/>
      <p:regular r:id="rId17"/>
    </p:embeddedFont>
    <p:embeddedFont>
      <p:font typeface="Cabin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2.png" Type="http://schemas.openxmlformats.org/officeDocument/2006/relationships/image"/><Relationship Id="rId14" Target="../media/image23.svg" Type="http://schemas.openxmlformats.org/officeDocument/2006/relationships/image"/><Relationship Id="rId15" Target="../media/image24.png" Type="http://schemas.openxmlformats.org/officeDocument/2006/relationships/image"/><Relationship Id="rId16" Target="../media/image25.svg" Type="http://schemas.openxmlformats.org/officeDocument/2006/relationships/image"/><Relationship Id="rId17" Target="../media/image26.png" Type="http://schemas.openxmlformats.org/officeDocument/2006/relationships/image"/><Relationship Id="rId18" Target="../media/image27.svg" Type="http://schemas.openxmlformats.org/officeDocument/2006/relationships/image"/><Relationship Id="rId19" Target="../media/image28.png" Type="http://schemas.openxmlformats.org/officeDocument/2006/relationships/image"/><Relationship Id="rId2" Target="../media/image1.png" Type="http://schemas.openxmlformats.org/officeDocument/2006/relationships/image"/><Relationship Id="rId20" Target="../media/image29.sv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1047155" y="3024336"/>
            <a:ext cx="9335691" cy="1817191"/>
          </a:xfrm>
          <a:prstGeom prst="rect">
            <a:avLst/>
          </a:prstGeom>
        </p:spPr>
        <p:txBody>
          <a:bodyPr anchor="t" rtlCol="false" tIns="0" lIns="0" bIns="0" rIns="0">
            <a:spAutoFit/>
          </a:bodyPr>
          <a:lstStyle/>
          <a:p>
            <a:pPr algn="l">
              <a:lnSpc>
                <a:spcPts val="6875"/>
              </a:lnSpc>
            </a:pPr>
            <a:r>
              <a:rPr lang="en-US" sz="5500">
                <a:solidFill>
                  <a:srgbClr val="FFFFFF"/>
                </a:solidFill>
                <a:latin typeface="Arimo"/>
                <a:ea typeface="Arimo"/>
                <a:cs typeface="Arimo"/>
                <a:sym typeface="Arimo"/>
              </a:rPr>
              <a:t>API and Kafka Quiz Challenge</a:t>
            </a:r>
          </a:p>
        </p:txBody>
      </p:sp>
      <p:sp>
        <p:nvSpPr>
          <p:cNvPr name="TextBox 11" id="11"/>
          <p:cNvSpPr txBox="true"/>
          <p:nvPr/>
        </p:nvSpPr>
        <p:spPr>
          <a:xfrm rot="0">
            <a:off x="1047155" y="5194995"/>
            <a:ext cx="9335691" cy="2010370"/>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Get ready to test your knowledge with hilarious real-life scenarios! No boring theory here—just pure fun with practical examples that'll make you laugh while you learn. Let's dive into the world of APIs and Kafka through everyday situations we all experience!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2757487"/>
            <a:chOff x="0" y="0"/>
            <a:chExt cx="24384000" cy="3676650"/>
          </a:xfrm>
        </p:grpSpPr>
        <p:sp>
          <p:nvSpPr>
            <p:cNvPr name="Freeform 9" id="9" descr="preencoded.png"/>
            <p:cNvSpPr/>
            <p:nvPr/>
          </p:nvSpPr>
          <p:spPr>
            <a:xfrm flipH="false" flipV="false" rot="0">
              <a:off x="0" y="0"/>
              <a:ext cx="24384000" cy="3676650"/>
            </a:xfrm>
            <a:custGeom>
              <a:avLst/>
              <a:gdLst/>
              <a:ahLst/>
              <a:cxnLst/>
              <a:rect r="r" b="b" t="t" l="l"/>
              <a:pathLst>
                <a:path h="3676650" w="24384000">
                  <a:moveTo>
                    <a:pt x="0" y="0"/>
                  </a:moveTo>
                  <a:lnTo>
                    <a:pt x="24384000" y="0"/>
                  </a:lnTo>
                  <a:lnTo>
                    <a:pt x="24384000" y="3676650"/>
                  </a:lnTo>
                  <a:lnTo>
                    <a:pt x="0" y="3676650"/>
                  </a:lnTo>
                  <a:lnTo>
                    <a:pt x="0" y="0"/>
                  </a:lnTo>
                  <a:close/>
                </a:path>
              </a:pathLst>
            </a:custGeom>
            <a:blipFill>
              <a:blip r:embed="rId5"/>
              <a:stretch>
                <a:fillRect l="0" t="-86" r="0" b="-86"/>
              </a:stretch>
            </a:blipFill>
          </p:spPr>
        </p:sp>
      </p:grpSp>
      <p:sp>
        <p:nvSpPr>
          <p:cNvPr name="TextBox 10" id="10"/>
          <p:cNvSpPr txBox="true"/>
          <p:nvPr/>
        </p:nvSpPr>
        <p:spPr>
          <a:xfrm rot="0">
            <a:off x="772120" y="3326011"/>
            <a:ext cx="5874692" cy="686991"/>
          </a:xfrm>
          <a:prstGeom prst="rect">
            <a:avLst/>
          </a:prstGeom>
        </p:spPr>
        <p:txBody>
          <a:bodyPr anchor="t" rtlCol="false" tIns="0" lIns="0" bIns="0" rIns="0">
            <a:spAutoFit/>
          </a:bodyPr>
          <a:lstStyle/>
          <a:p>
            <a:pPr algn="l">
              <a:lnSpc>
                <a:spcPts val="5062"/>
              </a:lnSpc>
            </a:pPr>
            <a:r>
              <a:rPr lang="en-US" sz="4062">
                <a:solidFill>
                  <a:srgbClr val="FFFFFF"/>
                </a:solidFill>
                <a:latin typeface="Arimo"/>
                <a:ea typeface="Arimo"/>
                <a:cs typeface="Arimo"/>
                <a:sym typeface="Arimo"/>
              </a:rPr>
              <a:t>Round 1: API Basics</a:t>
            </a:r>
          </a:p>
        </p:txBody>
      </p:sp>
      <p:sp>
        <p:nvSpPr>
          <p:cNvPr name="TextBox 11" id="11"/>
          <p:cNvSpPr txBox="true"/>
          <p:nvPr/>
        </p:nvSpPr>
        <p:spPr>
          <a:xfrm rot="0">
            <a:off x="772120" y="4082057"/>
            <a:ext cx="11859369" cy="408385"/>
          </a:xfrm>
          <a:prstGeom prst="rect">
            <a:avLst/>
          </a:prstGeom>
        </p:spPr>
        <p:txBody>
          <a:bodyPr anchor="t" rtlCol="false" tIns="0" lIns="0" bIns="0" rIns="0">
            <a:spAutoFit/>
          </a:bodyPr>
          <a:lstStyle/>
          <a:p>
            <a:pPr algn="l">
              <a:lnSpc>
                <a:spcPts val="3062"/>
              </a:lnSpc>
            </a:pPr>
            <a:r>
              <a:rPr lang="en-US" sz="2437">
                <a:solidFill>
                  <a:srgbClr val="FFFFFF"/>
                </a:solidFill>
                <a:latin typeface="Arimo"/>
                <a:ea typeface="Arimo"/>
                <a:cs typeface="Arimo"/>
                <a:sym typeface="Arimo"/>
              </a:rPr>
              <a:t>You're ordering biryani on Swiggy at 2 AM. What's the API doing?</a:t>
            </a:r>
          </a:p>
        </p:txBody>
      </p:sp>
      <p:grpSp>
        <p:nvGrpSpPr>
          <p:cNvPr name="Group 12" id="12"/>
          <p:cNvGrpSpPr/>
          <p:nvPr/>
        </p:nvGrpSpPr>
        <p:grpSpPr>
          <a:xfrm rot="0">
            <a:off x="757832" y="4807000"/>
            <a:ext cx="8290172" cy="2351038"/>
            <a:chOff x="0" y="0"/>
            <a:chExt cx="11053563" cy="3134717"/>
          </a:xfrm>
        </p:grpSpPr>
        <p:sp>
          <p:nvSpPr>
            <p:cNvPr name="Freeform 13" id="13"/>
            <p:cNvSpPr/>
            <p:nvPr/>
          </p:nvSpPr>
          <p:spPr>
            <a:xfrm flipH="false" flipV="false" rot="0">
              <a:off x="19050" y="19050"/>
              <a:ext cx="11015472" cy="3096514"/>
            </a:xfrm>
            <a:custGeom>
              <a:avLst/>
              <a:gdLst/>
              <a:ahLst/>
              <a:cxnLst/>
              <a:rect r="r" b="b" t="t" l="l"/>
              <a:pathLst>
                <a:path h="3096514" w="11015472">
                  <a:moveTo>
                    <a:pt x="0" y="44069"/>
                  </a:moveTo>
                  <a:cubicBezTo>
                    <a:pt x="0" y="19812"/>
                    <a:pt x="19939" y="0"/>
                    <a:pt x="44577" y="0"/>
                  </a:cubicBezTo>
                  <a:lnTo>
                    <a:pt x="10970895" y="0"/>
                  </a:lnTo>
                  <a:cubicBezTo>
                    <a:pt x="10995533" y="0"/>
                    <a:pt x="11015472" y="19812"/>
                    <a:pt x="11015472" y="44069"/>
                  </a:cubicBezTo>
                  <a:lnTo>
                    <a:pt x="11015472" y="3052445"/>
                  </a:lnTo>
                  <a:cubicBezTo>
                    <a:pt x="11015472" y="3076829"/>
                    <a:pt x="10995533" y="3096514"/>
                    <a:pt x="10970895" y="3096514"/>
                  </a:cubicBezTo>
                  <a:lnTo>
                    <a:pt x="44577" y="3096514"/>
                  </a:lnTo>
                  <a:cubicBezTo>
                    <a:pt x="19939" y="3096514"/>
                    <a:pt x="0" y="3076702"/>
                    <a:pt x="0" y="3052445"/>
                  </a:cubicBezTo>
                  <a:close/>
                </a:path>
              </a:pathLst>
            </a:custGeom>
            <a:solidFill>
              <a:srgbClr val="112836"/>
            </a:solidFill>
          </p:spPr>
        </p:sp>
        <p:sp>
          <p:nvSpPr>
            <p:cNvPr name="Freeform 14" id="14"/>
            <p:cNvSpPr/>
            <p:nvPr/>
          </p:nvSpPr>
          <p:spPr>
            <a:xfrm flipH="false" flipV="false" rot="0">
              <a:off x="0" y="0"/>
              <a:ext cx="11053572" cy="3134614"/>
            </a:xfrm>
            <a:custGeom>
              <a:avLst/>
              <a:gdLst/>
              <a:ahLst/>
              <a:cxnLst/>
              <a:rect r="r" b="b" t="t" l="l"/>
              <a:pathLst>
                <a:path h="3134614" w="11053572">
                  <a:moveTo>
                    <a:pt x="0" y="63119"/>
                  </a:moveTo>
                  <a:cubicBezTo>
                    <a:pt x="0" y="28067"/>
                    <a:pt x="28575" y="0"/>
                    <a:pt x="63627" y="0"/>
                  </a:cubicBezTo>
                  <a:lnTo>
                    <a:pt x="10989945" y="0"/>
                  </a:lnTo>
                  <a:lnTo>
                    <a:pt x="10989945" y="19050"/>
                  </a:lnTo>
                  <a:lnTo>
                    <a:pt x="10989945" y="0"/>
                  </a:lnTo>
                  <a:cubicBezTo>
                    <a:pt x="11024870" y="0"/>
                    <a:pt x="11053572" y="28067"/>
                    <a:pt x="11053572" y="63119"/>
                  </a:cubicBezTo>
                  <a:lnTo>
                    <a:pt x="11034522" y="63119"/>
                  </a:lnTo>
                  <a:lnTo>
                    <a:pt x="11053572" y="63119"/>
                  </a:lnTo>
                  <a:lnTo>
                    <a:pt x="11053572" y="3071495"/>
                  </a:lnTo>
                  <a:lnTo>
                    <a:pt x="11034522" y="3071495"/>
                  </a:lnTo>
                  <a:lnTo>
                    <a:pt x="11053572" y="3071495"/>
                  </a:lnTo>
                  <a:cubicBezTo>
                    <a:pt x="11053572" y="3106547"/>
                    <a:pt x="11024997" y="3134614"/>
                    <a:pt x="10989945" y="3134614"/>
                  </a:cubicBezTo>
                  <a:lnTo>
                    <a:pt x="10989945" y="3115564"/>
                  </a:lnTo>
                  <a:lnTo>
                    <a:pt x="10989945" y="3134614"/>
                  </a:lnTo>
                  <a:lnTo>
                    <a:pt x="63627" y="3134614"/>
                  </a:lnTo>
                  <a:lnTo>
                    <a:pt x="63627" y="3115564"/>
                  </a:lnTo>
                  <a:lnTo>
                    <a:pt x="63627" y="3134614"/>
                  </a:lnTo>
                  <a:cubicBezTo>
                    <a:pt x="28702" y="3134614"/>
                    <a:pt x="0" y="3106547"/>
                    <a:pt x="0" y="3071495"/>
                  </a:cubicBezTo>
                  <a:lnTo>
                    <a:pt x="0" y="63119"/>
                  </a:lnTo>
                  <a:lnTo>
                    <a:pt x="19050" y="63119"/>
                  </a:lnTo>
                  <a:lnTo>
                    <a:pt x="0" y="63119"/>
                  </a:lnTo>
                  <a:moveTo>
                    <a:pt x="38100" y="63119"/>
                  </a:moveTo>
                  <a:lnTo>
                    <a:pt x="38100" y="3071495"/>
                  </a:lnTo>
                  <a:lnTo>
                    <a:pt x="19050" y="3071495"/>
                  </a:lnTo>
                  <a:lnTo>
                    <a:pt x="38100" y="3071495"/>
                  </a:lnTo>
                  <a:cubicBezTo>
                    <a:pt x="38100" y="3085211"/>
                    <a:pt x="49403" y="3096514"/>
                    <a:pt x="63627" y="3096514"/>
                  </a:cubicBezTo>
                  <a:lnTo>
                    <a:pt x="10989945" y="3096514"/>
                  </a:lnTo>
                  <a:cubicBezTo>
                    <a:pt x="11004169" y="3096514"/>
                    <a:pt x="11015472" y="3085084"/>
                    <a:pt x="11015472" y="3071495"/>
                  </a:cubicBezTo>
                  <a:lnTo>
                    <a:pt x="11015472" y="63119"/>
                  </a:lnTo>
                  <a:cubicBezTo>
                    <a:pt x="11015472" y="49403"/>
                    <a:pt x="11004169" y="38100"/>
                    <a:pt x="10989945" y="38100"/>
                  </a:cubicBezTo>
                  <a:lnTo>
                    <a:pt x="63627" y="38100"/>
                  </a:lnTo>
                  <a:lnTo>
                    <a:pt x="63627" y="19050"/>
                  </a:lnTo>
                  <a:lnTo>
                    <a:pt x="63627" y="38100"/>
                  </a:lnTo>
                  <a:cubicBezTo>
                    <a:pt x="49403" y="38100"/>
                    <a:pt x="38100" y="49530"/>
                    <a:pt x="38100" y="63119"/>
                  </a:cubicBezTo>
                  <a:close/>
                </a:path>
              </a:pathLst>
            </a:custGeom>
            <a:solidFill>
              <a:srgbClr val="49606E"/>
            </a:solidFill>
          </p:spPr>
        </p:sp>
      </p:grpSp>
      <p:grpSp>
        <p:nvGrpSpPr>
          <p:cNvPr name="Group 15" id="15"/>
          <p:cNvGrpSpPr/>
          <p:nvPr/>
        </p:nvGrpSpPr>
        <p:grpSpPr>
          <a:xfrm rot="0">
            <a:off x="800695" y="4849862"/>
            <a:ext cx="8204447" cy="661690"/>
            <a:chOff x="0" y="0"/>
            <a:chExt cx="10939263" cy="882253"/>
          </a:xfrm>
        </p:grpSpPr>
        <p:sp>
          <p:nvSpPr>
            <p:cNvPr name="Freeform 16" id="16"/>
            <p:cNvSpPr/>
            <p:nvPr/>
          </p:nvSpPr>
          <p:spPr>
            <a:xfrm flipH="false" flipV="false" rot="0">
              <a:off x="0" y="0"/>
              <a:ext cx="10939272" cy="882269"/>
            </a:xfrm>
            <a:custGeom>
              <a:avLst/>
              <a:gdLst/>
              <a:ahLst/>
              <a:cxnLst/>
              <a:rect r="r" b="b" t="t" l="l"/>
              <a:pathLst>
                <a:path h="882269" w="10939272">
                  <a:moveTo>
                    <a:pt x="0" y="0"/>
                  </a:moveTo>
                  <a:lnTo>
                    <a:pt x="10939272" y="0"/>
                  </a:lnTo>
                  <a:lnTo>
                    <a:pt x="10939272" y="882269"/>
                  </a:lnTo>
                  <a:lnTo>
                    <a:pt x="0" y="882269"/>
                  </a:lnTo>
                  <a:close/>
                </a:path>
              </a:pathLst>
            </a:custGeom>
            <a:solidFill>
              <a:srgbClr val="304755"/>
            </a:solidFill>
          </p:spPr>
        </p:sp>
      </p:grpSp>
      <p:sp>
        <p:nvSpPr>
          <p:cNvPr name="TextBox 17" id="17"/>
          <p:cNvSpPr txBox="true"/>
          <p:nvPr/>
        </p:nvSpPr>
        <p:spPr>
          <a:xfrm rot="0">
            <a:off x="4737498" y="5011936"/>
            <a:ext cx="330845" cy="375494"/>
          </a:xfrm>
          <a:prstGeom prst="rect">
            <a:avLst/>
          </a:prstGeom>
        </p:spPr>
        <p:txBody>
          <a:bodyPr anchor="t" rtlCol="false" tIns="0" lIns="0" bIns="0" rIns="0">
            <a:spAutoFit/>
          </a:bodyPr>
          <a:lstStyle/>
          <a:p>
            <a:pPr algn="l">
              <a:lnSpc>
                <a:spcPts val="2562"/>
              </a:lnSpc>
            </a:pPr>
            <a:r>
              <a:rPr lang="en-US" sz="2562">
                <a:solidFill>
                  <a:srgbClr val="CAD6DE"/>
                </a:solidFill>
                <a:latin typeface="Arimo"/>
                <a:ea typeface="Arimo"/>
                <a:cs typeface="Arimo"/>
                <a:sym typeface="Arimo"/>
              </a:rPr>
              <a:t>1</a:t>
            </a:r>
          </a:p>
        </p:txBody>
      </p:sp>
      <p:sp>
        <p:nvSpPr>
          <p:cNvPr name="TextBox 18" id="18"/>
          <p:cNvSpPr txBox="true"/>
          <p:nvPr/>
        </p:nvSpPr>
        <p:spPr>
          <a:xfrm rot="0">
            <a:off x="1021259" y="5713065"/>
            <a:ext cx="2595414" cy="343495"/>
          </a:xfrm>
          <a:prstGeom prst="rect">
            <a:avLst/>
          </a:prstGeom>
        </p:spPr>
        <p:txBody>
          <a:bodyPr anchor="t" rtlCol="false" tIns="0" lIns="0" bIns="0" rIns="0">
            <a:spAutoFit/>
          </a:bodyPr>
          <a:lstStyle/>
          <a:p>
            <a:pPr algn="l">
              <a:lnSpc>
                <a:spcPts val="2500"/>
              </a:lnSpc>
            </a:pPr>
            <a:r>
              <a:rPr lang="en-US" sz="2000">
                <a:solidFill>
                  <a:srgbClr val="CAD6DE"/>
                </a:solidFill>
                <a:latin typeface="Arimo"/>
                <a:ea typeface="Arimo"/>
                <a:cs typeface="Arimo"/>
                <a:sym typeface="Arimo"/>
              </a:rPr>
              <a:t>Option A</a:t>
            </a:r>
          </a:p>
        </p:txBody>
      </p:sp>
      <p:sp>
        <p:nvSpPr>
          <p:cNvPr name="TextBox 19" id="19"/>
          <p:cNvSpPr txBox="true"/>
          <p:nvPr/>
        </p:nvSpPr>
        <p:spPr>
          <a:xfrm rot="0">
            <a:off x="1021259" y="6122194"/>
            <a:ext cx="7763321" cy="772417"/>
          </a:xfrm>
          <a:prstGeom prst="rect">
            <a:avLst/>
          </a:prstGeom>
        </p:spPr>
        <p:txBody>
          <a:bodyPr anchor="t" rtlCol="false" tIns="0" lIns="0" bIns="0" rIns="0">
            <a:spAutoFit/>
          </a:bodyPr>
          <a:lstStyle/>
          <a:p>
            <a:pPr algn="l">
              <a:lnSpc>
                <a:spcPts val="2749"/>
              </a:lnSpc>
            </a:pPr>
            <a:r>
              <a:rPr lang="en-US" sz="1687">
                <a:solidFill>
                  <a:srgbClr val="CAD6DE"/>
                </a:solidFill>
                <a:latin typeface="Cabin"/>
                <a:ea typeface="Cabin"/>
                <a:cs typeface="Cabin"/>
                <a:sym typeface="Cabin"/>
              </a:rPr>
              <a:t>The API is sleeping because it's night time, so your order gets delayed until morning when servers wake up</a:t>
            </a:r>
          </a:p>
        </p:txBody>
      </p:sp>
      <p:grpSp>
        <p:nvGrpSpPr>
          <p:cNvPr name="Group 20" id="20"/>
          <p:cNvGrpSpPr/>
          <p:nvPr/>
        </p:nvGrpSpPr>
        <p:grpSpPr>
          <a:xfrm rot="0">
            <a:off x="9239994" y="4807000"/>
            <a:ext cx="8290172" cy="2351038"/>
            <a:chOff x="0" y="0"/>
            <a:chExt cx="11053563" cy="3134717"/>
          </a:xfrm>
        </p:grpSpPr>
        <p:sp>
          <p:nvSpPr>
            <p:cNvPr name="Freeform 21" id="21"/>
            <p:cNvSpPr/>
            <p:nvPr/>
          </p:nvSpPr>
          <p:spPr>
            <a:xfrm flipH="false" flipV="false" rot="0">
              <a:off x="19050" y="19050"/>
              <a:ext cx="11015472" cy="3096514"/>
            </a:xfrm>
            <a:custGeom>
              <a:avLst/>
              <a:gdLst/>
              <a:ahLst/>
              <a:cxnLst/>
              <a:rect r="r" b="b" t="t" l="l"/>
              <a:pathLst>
                <a:path h="3096514" w="11015472">
                  <a:moveTo>
                    <a:pt x="0" y="44069"/>
                  </a:moveTo>
                  <a:cubicBezTo>
                    <a:pt x="0" y="19812"/>
                    <a:pt x="19939" y="0"/>
                    <a:pt x="44577" y="0"/>
                  </a:cubicBezTo>
                  <a:lnTo>
                    <a:pt x="10970895" y="0"/>
                  </a:lnTo>
                  <a:cubicBezTo>
                    <a:pt x="10995533" y="0"/>
                    <a:pt x="11015472" y="19812"/>
                    <a:pt x="11015472" y="44069"/>
                  </a:cubicBezTo>
                  <a:lnTo>
                    <a:pt x="11015472" y="3052445"/>
                  </a:lnTo>
                  <a:cubicBezTo>
                    <a:pt x="11015472" y="3076829"/>
                    <a:pt x="10995533" y="3096514"/>
                    <a:pt x="10970895" y="3096514"/>
                  </a:cubicBezTo>
                  <a:lnTo>
                    <a:pt x="44577" y="3096514"/>
                  </a:lnTo>
                  <a:cubicBezTo>
                    <a:pt x="19939" y="3096514"/>
                    <a:pt x="0" y="3076702"/>
                    <a:pt x="0" y="3052445"/>
                  </a:cubicBezTo>
                  <a:close/>
                </a:path>
              </a:pathLst>
            </a:custGeom>
            <a:solidFill>
              <a:srgbClr val="112836"/>
            </a:solidFill>
          </p:spPr>
        </p:sp>
        <p:sp>
          <p:nvSpPr>
            <p:cNvPr name="Freeform 22" id="22"/>
            <p:cNvSpPr/>
            <p:nvPr/>
          </p:nvSpPr>
          <p:spPr>
            <a:xfrm flipH="false" flipV="false" rot="0">
              <a:off x="0" y="0"/>
              <a:ext cx="11053572" cy="3134614"/>
            </a:xfrm>
            <a:custGeom>
              <a:avLst/>
              <a:gdLst/>
              <a:ahLst/>
              <a:cxnLst/>
              <a:rect r="r" b="b" t="t" l="l"/>
              <a:pathLst>
                <a:path h="3134614" w="11053572">
                  <a:moveTo>
                    <a:pt x="0" y="63119"/>
                  </a:moveTo>
                  <a:cubicBezTo>
                    <a:pt x="0" y="28067"/>
                    <a:pt x="28575" y="0"/>
                    <a:pt x="63627" y="0"/>
                  </a:cubicBezTo>
                  <a:lnTo>
                    <a:pt x="10989945" y="0"/>
                  </a:lnTo>
                  <a:lnTo>
                    <a:pt x="10989945" y="19050"/>
                  </a:lnTo>
                  <a:lnTo>
                    <a:pt x="10989945" y="0"/>
                  </a:lnTo>
                  <a:cubicBezTo>
                    <a:pt x="11024870" y="0"/>
                    <a:pt x="11053572" y="28067"/>
                    <a:pt x="11053572" y="63119"/>
                  </a:cubicBezTo>
                  <a:lnTo>
                    <a:pt x="11034522" y="63119"/>
                  </a:lnTo>
                  <a:lnTo>
                    <a:pt x="11053572" y="63119"/>
                  </a:lnTo>
                  <a:lnTo>
                    <a:pt x="11053572" y="3071495"/>
                  </a:lnTo>
                  <a:lnTo>
                    <a:pt x="11034522" y="3071495"/>
                  </a:lnTo>
                  <a:lnTo>
                    <a:pt x="11053572" y="3071495"/>
                  </a:lnTo>
                  <a:cubicBezTo>
                    <a:pt x="11053572" y="3106547"/>
                    <a:pt x="11024997" y="3134614"/>
                    <a:pt x="10989945" y="3134614"/>
                  </a:cubicBezTo>
                  <a:lnTo>
                    <a:pt x="10989945" y="3115564"/>
                  </a:lnTo>
                  <a:lnTo>
                    <a:pt x="10989945" y="3134614"/>
                  </a:lnTo>
                  <a:lnTo>
                    <a:pt x="63627" y="3134614"/>
                  </a:lnTo>
                  <a:lnTo>
                    <a:pt x="63627" y="3115564"/>
                  </a:lnTo>
                  <a:lnTo>
                    <a:pt x="63627" y="3134614"/>
                  </a:lnTo>
                  <a:cubicBezTo>
                    <a:pt x="28702" y="3134614"/>
                    <a:pt x="0" y="3106547"/>
                    <a:pt x="0" y="3071495"/>
                  </a:cubicBezTo>
                  <a:lnTo>
                    <a:pt x="0" y="63119"/>
                  </a:lnTo>
                  <a:lnTo>
                    <a:pt x="19050" y="63119"/>
                  </a:lnTo>
                  <a:lnTo>
                    <a:pt x="0" y="63119"/>
                  </a:lnTo>
                  <a:moveTo>
                    <a:pt x="38100" y="63119"/>
                  </a:moveTo>
                  <a:lnTo>
                    <a:pt x="38100" y="3071495"/>
                  </a:lnTo>
                  <a:lnTo>
                    <a:pt x="19050" y="3071495"/>
                  </a:lnTo>
                  <a:lnTo>
                    <a:pt x="38100" y="3071495"/>
                  </a:lnTo>
                  <a:cubicBezTo>
                    <a:pt x="38100" y="3085211"/>
                    <a:pt x="49403" y="3096514"/>
                    <a:pt x="63627" y="3096514"/>
                  </a:cubicBezTo>
                  <a:lnTo>
                    <a:pt x="10989945" y="3096514"/>
                  </a:lnTo>
                  <a:cubicBezTo>
                    <a:pt x="11004169" y="3096514"/>
                    <a:pt x="11015472" y="3085084"/>
                    <a:pt x="11015472" y="3071495"/>
                  </a:cubicBezTo>
                  <a:lnTo>
                    <a:pt x="11015472" y="63119"/>
                  </a:lnTo>
                  <a:cubicBezTo>
                    <a:pt x="11015472" y="49403"/>
                    <a:pt x="11004169" y="38100"/>
                    <a:pt x="10989945" y="38100"/>
                  </a:cubicBezTo>
                  <a:lnTo>
                    <a:pt x="63627" y="38100"/>
                  </a:lnTo>
                  <a:lnTo>
                    <a:pt x="63627" y="19050"/>
                  </a:lnTo>
                  <a:lnTo>
                    <a:pt x="63627" y="38100"/>
                  </a:lnTo>
                  <a:cubicBezTo>
                    <a:pt x="49403" y="38100"/>
                    <a:pt x="38100" y="49530"/>
                    <a:pt x="38100" y="63119"/>
                  </a:cubicBezTo>
                  <a:close/>
                </a:path>
              </a:pathLst>
            </a:custGeom>
            <a:solidFill>
              <a:srgbClr val="49606E"/>
            </a:solidFill>
          </p:spPr>
        </p:sp>
      </p:grpSp>
      <p:grpSp>
        <p:nvGrpSpPr>
          <p:cNvPr name="Group 23" id="23"/>
          <p:cNvGrpSpPr/>
          <p:nvPr/>
        </p:nvGrpSpPr>
        <p:grpSpPr>
          <a:xfrm rot="0">
            <a:off x="9282856" y="4849862"/>
            <a:ext cx="8204447" cy="661690"/>
            <a:chOff x="0" y="0"/>
            <a:chExt cx="10939263" cy="882253"/>
          </a:xfrm>
        </p:grpSpPr>
        <p:sp>
          <p:nvSpPr>
            <p:cNvPr name="Freeform 24" id="24"/>
            <p:cNvSpPr/>
            <p:nvPr/>
          </p:nvSpPr>
          <p:spPr>
            <a:xfrm flipH="false" flipV="false" rot="0">
              <a:off x="0" y="0"/>
              <a:ext cx="10939272" cy="882269"/>
            </a:xfrm>
            <a:custGeom>
              <a:avLst/>
              <a:gdLst/>
              <a:ahLst/>
              <a:cxnLst/>
              <a:rect r="r" b="b" t="t" l="l"/>
              <a:pathLst>
                <a:path h="882269" w="10939272">
                  <a:moveTo>
                    <a:pt x="0" y="0"/>
                  </a:moveTo>
                  <a:lnTo>
                    <a:pt x="10939272" y="0"/>
                  </a:lnTo>
                  <a:lnTo>
                    <a:pt x="10939272" y="882269"/>
                  </a:lnTo>
                  <a:lnTo>
                    <a:pt x="0" y="882269"/>
                  </a:lnTo>
                  <a:close/>
                </a:path>
              </a:pathLst>
            </a:custGeom>
            <a:solidFill>
              <a:srgbClr val="304755"/>
            </a:solidFill>
          </p:spPr>
        </p:sp>
      </p:grpSp>
      <p:sp>
        <p:nvSpPr>
          <p:cNvPr name="TextBox 25" id="25"/>
          <p:cNvSpPr txBox="true"/>
          <p:nvPr/>
        </p:nvSpPr>
        <p:spPr>
          <a:xfrm rot="0">
            <a:off x="13219659" y="5011936"/>
            <a:ext cx="330845" cy="375494"/>
          </a:xfrm>
          <a:prstGeom prst="rect">
            <a:avLst/>
          </a:prstGeom>
        </p:spPr>
        <p:txBody>
          <a:bodyPr anchor="t" rtlCol="false" tIns="0" lIns="0" bIns="0" rIns="0">
            <a:spAutoFit/>
          </a:bodyPr>
          <a:lstStyle/>
          <a:p>
            <a:pPr algn="l">
              <a:lnSpc>
                <a:spcPts val="2562"/>
              </a:lnSpc>
            </a:pPr>
            <a:r>
              <a:rPr lang="en-US" sz="2562">
                <a:solidFill>
                  <a:srgbClr val="CAD6DE"/>
                </a:solidFill>
                <a:latin typeface="Arimo"/>
                <a:ea typeface="Arimo"/>
                <a:cs typeface="Arimo"/>
                <a:sym typeface="Arimo"/>
              </a:rPr>
              <a:t>2</a:t>
            </a:r>
          </a:p>
        </p:txBody>
      </p:sp>
      <p:sp>
        <p:nvSpPr>
          <p:cNvPr name="TextBox 26" id="26"/>
          <p:cNvSpPr txBox="true"/>
          <p:nvPr/>
        </p:nvSpPr>
        <p:spPr>
          <a:xfrm rot="0">
            <a:off x="9503420" y="5713065"/>
            <a:ext cx="2595414" cy="343495"/>
          </a:xfrm>
          <a:prstGeom prst="rect">
            <a:avLst/>
          </a:prstGeom>
        </p:spPr>
        <p:txBody>
          <a:bodyPr anchor="t" rtlCol="false" tIns="0" lIns="0" bIns="0" rIns="0">
            <a:spAutoFit/>
          </a:bodyPr>
          <a:lstStyle/>
          <a:p>
            <a:pPr algn="l">
              <a:lnSpc>
                <a:spcPts val="2500"/>
              </a:lnSpc>
            </a:pPr>
            <a:r>
              <a:rPr lang="en-US" sz="2000">
                <a:solidFill>
                  <a:srgbClr val="CAD6DE"/>
                </a:solidFill>
                <a:latin typeface="Arimo"/>
                <a:ea typeface="Arimo"/>
                <a:cs typeface="Arimo"/>
                <a:sym typeface="Arimo"/>
              </a:rPr>
              <a:t>Option B</a:t>
            </a:r>
          </a:p>
        </p:txBody>
      </p:sp>
      <p:sp>
        <p:nvSpPr>
          <p:cNvPr name="TextBox 27" id="27"/>
          <p:cNvSpPr txBox="true"/>
          <p:nvPr/>
        </p:nvSpPr>
        <p:spPr>
          <a:xfrm rot="0">
            <a:off x="9503420" y="6122194"/>
            <a:ext cx="7763321" cy="772417"/>
          </a:xfrm>
          <a:prstGeom prst="rect">
            <a:avLst/>
          </a:prstGeom>
        </p:spPr>
        <p:txBody>
          <a:bodyPr anchor="t" rtlCol="false" tIns="0" lIns="0" bIns="0" rIns="0">
            <a:spAutoFit/>
          </a:bodyPr>
          <a:lstStyle/>
          <a:p>
            <a:pPr algn="l">
              <a:lnSpc>
                <a:spcPts val="2749"/>
              </a:lnSpc>
            </a:pPr>
            <a:r>
              <a:rPr lang="en-US" sz="1687">
                <a:solidFill>
                  <a:srgbClr val="CAD6DE"/>
                </a:solidFill>
                <a:latin typeface="Cabin"/>
                <a:ea typeface="Cabin"/>
                <a:cs typeface="Cabin"/>
                <a:sym typeface="Cabin"/>
              </a:rPr>
              <a:t>Acting as a waiter between you and the restaurant—taking your order, checking availability, and bringing back the confirmation</a:t>
            </a:r>
          </a:p>
        </p:txBody>
      </p:sp>
      <p:grpSp>
        <p:nvGrpSpPr>
          <p:cNvPr name="Group 28" id="28"/>
          <p:cNvGrpSpPr/>
          <p:nvPr/>
        </p:nvGrpSpPr>
        <p:grpSpPr>
          <a:xfrm rot="0">
            <a:off x="757832" y="7350026"/>
            <a:ext cx="8290172" cy="2351038"/>
            <a:chOff x="0" y="0"/>
            <a:chExt cx="11053563" cy="3134717"/>
          </a:xfrm>
        </p:grpSpPr>
        <p:sp>
          <p:nvSpPr>
            <p:cNvPr name="Freeform 29" id="29"/>
            <p:cNvSpPr/>
            <p:nvPr/>
          </p:nvSpPr>
          <p:spPr>
            <a:xfrm flipH="false" flipV="false" rot="0">
              <a:off x="19050" y="19050"/>
              <a:ext cx="11015472" cy="3096514"/>
            </a:xfrm>
            <a:custGeom>
              <a:avLst/>
              <a:gdLst/>
              <a:ahLst/>
              <a:cxnLst/>
              <a:rect r="r" b="b" t="t" l="l"/>
              <a:pathLst>
                <a:path h="3096514" w="11015472">
                  <a:moveTo>
                    <a:pt x="0" y="44069"/>
                  </a:moveTo>
                  <a:cubicBezTo>
                    <a:pt x="0" y="19812"/>
                    <a:pt x="19939" y="0"/>
                    <a:pt x="44577" y="0"/>
                  </a:cubicBezTo>
                  <a:lnTo>
                    <a:pt x="10970895" y="0"/>
                  </a:lnTo>
                  <a:cubicBezTo>
                    <a:pt x="10995533" y="0"/>
                    <a:pt x="11015472" y="19812"/>
                    <a:pt x="11015472" y="44069"/>
                  </a:cubicBezTo>
                  <a:lnTo>
                    <a:pt x="11015472" y="3052445"/>
                  </a:lnTo>
                  <a:cubicBezTo>
                    <a:pt x="11015472" y="3076829"/>
                    <a:pt x="10995533" y="3096514"/>
                    <a:pt x="10970895" y="3096514"/>
                  </a:cubicBezTo>
                  <a:lnTo>
                    <a:pt x="44577" y="3096514"/>
                  </a:lnTo>
                  <a:cubicBezTo>
                    <a:pt x="19939" y="3096514"/>
                    <a:pt x="0" y="3076702"/>
                    <a:pt x="0" y="3052445"/>
                  </a:cubicBezTo>
                  <a:close/>
                </a:path>
              </a:pathLst>
            </a:custGeom>
            <a:solidFill>
              <a:srgbClr val="112836"/>
            </a:solidFill>
          </p:spPr>
        </p:sp>
        <p:sp>
          <p:nvSpPr>
            <p:cNvPr name="Freeform 30" id="30"/>
            <p:cNvSpPr/>
            <p:nvPr/>
          </p:nvSpPr>
          <p:spPr>
            <a:xfrm flipH="false" flipV="false" rot="0">
              <a:off x="0" y="0"/>
              <a:ext cx="11053572" cy="3134614"/>
            </a:xfrm>
            <a:custGeom>
              <a:avLst/>
              <a:gdLst/>
              <a:ahLst/>
              <a:cxnLst/>
              <a:rect r="r" b="b" t="t" l="l"/>
              <a:pathLst>
                <a:path h="3134614" w="11053572">
                  <a:moveTo>
                    <a:pt x="0" y="63119"/>
                  </a:moveTo>
                  <a:cubicBezTo>
                    <a:pt x="0" y="28067"/>
                    <a:pt x="28575" y="0"/>
                    <a:pt x="63627" y="0"/>
                  </a:cubicBezTo>
                  <a:lnTo>
                    <a:pt x="10989945" y="0"/>
                  </a:lnTo>
                  <a:lnTo>
                    <a:pt x="10989945" y="19050"/>
                  </a:lnTo>
                  <a:lnTo>
                    <a:pt x="10989945" y="0"/>
                  </a:lnTo>
                  <a:cubicBezTo>
                    <a:pt x="11024870" y="0"/>
                    <a:pt x="11053572" y="28067"/>
                    <a:pt x="11053572" y="63119"/>
                  </a:cubicBezTo>
                  <a:lnTo>
                    <a:pt x="11034522" y="63119"/>
                  </a:lnTo>
                  <a:lnTo>
                    <a:pt x="11053572" y="63119"/>
                  </a:lnTo>
                  <a:lnTo>
                    <a:pt x="11053572" y="3071495"/>
                  </a:lnTo>
                  <a:lnTo>
                    <a:pt x="11034522" y="3071495"/>
                  </a:lnTo>
                  <a:lnTo>
                    <a:pt x="11053572" y="3071495"/>
                  </a:lnTo>
                  <a:cubicBezTo>
                    <a:pt x="11053572" y="3106547"/>
                    <a:pt x="11024997" y="3134614"/>
                    <a:pt x="10989945" y="3134614"/>
                  </a:cubicBezTo>
                  <a:lnTo>
                    <a:pt x="10989945" y="3115564"/>
                  </a:lnTo>
                  <a:lnTo>
                    <a:pt x="10989945" y="3134614"/>
                  </a:lnTo>
                  <a:lnTo>
                    <a:pt x="63627" y="3134614"/>
                  </a:lnTo>
                  <a:lnTo>
                    <a:pt x="63627" y="3115564"/>
                  </a:lnTo>
                  <a:lnTo>
                    <a:pt x="63627" y="3134614"/>
                  </a:lnTo>
                  <a:cubicBezTo>
                    <a:pt x="28702" y="3134614"/>
                    <a:pt x="0" y="3106547"/>
                    <a:pt x="0" y="3071495"/>
                  </a:cubicBezTo>
                  <a:lnTo>
                    <a:pt x="0" y="63119"/>
                  </a:lnTo>
                  <a:lnTo>
                    <a:pt x="19050" y="63119"/>
                  </a:lnTo>
                  <a:lnTo>
                    <a:pt x="0" y="63119"/>
                  </a:lnTo>
                  <a:moveTo>
                    <a:pt x="38100" y="63119"/>
                  </a:moveTo>
                  <a:lnTo>
                    <a:pt x="38100" y="3071495"/>
                  </a:lnTo>
                  <a:lnTo>
                    <a:pt x="19050" y="3071495"/>
                  </a:lnTo>
                  <a:lnTo>
                    <a:pt x="38100" y="3071495"/>
                  </a:lnTo>
                  <a:cubicBezTo>
                    <a:pt x="38100" y="3085211"/>
                    <a:pt x="49403" y="3096514"/>
                    <a:pt x="63627" y="3096514"/>
                  </a:cubicBezTo>
                  <a:lnTo>
                    <a:pt x="10989945" y="3096514"/>
                  </a:lnTo>
                  <a:cubicBezTo>
                    <a:pt x="11004169" y="3096514"/>
                    <a:pt x="11015472" y="3085084"/>
                    <a:pt x="11015472" y="3071495"/>
                  </a:cubicBezTo>
                  <a:lnTo>
                    <a:pt x="11015472" y="63119"/>
                  </a:lnTo>
                  <a:cubicBezTo>
                    <a:pt x="11015472" y="49403"/>
                    <a:pt x="11004169" y="38100"/>
                    <a:pt x="10989945" y="38100"/>
                  </a:cubicBezTo>
                  <a:lnTo>
                    <a:pt x="63627" y="38100"/>
                  </a:lnTo>
                  <a:lnTo>
                    <a:pt x="63627" y="19050"/>
                  </a:lnTo>
                  <a:lnTo>
                    <a:pt x="63627" y="38100"/>
                  </a:lnTo>
                  <a:cubicBezTo>
                    <a:pt x="49403" y="38100"/>
                    <a:pt x="38100" y="49530"/>
                    <a:pt x="38100" y="63119"/>
                  </a:cubicBezTo>
                  <a:close/>
                </a:path>
              </a:pathLst>
            </a:custGeom>
            <a:solidFill>
              <a:srgbClr val="49606E"/>
            </a:solidFill>
          </p:spPr>
        </p:sp>
      </p:grpSp>
      <p:grpSp>
        <p:nvGrpSpPr>
          <p:cNvPr name="Group 31" id="31"/>
          <p:cNvGrpSpPr/>
          <p:nvPr/>
        </p:nvGrpSpPr>
        <p:grpSpPr>
          <a:xfrm rot="0">
            <a:off x="800695" y="7392889"/>
            <a:ext cx="8204447" cy="661690"/>
            <a:chOff x="0" y="0"/>
            <a:chExt cx="10939263" cy="882253"/>
          </a:xfrm>
        </p:grpSpPr>
        <p:sp>
          <p:nvSpPr>
            <p:cNvPr name="Freeform 32" id="32"/>
            <p:cNvSpPr/>
            <p:nvPr/>
          </p:nvSpPr>
          <p:spPr>
            <a:xfrm flipH="false" flipV="false" rot="0">
              <a:off x="0" y="0"/>
              <a:ext cx="10939272" cy="882269"/>
            </a:xfrm>
            <a:custGeom>
              <a:avLst/>
              <a:gdLst/>
              <a:ahLst/>
              <a:cxnLst/>
              <a:rect r="r" b="b" t="t" l="l"/>
              <a:pathLst>
                <a:path h="882269" w="10939272">
                  <a:moveTo>
                    <a:pt x="0" y="0"/>
                  </a:moveTo>
                  <a:lnTo>
                    <a:pt x="10939272" y="0"/>
                  </a:lnTo>
                  <a:lnTo>
                    <a:pt x="10939272" y="882269"/>
                  </a:lnTo>
                  <a:lnTo>
                    <a:pt x="0" y="882269"/>
                  </a:lnTo>
                  <a:close/>
                </a:path>
              </a:pathLst>
            </a:custGeom>
            <a:solidFill>
              <a:srgbClr val="304755"/>
            </a:solidFill>
          </p:spPr>
        </p:sp>
      </p:grpSp>
      <p:sp>
        <p:nvSpPr>
          <p:cNvPr name="TextBox 33" id="33"/>
          <p:cNvSpPr txBox="true"/>
          <p:nvPr/>
        </p:nvSpPr>
        <p:spPr>
          <a:xfrm rot="0">
            <a:off x="4737498" y="7554962"/>
            <a:ext cx="330845" cy="375494"/>
          </a:xfrm>
          <a:prstGeom prst="rect">
            <a:avLst/>
          </a:prstGeom>
        </p:spPr>
        <p:txBody>
          <a:bodyPr anchor="t" rtlCol="false" tIns="0" lIns="0" bIns="0" rIns="0">
            <a:spAutoFit/>
          </a:bodyPr>
          <a:lstStyle/>
          <a:p>
            <a:pPr algn="l">
              <a:lnSpc>
                <a:spcPts val="2562"/>
              </a:lnSpc>
            </a:pPr>
            <a:r>
              <a:rPr lang="en-US" sz="2562">
                <a:solidFill>
                  <a:srgbClr val="CAD6DE"/>
                </a:solidFill>
                <a:latin typeface="Arimo"/>
                <a:ea typeface="Arimo"/>
                <a:cs typeface="Arimo"/>
                <a:sym typeface="Arimo"/>
              </a:rPr>
              <a:t>3</a:t>
            </a:r>
          </a:p>
        </p:txBody>
      </p:sp>
      <p:sp>
        <p:nvSpPr>
          <p:cNvPr name="TextBox 34" id="34"/>
          <p:cNvSpPr txBox="true"/>
          <p:nvPr/>
        </p:nvSpPr>
        <p:spPr>
          <a:xfrm rot="0">
            <a:off x="1021259" y="8256091"/>
            <a:ext cx="2595414" cy="343495"/>
          </a:xfrm>
          <a:prstGeom prst="rect">
            <a:avLst/>
          </a:prstGeom>
        </p:spPr>
        <p:txBody>
          <a:bodyPr anchor="t" rtlCol="false" tIns="0" lIns="0" bIns="0" rIns="0">
            <a:spAutoFit/>
          </a:bodyPr>
          <a:lstStyle/>
          <a:p>
            <a:pPr algn="l">
              <a:lnSpc>
                <a:spcPts val="2500"/>
              </a:lnSpc>
            </a:pPr>
            <a:r>
              <a:rPr lang="en-US" sz="2000">
                <a:solidFill>
                  <a:srgbClr val="CAD6DE"/>
                </a:solidFill>
                <a:latin typeface="Arimo"/>
                <a:ea typeface="Arimo"/>
                <a:cs typeface="Arimo"/>
                <a:sym typeface="Arimo"/>
              </a:rPr>
              <a:t>Option C</a:t>
            </a:r>
          </a:p>
        </p:txBody>
      </p:sp>
      <p:sp>
        <p:nvSpPr>
          <p:cNvPr name="TextBox 35" id="35"/>
          <p:cNvSpPr txBox="true"/>
          <p:nvPr/>
        </p:nvSpPr>
        <p:spPr>
          <a:xfrm rot="0">
            <a:off x="1021259" y="8665220"/>
            <a:ext cx="7763321" cy="772417"/>
          </a:xfrm>
          <a:prstGeom prst="rect">
            <a:avLst/>
          </a:prstGeom>
        </p:spPr>
        <p:txBody>
          <a:bodyPr anchor="t" rtlCol="false" tIns="0" lIns="0" bIns="0" rIns="0">
            <a:spAutoFit/>
          </a:bodyPr>
          <a:lstStyle/>
          <a:p>
            <a:pPr algn="l">
              <a:lnSpc>
                <a:spcPts val="2749"/>
              </a:lnSpc>
            </a:pPr>
            <a:r>
              <a:rPr lang="en-US" sz="1687">
                <a:solidFill>
                  <a:srgbClr val="CAD6DE"/>
                </a:solidFill>
                <a:latin typeface="Cabin"/>
                <a:ea typeface="Cabin"/>
                <a:cs typeface="Cabin"/>
                <a:sym typeface="Cabin"/>
              </a:rPr>
              <a:t>Directly cooking the biryani in the cloud and teleporting it to your doorstep using 5G technology</a:t>
            </a:r>
          </a:p>
        </p:txBody>
      </p:sp>
      <p:grpSp>
        <p:nvGrpSpPr>
          <p:cNvPr name="Group 36" id="36"/>
          <p:cNvGrpSpPr/>
          <p:nvPr/>
        </p:nvGrpSpPr>
        <p:grpSpPr>
          <a:xfrm rot="0">
            <a:off x="9239994" y="7350026"/>
            <a:ext cx="8290172" cy="2351038"/>
            <a:chOff x="0" y="0"/>
            <a:chExt cx="11053563" cy="3134717"/>
          </a:xfrm>
        </p:grpSpPr>
        <p:sp>
          <p:nvSpPr>
            <p:cNvPr name="Freeform 37" id="37"/>
            <p:cNvSpPr/>
            <p:nvPr/>
          </p:nvSpPr>
          <p:spPr>
            <a:xfrm flipH="false" flipV="false" rot="0">
              <a:off x="19050" y="19050"/>
              <a:ext cx="11015472" cy="3096514"/>
            </a:xfrm>
            <a:custGeom>
              <a:avLst/>
              <a:gdLst/>
              <a:ahLst/>
              <a:cxnLst/>
              <a:rect r="r" b="b" t="t" l="l"/>
              <a:pathLst>
                <a:path h="3096514" w="11015472">
                  <a:moveTo>
                    <a:pt x="0" y="44069"/>
                  </a:moveTo>
                  <a:cubicBezTo>
                    <a:pt x="0" y="19812"/>
                    <a:pt x="19939" y="0"/>
                    <a:pt x="44577" y="0"/>
                  </a:cubicBezTo>
                  <a:lnTo>
                    <a:pt x="10970895" y="0"/>
                  </a:lnTo>
                  <a:cubicBezTo>
                    <a:pt x="10995533" y="0"/>
                    <a:pt x="11015472" y="19812"/>
                    <a:pt x="11015472" y="44069"/>
                  </a:cubicBezTo>
                  <a:lnTo>
                    <a:pt x="11015472" y="3052445"/>
                  </a:lnTo>
                  <a:cubicBezTo>
                    <a:pt x="11015472" y="3076829"/>
                    <a:pt x="10995533" y="3096514"/>
                    <a:pt x="10970895" y="3096514"/>
                  </a:cubicBezTo>
                  <a:lnTo>
                    <a:pt x="44577" y="3096514"/>
                  </a:lnTo>
                  <a:cubicBezTo>
                    <a:pt x="19939" y="3096514"/>
                    <a:pt x="0" y="3076702"/>
                    <a:pt x="0" y="3052445"/>
                  </a:cubicBezTo>
                  <a:close/>
                </a:path>
              </a:pathLst>
            </a:custGeom>
            <a:solidFill>
              <a:srgbClr val="112836"/>
            </a:solidFill>
          </p:spPr>
        </p:sp>
        <p:sp>
          <p:nvSpPr>
            <p:cNvPr name="Freeform 38" id="38"/>
            <p:cNvSpPr/>
            <p:nvPr/>
          </p:nvSpPr>
          <p:spPr>
            <a:xfrm flipH="false" flipV="false" rot="0">
              <a:off x="0" y="0"/>
              <a:ext cx="11053572" cy="3134614"/>
            </a:xfrm>
            <a:custGeom>
              <a:avLst/>
              <a:gdLst/>
              <a:ahLst/>
              <a:cxnLst/>
              <a:rect r="r" b="b" t="t" l="l"/>
              <a:pathLst>
                <a:path h="3134614" w="11053572">
                  <a:moveTo>
                    <a:pt x="0" y="63119"/>
                  </a:moveTo>
                  <a:cubicBezTo>
                    <a:pt x="0" y="28067"/>
                    <a:pt x="28575" y="0"/>
                    <a:pt x="63627" y="0"/>
                  </a:cubicBezTo>
                  <a:lnTo>
                    <a:pt x="10989945" y="0"/>
                  </a:lnTo>
                  <a:lnTo>
                    <a:pt x="10989945" y="19050"/>
                  </a:lnTo>
                  <a:lnTo>
                    <a:pt x="10989945" y="0"/>
                  </a:lnTo>
                  <a:cubicBezTo>
                    <a:pt x="11024870" y="0"/>
                    <a:pt x="11053572" y="28067"/>
                    <a:pt x="11053572" y="63119"/>
                  </a:cubicBezTo>
                  <a:lnTo>
                    <a:pt x="11034522" y="63119"/>
                  </a:lnTo>
                  <a:lnTo>
                    <a:pt x="11053572" y="63119"/>
                  </a:lnTo>
                  <a:lnTo>
                    <a:pt x="11053572" y="3071495"/>
                  </a:lnTo>
                  <a:lnTo>
                    <a:pt x="11034522" y="3071495"/>
                  </a:lnTo>
                  <a:lnTo>
                    <a:pt x="11053572" y="3071495"/>
                  </a:lnTo>
                  <a:cubicBezTo>
                    <a:pt x="11053572" y="3106547"/>
                    <a:pt x="11024997" y="3134614"/>
                    <a:pt x="10989945" y="3134614"/>
                  </a:cubicBezTo>
                  <a:lnTo>
                    <a:pt x="10989945" y="3115564"/>
                  </a:lnTo>
                  <a:lnTo>
                    <a:pt x="10989945" y="3134614"/>
                  </a:lnTo>
                  <a:lnTo>
                    <a:pt x="63627" y="3134614"/>
                  </a:lnTo>
                  <a:lnTo>
                    <a:pt x="63627" y="3115564"/>
                  </a:lnTo>
                  <a:lnTo>
                    <a:pt x="63627" y="3134614"/>
                  </a:lnTo>
                  <a:cubicBezTo>
                    <a:pt x="28702" y="3134614"/>
                    <a:pt x="0" y="3106547"/>
                    <a:pt x="0" y="3071495"/>
                  </a:cubicBezTo>
                  <a:lnTo>
                    <a:pt x="0" y="63119"/>
                  </a:lnTo>
                  <a:lnTo>
                    <a:pt x="19050" y="63119"/>
                  </a:lnTo>
                  <a:lnTo>
                    <a:pt x="0" y="63119"/>
                  </a:lnTo>
                  <a:moveTo>
                    <a:pt x="38100" y="63119"/>
                  </a:moveTo>
                  <a:lnTo>
                    <a:pt x="38100" y="3071495"/>
                  </a:lnTo>
                  <a:lnTo>
                    <a:pt x="19050" y="3071495"/>
                  </a:lnTo>
                  <a:lnTo>
                    <a:pt x="38100" y="3071495"/>
                  </a:lnTo>
                  <a:cubicBezTo>
                    <a:pt x="38100" y="3085211"/>
                    <a:pt x="49403" y="3096514"/>
                    <a:pt x="63627" y="3096514"/>
                  </a:cubicBezTo>
                  <a:lnTo>
                    <a:pt x="10989945" y="3096514"/>
                  </a:lnTo>
                  <a:cubicBezTo>
                    <a:pt x="11004169" y="3096514"/>
                    <a:pt x="11015472" y="3085084"/>
                    <a:pt x="11015472" y="3071495"/>
                  </a:cubicBezTo>
                  <a:lnTo>
                    <a:pt x="11015472" y="63119"/>
                  </a:lnTo>
                  <a:cubicBezTo>
                    <a:pt x="11015472" y="49403"/>
                    <a:pt x="11004169" y="38100"/>
                    <a:pt x="10989945" y="38100"/>
                  </a:cubicBezTo>
                  <a:lnTo>
                    <a:pt x="63627" y="38100"/>
                  </a:lnTo>
                  <a:lnTo>
                    <a:pt x="63627" y="19050"/>
                  </a:lnTo>
                  <a:lnTo>
                    <a:pt x="63627" y="38100"/>
                  </a:lnTo>
                  <a:cubicBezTo>
                    <a:pt x="49403" y="38100"/>
                    <a:pt x="38100" y="49530"/>
                    <a:pt x="38100" y="63119"/>
                  </a:cubicBezTo>
                  <a:close/>
                </a:path>
              </a:pathLst>
            </a:custGeom>
            <a:solidFill>
              <a:srgbClr val="49606E"/>
            </a:solidFill>
          </p:spPr>
        </p:sp>
      </p:grpSp>
      <p:grpSp>
        <p:nvGrpSpPr>
          <p:cNvPr name="Group 39" id="39"/>
          <p:cNvGrpSpPr/>
          <p:nvPr/>
        </p:nvGrpSpPr>
        <p:grpSpPr>
          <a:xfrm rot="0">
            <a:off x="9282856" y="7392889"/>
            <a:ext cx="8204447" cy="661690"/>
            <a:chOff x="0" y="0"/>
            <a:chExt cx="10939263" cy="882253"/>
          </a:xfrm>
        </p:grpSpPr>
        <p:sp>
          <p:nvSpPr>
            <p:cNvPr name="Freeform 40" id="40"/>
            <p:cNvSpPr/>
            <p:nvPr/>
          </p:nvSpPr>
          <p:spPr>
            <a:xfrm flipH="false" flipV="false" rot="0">
              <a:off x="0" y="0"/>
              <a:ext cx="10939272" cy="882269"/>
            </a:xfrm>
            <a:custGeom>
              <a:avLst/>
              <a:gdLst/>
              <a:ahLst/>
              <a:cxnLst/>
              <a:rect r="r" b="b" t="t" l="l"/>
              <a:pathLst>
                <a:path h="882269" w="10939272">
                  <a:moveTo>
                    <a:pt x="0" y="0"/>
                  </a:moveTo>
                  <a:lnTo>
                    <a:pt x="10939272" y="0"/>
                  </a:lnTo>
                  <a:lnTo>
                    <a:pt x="10939272" y="882269"/>
                  </a:lnTo>
                  <a:lnTo>
                    <a:pt x="0" y="882269"/>
                  </a:lnTo>
                  <a:close/>
                </a:path>
              </a:pathLst>
            </a:custGeom>
            <a:solidFill>
              <a:srgbClr val="304755"/>
            </a:solidFill>
          </p:spPr>
        </p:sp>
      </p:grpSp>
      <p:sp>
        <p:nvSpPr>
          <p:cNvPr name="TextBox 41" id="41"/>
          <p:cNvSpPr txBox="true"/>
          <p:nvPr/>
        </p:nvSpPr>
        <p:spPr>
          <a:xfrm rot="0">
            <a:off x="13219659" y="7554962"/>
            <a:ext cx="330845" cy="375494"/>
          </a:xfrm>
          <a:prstGeom prst="rect">
            <a:avLst/>
          </a:prstGeom>
        </p:spPr>
        <p:txBody>
          <a:bodyPr anchor="t" rtlCol="false" tIns="0" lIns="0" bIns="0" rIns="0">
            <a:spAutoFit/>
          </a:bodyPr>
          <a:lstStyle/>
          <a:p>
            <a:pPr algn="l">
              <a:lnSpc>
                <a:spcPts val="2562"/>
              </a:lnSpc>
            </a:pPr>
            <a:r>
              <a:rPr lang="en-US" sz="2562">
                <a:solidFill>
                  <a:srgbClr val="CAD6DE"/>
                </a:solidFill>
                <a:latin typeface="Arimo"/>
                <a:ea typeface="Arimo"/>
                <a:cs typeface="Arimo"/>
                <a:sym typeface="Arimo"/>
              </a:rPr>
              <a:t>4</a:t>
            </a:r>
          </a:p>
        </p:txBody>
      </p:sp>
      <p:sp>
        <p:nvSpPr>
          <p:cNvPr name="TextBox 42" id="42"/>
          <p:cNvSpPr txBox="true"/>
          <p:nvPr/>
        </p:nvSpPr>
        <p:spPr>
          <a:xfrm rot="0">
            <a:off x="9503420" y="8256091"/>
            <a:ext cx="2595414" cy="343495"/>
          </a:xfrm>
          <a:prstGeom prst="rect">
            <a:avLst/>
          </a:prstGeom>
        </p:spPr>
        <p:txBody>
          <a:bodyPr anchor="t" rtlCol="false" tIns="0" lIns="0" bIns="0" rIns="0">
            <a:spAutoFit/>
          </a:bodyPr>
          <a:lstStyle/>
          <a:p>
            <a:pPr algn="l">
              <a:lnSpc>
                <a:spcPts val="2500"/>
              </a:lnSpc>
            </a:pPr>
            <a:r>
              <a:rPr lang="en-US" sz="2000">
                <a:solidFill>
                  <a:srgbClr val="CAD6DE"/>
                </a:solidFill>
                <a:latin typeface="Arimo"/>
                <a:ea typeface="Arimo"/>
                <a:cs typeface="Arimo"/>
                <a:sym typeface="Arimo"/>
              </a:rPr>
              <a:t>Option D</a:t>
            </a:r>
          </a:p>
        </p:txBody>
      </p:sp>
      <p:sp>
        <p:nvSpPr>
          <p:cNvPr name="TextBox 43" id="43"/>
          <p:cNvSpPr txBox="true"/>
          <p:nvPr/>
        </p:nvSpPr>
        <p:spPr>
          <a:xfrm rot="0">
            <a:off x="9503420" y="8665220"/>
            <a:ext cx="7763321" cy="772417"/>
          </a:xfrm>
          <a:prstGeom prst="rect">
            <a:avLst/>
          </a:prstGeom>
        </p:spPr>
        <p:txBody>
          <a:bodyPr anchor="t" rtlCol="false" tIns="0" lIns="0" bIns="0" rIns="0">
            <a:spAutoFit/>
          </a:bodyPr>
          <a:lstStyle/>
          <a:p>
            <a:pPr algn="l">
              <a:lnSpc>
                <a:spcPts val="2749"/>
              </a:lnSpc>
            </a:pPr>
            <a:r>
              <a:rPr lang="en-US" sz="1687">
                <a:solidFill>
                  <a:srgbClr val="CAD6DE"/>
                </a:solidFill>
                <a:latin typeface="Cabin"/>
                <a:ea typeface="Cabin"/>
                <a:cs typeface="Cabin"/>
                <a:sym typeface="Cabin"/>
              </a:rPr>
              <a:t>Sending your hunger signals telepathically to the restaurant chef who magically knows what you want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754410" y="1425774"/>
            <a:ext cx="9085660" cy="681633"/>
          </a:xfrm>
          <a:prstGeom prst="rect">
            <a:avLst/>
          </a:prstGeom>
        </p:spPr>
        <p:txBody>
          <a:bodyPr anchor="t" rtlCol="false" tIns="0" lIns="0" bIns="0" rIns="0">
            <a:spAutoFit/>
          </a:bodyPr>
          <a:lstStyle/>
          <a:p>
            <a:pPr algn="l">
              <a:lnSpc>
                <a:spcPts val="4937"/>
              </a:lnSpc>
            </a:pPr>
            <a:r>
              <a:rPr lang="en-US" sz="3937">
                <a:solidFill>
                  <a:srgbClr val="FFFFFF"/>
                </a:solidFill>
                <a:latin typeface="Arimo"/>
                <a:ea typeface="Arimo"/>
                <a:cs typeface="Arimo"/>
                <a:sym typeface="Arimo"/>
              </a:rPr>
              <a:t>Round 2: REST API Adventures</a:t>
            </a:r>
          </a:p>
        </p:txBody>
      </p:sp>
      <p:sp>
        <p:nvSpPr>
          <p:cNvPr name="TextBox 11" id="11"/>
          <p:cNvSpPr txBox="true"/>
          <p:nvPr/>
        </p:nvSpPr>
        <p:spPr>
          <a:xfrm rot="0">
            <a:off x="754410" y="2174528"/>
            <a:ext cx="9921180" cy="779860"/>
          </a:xfrm>
          <a:prstGeom prst="rect">
            <a:avLst/>
          </a:prstGeom>
        </p:spPr>
        <p:txBody>
          <a:bodyPr anchor="t" rtlCol="false" tIns="0" lIns="0" bIns="0" rIns="0">
            <a:spAutoFit/>
          </a:bodyPr>
          <a:lstStyle/>
          <a:p>
            <a:pPr algn="l">
              <a:lnSpc>
                <a:spcPts val="2937"/>
              </a:lnSpc>
            </a:pPr>
            <a:r>
              <a:rPr lang="en-US" sz="2375">
                <a:solidFill>
                  <a:srgbClr val="FFFFFF"/>
                </a:solidFill>
                <a:latin typeface="Arimo"/>
                <a:ea typeface="Arimo"/>
                <a:cs typeface="Arimo"/>
                <a:sym typeface="Arimo"/>
              </a:rPr>
              <a:t>You added 5 kurtas to your Myntra cart, but when you refresh, only 2 remain. What REST API method failed?</a:t>
            </a:r>
          </a:p>
        </p:txBody>
      </p:sp>
      <p:grpSp>
        <p:nvGrpSpPr>
          <p:cNvPr name="Group 12" id="12"/>
          <p:cNvGrpSpPr/>
          <p:nvPr/>
        </p:nvGrpSpPr>
        <p:grpSpPr>
          <a:xfrm rot="0">
            <a:off x="754410" y="3277641"/>
            <a:ext cx="9921180" cy="1222325"/>
            <a:chOff x="0" y="0"/>
            <a:chExt cx="13228240" cy="1629767"/>
          </a:xfrm>
        </p:grpSpPr>
        <p:sp>
          <p:nvSpPr>
            <p:cNvPr name="Freeform 13" id="13"/>
            <p:cNvSpPr/>
            <p:nvPr/>
          </p:nvSpPr>
          <p:spPr>
            <a:xfrm flipH="false" flipV="false" rot="0">
              <a:off x="0" y="0"/>
              <a:ext cx="13228320" cy="1629791"/>
            </a:xfrm>
            <a:custGeom>
              <a:avLst/>
              <a:gdLst/>
              <a:ahLst/>
              <a:cxnLst/>
              <a:rect r="r" b="b" t="t" l="l"/>
              <a:pathLst>
                <a:path h="1629791" w="13228320">
                  <a:moveTo>
                    <a:pt x="0" y="43180"/>
                  </a:moveTo>
                  <a:cubicBezTo>
                    <a:pt x="0" y="19304"/>
                    <a:pt x="19304" y="0"/>
                    <a:pt x="43180" y="0"/>
                  </a:cubicBezTo>
                  <a:lnTo>
                    <a:pt x="13185139" y="0"/>
                  </a:lnTo>
                  <a:cubicBezTo>
                    <a:pt x="13209015" y="0"/>
                    <a:pt x="13228320" y="19304"/>
                    <a:pt x="13228320" y="43180"/>
                  </a:cubicBezTo>
                  <a:lnTo>
                    <a:pt x="13228320" y="1586611"/>
                  </a:lnTo>
                  <a:cubicBezTo>
                    <a:pt x="13228320" y="1610487"/>
                    <a:pt x="13209015" y="1629791"/>
                    <a:pt x="13185139" y="1629791"/>
                  </a:cubicBezTo>
                  <a:lnTo>
                    <a:pt x="43180" y="1629791"/>
                  </a:lnTo>
                  <a:cubicBezTo>
                    <a:pt x="19304" y="1629791"/>
                    <a:pt x="0" y="1610487"/>
                    <a:pt x="0" y="1586611"/>
                  </a:cubicBezTo>
                  <a:close/>
                </a:path>
              </a:pathLst>
            </a:custGeom>
            <a:solidFill>
              <a:srgbClr val="304755"/>
            </a:solidFill>
          </p:spPr>
        </p:sp>
      </p:grpSp>
      <p:sp>
        <p:nvSpPr>
          <p:cNvPr name="TextBox 14" id="14"/>
          <p:cNvSpPr txBox="true"/>
          <p:nvPr/>
        </p:nvSpPr>
        <p:spPr>
          <a:xfrm rot="0">
            <a:off x="969912" y="3464570"/>
            <a:ext cx="2536180" cy="345579"/>
          </a:xfrm>
          <a:prstGeom prst="rect">
            <a:avLst/>
          </a:prstGeom>
        </p:spPr>
        <p:txBody>
          <a:bodyPr anchor="t" rtlCol="false" tIns="0" lIns="0" bIns="0" rIns="0">
            <a:spAutoFit/>
          </a:bodyPr>
          <a:lstStyle/>
          <a:p>
            <a:pPr algn="l">
              <a:lnSpc>
                <a:spcPts val="2437"/>
              </a:lnSpc>
            </a:pPr>
            <a:r>
              <a:rPr lang="en-US" sz="1937">
                <a:solidFill>
                  <a:srgbClr val="CAD6DE"/>
                </a:solidFill>
                <a:latin typeface="Arimo"/>
                <a:ea typeface="Arimo"/>
                <a:cs typeface="Arimo"/>
                <a:sym typeface="Arimo"/>
              </a:rPr>
              <a:t>Option A</a:t>
            </a:r>
          </a:p>
        </p:txBody>
      </p:sp>
      <p:sp>
        <p:nvSpPr>
          <p:cNvPr name="TextBox 15" id="15"/>
          <p:cNvSpPr txBox="true"/>
          <p:nvPr/>
        </p:nvSpPr>
        <p:spPr>
          <a:xfrm rot="0">
            <a:off x="969912" y="3882330"/>
            <a:ext cx="9490174" cy="402134"/>
          </a:xfrm>
          <a:prstGeom prst="rect">
            <a:avLst/>
          </a:prstGeom>
        </p:spPr>
        <p:txBody>
          <a:bodyPr anchor="t" rtlCol="false" tIns="0" lIns="0" bIns="0" rIns="0">
            <a:spAutoFit/>
          </a:bodyPr>
          <a:lstStyle/>
          <a:p>
            <a:pPr algn="l">
              <a:lnSpc>
                <a:spcPts val="2687"/>
              </a:lnSpc>
            </a:pPr>
            <a:r>
              <a:rPr lang="en-US" sz="1687">
                <a:solidFill>
                  <a:srgbClr val="CAD6DE"/>
                </a:solidFill>
                <a:latin typeface="Cabin"/>
                <a:ea typeface="Cabin"/>
                <a:cs typeface="Cabin"/>
                <a:sym typeface="Cabin"/>
              </a:rPr>
              <a:t>DELETE—Someone's jealous ex remotely cleared your cart while you weren't looking at your phone</a:t>
            </a:r>
          </a:p>
        </p:txBody>
      </p:sp>
      <p:grpSp>
        <p:nvGrpSpPr>
          <p:cNvPr name="Group 16" id="16"/>
          <p:cNvGrpSpPr/>
          <p:nvPr/>
        </p:nvGrpSpPr>
        <p:grpSpPr>
          <a:xfrm rot="0">
            <a:off x="754410" y="4715470"/>
            <a:ext cx="9921180" cy="1222325"/>
            <a:chOff x="0" y="0"/>
            <a:chExt cx="13228240" cy="1629767"/>
          </a:xfrm>
        </p:grpSpPr>
        <p:sp>
          <p:nvSpPr>
            <p:cNvPr name="Freeform 17" id="17"/>
            <p:cNvSpPr/>
            <p:nvPr/>
          </p:nvSpPr>
          <p:spPr>
            <a:xfrm flipH="false" flipV="false" rot="0">
              <a:off x="0" y="0"/>
              <a:ext cx="13228320" cy="1629791"/>
            </a:xfrm>
            <a:custGeom>
              <a:avLst/>
              <a:gdLst/>
              <a:ahLst/>
              <a:cxnLst/>
              <a:rect r="r" b="b" t="t" l="l"/>
              <a:pathLst>
                <a:path h="1629791" w="13228320">
                  <a:moveTo>
                    <a:pt x="0" y="43180"/>
                  </a:moveTo>
                  <a:cubicBezTo>
                    <a:pt x="0" y="19304"/>
                    <a:pt x="19304" y="0"/>
                    <a:pt x="43180" y="0"/>
                  </a:cubicBezTo>
                  <a:lnTo>
                    <a:pt x="13185139" y="0"/>
                  </a:lnTo>
                  <a:cubicBezTo>
                    <a:pt x="13209015" y="0"/>
                    <a:pt x="13228320" y="19304"/>
                    <a:pt x="13228320" y="43180"/>
                  </a:cubicBezTo>
                  <a:lnTo>
                    <a:pt x="13228320" y="1586611"/>
                  </a:lnTo>
                  <a:cubicBezTo>
                    <a:pt x="13228320" y="1610487"/>
                    <a:pt x="13209015" y="1629791"/>
                    <a:pt x="13185139" y="1629791"/>
                  </a:cubicBezTo>
                  <a:lnTo>
                    <a:pt x="43180" y="1629791"/>
                  </a:lnTo>
                  <a:cubicBezTo>
                    <a:pt x="19304" y="1629791"/>
                    <a:pt x="0" y="1610487"/>
                    <a:pt x="0" y="1586611"/>
                  </a:cubicBezTo>
                  <a:close/>
                </a:path>
              </a:pathLst>
            </a:custGeom>
            <a:solidFill>
              <a:srgbClr val="304755"/>
            </a:solidFill>
          </p:spPr>
        </p:sp>
      </p:grpSp>
      <p:sp>
        <p:nvSpPr>
          <p:cNvPr name="TextBox 18" id="18"/>
          <p:cNvSpPr txBox="true"/>
          <p:nvPr/>
        </p:nvSpPr>
        <p:spPr>
          <a:xfrm rot="0">
            <a:off x="969912" y="4902399"/>
            <a:ext cx="2536180" cy="345579"/>
          </a:xfrm>
          <a:prstGeom prst="rect">
            <a:avLst/>
          </a:prstGeom>
        </p:spPr>
        <p:txBody>
          <a:bodyPr anchor="t" rtlCol="false" tIns="0" lIns="0" bIns="0" rIns="0">
            <a:spAutoFit/>
          </a:bodyPr>
          <a:lstStyle/>
          <a:p>
            <a:pPr algn="l">
              <a:lnSpc>
                <a:spcPts val="2437"/>
              </a:lnSpc>
            </a:pPr>
            <a:r>
              <a:rPr lang="en-US" sz="1937">
                <a:solidFill>
                  <a:srgbClr val="CAD6DE"/>
                </a:solidFill>
                <a:latin typeface="Arimo"/>
                <a:ea typeface="Arimo"/>
                <a:cs typeface="Arimo"/>
                <a:sym typeface="Arimo"/>
              </a:rPr>
              <a:t>Option B</a:t>
            </a:r>
          </a:p>
        </p:txBody>
      </p:sp>
      <p:sp>
        <p:nvSpPr>
          <p:cNvPr name="TextBox 19" id="19"/>
          <p:cNvSpPr txBox="true"/>
          <p:nvPr/>
        </p:nvSpPr>
        <p:spPr>
          <a:xfrm rot="0">
            <a:off x="969912" y="5320159"/>
            <a:ext cx="9490174" cy="402134"/>
          </a:xfrm>
          <a:prstGeom prst="rect">
            <a:avLst/>
          </a:prstGeom>
        </p:spPr>
        <p:txBody>
          <a:bodyPr anchor="t" rtlCol="false" tIns="0" lIns="0" bIns="0" rIns="0">
            <a:spAutoFit/>
          </a:bodyPr>
          <a:lstStyle/>
          <a:p>
            <a:pPr algn="l">
              <a:lnSpc>
                <a:spcPts val="2687"/>
              </a:lnSpc>
            </a:pPr>
            <a:r>
              <a:rPr lang="en-US" sz="1687">
                <a:solidFill>
                  <a:srgbClr val="CAD6DE"/>
                </a:solidFill>
                <a:latin typeface="Cabin"/>
                <a:ea typeface="Cabin"/>
                <a:cs typeface="Cabin"/>
                <a:sym typeface="Cabin"/>
              </a:rPr>
              <a:t>GET—The API forgot its glasses and couldn't read your cart properly, so it made up random numbers</a:t>
            </a:r>
          </a:p>
        </p:txBody>
      </p:sp>
      <p:grpSp>
        <p:nvGrpSpPr>
          <p:cNvPr name="Group 20" id="20"/>
          <p:cNvGrpSpPr/>
          <p:nvPr/>
        </p:nvGrpSpPr>
        <p:grpSpPr>
          <a:xfrm rot="0">
            <a:off x="754410" y="6153299"/>
            <a:ext cx="9921180" cy="1222325"/>
            <a:chOff x="0" y="0"/>
            <a:chExt cx="13228240" cy="1629767"/>
          </a:xfrm>
        </p:grpSpPr>
        <p:sp>
          <p:nvSpPr>
            <p:cNvPr name="Freeform 21" id="21"/>
            <p:cNvSpPr/>
            <p:nvPr/>
          </p:nvSpPr>
          <p:spPr>
            <a:xfrm flipH="false" flipV="false" rot="0">
              <a:off x="0" y="0"/>
              <a:ext cx="13228320" cy="1629791"/>
            </a:xfrm>
            <a:custGeom>
              <a:avLst/>
              <a:gdLst/>
              <a:ahLst/>
              <a:cxnLst/>
              <a:rect r="r" b="b" t="t" l="l"/>
              <a:pathLst>
                <a:path h="1629791" w="13228320">
                  <a:moveTo>
                    <a:pt x="0" y="43180"/>
                  </a:moveTo>
                  <a:cubicBezTo>
                    <a:pt x="0" y="19304"/>
                    <a:pt x="19304" y="0"/>
                    <a:pt x="43180" y="0"/>
                  </a:cubicBezTo>
                  <a:lnTo>
                    <a:pt x="13185139" y="0"/>
                  </a:lnTo>
                  <a:cubicBezTo>
                    <a:pt x="13209015" y="0"/>
                    <a:pt x="13228320" y="19304"/>
                    <a:pt x="13228320" y="43180"/>
                  </a:cubicBezTo>
                  <a:lnTo>
                    <a:pt x="13228320" y="1586611"/>
                  </a:lnTo>
                  <a:cubicBezTo>
                    <a:pt x="13228320" y="1610487"/>
                    <a:pt x="13209015" y="1629791"/>
                    <a:pt x="13185139" y="1629791"/>
                  </a:cubicBezTo>
                  <a:lnTo>
                    <a:pt x="43180" y="1629791"/>
                  </a:lnTo>
                  <a:cubicBezTo>
                    <a:pt x="19304" y="1629791"/>
                    <a:pt x="0" y="1610487"/>
                    <a:pt x="0" y="1586611"/>
                  </a:cubicBezTo>
                  <a:close/>
                </a:path>
              </a:pathLst>
            </a:custGeom>
            <a:solidFill>
              <a:srgbClr val="304755"/>
            </a:solidFill>
          </p:spPr>
        </p:sp>
      </p:grpSp>
      <p:sp>
        <p:nvSpPr>
          <p:cNvPr name="TextBox 22" id="22"/>
          <p:cNvSpPr txBox="true"/>
          <p:nvPr/>
        </p:nvSpPr>
        <p:spPr>
          <a:xfrm rot="0">
            <a:off x="969912" y="6340227"/>
            <a:ext cx="2536180" cy="345579"/>
          </a:xfrm>
          <a:prstGeom prst="rect">
            <a:avLst/>
          </a:prstGeom>
        </p:spPr>
        <p:txBody>
          <a:bodyPr anchor="t" rtlCol="false" tIns="0" lIns="0" bIns="0" rIns="0">
            <a:spAutoFit/>
          </a:bodyPr>
          <a:lstStyle/>
          <a:p>
            <a:pPr algn="l">
              <a:lnSpc>
                <a:spcPts val="2437"/>
              </a:lnSpc>
            </a:pPr>
            <a:r>
              <a:rPr lang="en-US" sz="1937">
                <a:solidFill>
                  <a:srgbClr val="CAD6DE"/>
                </a:solidFill>
                <a:latin typeface="Arimo"/>
                <a:ea typeface="Arimo"/>
                <a:cs typeface="Arimo"/>
                <a:sym typeface="Arimo"/>
              </a:rPr>
              <a:t>Option C</a:t>
            </a:r>
          </a:p>
        </p:txBody>
      </p:sp>
      <p:sp>
        <p:nvSpPr>
          <p:cNvPr name="TextBox 23" id="23"/>
          <p:cNvSpPr txBox="true"/>
          <p:nvPr/>
        </p:nvSpPr>
        <p:spPr>
          <a:xfrm rot="0">
            <a:off x="969912" y="6757988"/>
            <a:ext cx="9490174" cy="402134"/>
          </a:xfrm>
          <a:prstGeom prst="rect">
            <a:avLst/>
          </a:prstGeom>
        </p:spPr>
        <p:txBody>
          <a:bodyPr anchor="t" rtlCol="false" tIns="0" lIns="0" bIns="0" rIns="0">
            <a:spAutoFit/>
          </a:bodyPr>
          <a:lstStyle/>
          <a:p>
            <a:pPr algn="l">
              <a:lnSpc>
                <a:spcPts val="2687"/>
              </a:lnSpc>
            </a:pPr>
            <a:r>
              <a:rPr lang="en-US" sz="1687">
                <a:solidFill>
                  <a:srgbClr val="CAD6DE"/>
                </a:solidFill>
                <a:latin typeface="Cabin"/>
                <a:ea typeface="Cabin"/>
                <a:cs typeface="Cabin"/>
                <a:sym typeface="Cabin"/>
              </a:rPr>
              <a:t>POST—The API only saved 2 items because your internet was slower than your grandma's 2G phone</a:t>
            </a:r>
          </a:p>
        </p:txBody>
      </p:sp>
      <p:grpSp>
        <p:nvGrpSpPr>
          <p:cNvPr name="Group 24" id="24"/>
          <p:cNvGrpSpPr/>
          <p:nvPr/>
        </p:nvGrpSpPr>
        <p:grpSpPr>
          <a:xfrm rot="0">
            <a:off x="754410" y="7591127"/>
            <a:ext cx="9921180" cy="1222325"/>
            <a:chOff x="0" y="0"/>
            <a:chExt cx="13228240" cy="1629767"/>
          </a:xfrm>
        </p:grpSpPr>
        <p:sp>
          <p:nvSpPr>
            <p:cNvPr name="Freeform 25" id="25"/>
            <p:cNvSpPr/>
            <p:nvPr/>
          </p:nvSpPr>
          <p:spPr>
            <a:xfrm flipH="false" flipV="false" rot="0">
              <a:off x="0" y="0"/>
              <a:ext cx="13228320" cy="1629791"/>
            </a:xfrm>
            <a:custGeom>
              <a:avLst/>
              <a:gdLst/>
              <a:ahLst/>
              <a:cxnLst/>
              <a:rect r="r" b="b" t="t" l="l"/>
              <a:pathLst>
                <a:path h="1629791" w="13228320">
                  <a:moveTo>
                    <a:pt x="0" y="43180"/>
                  </a:moveTo>
                  <a:cubicBezTo>
                    <a:pt x="0" y="19304"/>
                    <a:pt x="19304" y="0"/>
                    <a:pt x="43180" y="0"/>
                  </a:cubicBezTo>
                  <a:lnTo>
                    <a:pt x="13185139" y="0"/>
                  </a:lnTo>
                  <a:cubicBezTo>
                    <a:pt x="13209015" y="0"/>
                    <a:pt x="13228320" y="19304"/>
                    <a:pt x="13228320" y="43180"/>
                  </a:cubicBezTo>
                  <a:lnTo>
                    <a:pt x="13228320" y="1586611"/>
                  </a:lnTo>
                  <a:cubicBezTo>
                    <a:pt x="13228320" y="1610487"/>
                    <a:pt x="13209015" y="1629791"/>
                    <a:pt x="13185139" y="1629791"/>
                  </a:cubicBezTo>
                  <a:lnTo>
                    <a:pt x="43180" y="1629791"/>
                  </a:lnTo>
                  <a:cubicBezTo>
                    <a:pt x="19304" y="1629791"/>
                    <a:pt x="0" y="1610487"/>
                    <a:pt x="0" y="1586611"/>
                  </a:cubicBezTo>
                  <a:close/>
                </a:path>
              </a:pathLst>
            </a:custGeom>
            <a:solidFill>
              <a:srgbClr val="304755"/>
            </a:solidFill>
          </p:spPr>
        </p:sp>
      </p:grpSp>
      <p:sp>
        <p:nvSpPr>
          <p:cNvPr name="TextBox 26" id="26"/>
          <p:cNvSpPr txBox="true"/>
          <p:nvPr/>
        </p:nvSpPr>
        <p:spPr>
          <a:xfrm rot="0">
            <a:off x="969912" y="7778055"/>
            <a:ext cx="2536180" cy="345579"/>
          </a:xfrm>
          <a:prstGeom prst="rect">
            <a:avLst/>
          </a:prstGeom>
        </p:spPr>
        <p:txBody>
          <a:bodyPr anchor="t" rtlCol="false" tIns="0" lIns="0" bIns="0" rIns="0">
            <a:spAutoFit/>
          </a:bodyPr>
          <a:lstStyle/>
          <a:p>
            <a:pPr algn="l">
              <a:lnSpc>
                <a:spcPts val="2437"/>
              </a:lnSpc>
            </a:pPr>
            <a:r>
              <a:rPr lang="en-US" sz="1937">
                <a:solidFill>
                  <a:srgbClr val="CAD6DE"/>
                </a:solidFill>
                <a:latin typeface="Arimo"/>
                <a:ea typeface="Arimo"/>
                <a:cs typeface="Arimo"/>
                <a:sym typeface="Arimo"/>
              </a:rPr>
              <a:t>Option D</a:t>
            </a:r>
          </a:p>
        </p:txBody>
      </p:sp>
      <p:sp>
        <p:nvSpPr>
          <p:cNvPr name="TextBox 27" id="27"/>
          <p:cNvSpPr txBox="true"/>
          <p:nvPr/>
        </p:nvSpPr>
        <p:spPr>
          <a:xfrm rot="0">
            <a:off x="969912" y="8195816"/>
            <a:ext cx="9490174" cy="402134"/>
          </a:xfrm>
          <a:prstGeom prst="rect">
            <a:avLst/>
          </a:prstGeom>
        </p:spPr>
        <p:txBody>
          <a:bodyPr anchor="t" rtlCol="false" tIns="0" lIns="0" bIns="0" rIns="0">
            <a:spAutoFit/>
          </a:bodyPr>
          <a:lstStyle/>
          <a:p>
            <a:pPr algn="l">
              <a:lnSpc>
                <a:spcPts val="2687"/>
              </a:lnSpc>
            </a:pPr>
            <a:r>
              <a:rPr lang="en-US" sz="1687">
                <a:solidFill>
                  <a:srgbClr val="CAD6DE"/>
                </a:solidFill>
                <a:latin typeface="Cabin"/>
                <a:ea typeface="Cabin"/>
                <a:cs typeface="Cabin"/>
                <a:sym typeface="Cabin"/>
              </a:rPr>
              <a:t>PUT—Your cat walked on the keyboard and accidentally updated your cart while you were making chai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sp>
        <p:nvSpPr>
          <p:cNvPr name="TextBox 8" id="8"/>
          <p:cNvSpPr txBox="true"/>
          <p:nvPr/>
        </p:nvSpPr>
        <p:spPr>
          <a:xfrm rot="0">
            <a:off x="602605" y="435322"/>
            <a:ext cx="7727156" cy="544414"/>
          </a:xfrm>
          <a:prstGeom prst="rect">
            <a:avLst/>
          </a:prstGeom>
        </p:spPr>
        <p:txBody>
          <a:bodyPr anchor="t" rtlCol="false" tIns="0" lIns="0" bIns="0" rIns="0">
            <a:spAutoFit/>
          </a:bodyPr>
          <a:lstStyle/>
          <a:p>
            <a:pPr algn="l">
              <a:lnSpc>
                <a:spcPts val="3937"/>
              </a:lnSpc>
            </a:pPr>
            <a:r>
              <a:rPr lang="en-US" sz="3187">
                <a:solidFill>
                  <a:srgbClr val="FFFFFF"/>
                </a:solidFill>
                <a:latin typeface="Arimo"/>
                <a:ea typeface="Arimo"/>
                <a:cs typeface="Arimo"/>
                <a:sym typeface="Arimo"/>
              </a:rPr>
              <a:t>Round 3: API Authentication Fun</a:t>
            </a:r>
          </a:p>
        </p:txBody>
      </p:sp>
      <p:grpSp>
        <p:nvGrpSpPr>
          <p:cNvPr name="Group 9" id="9"/>
          <p:cNvGrpSpPr/>
          <p:nvPr/>
        </p:nvGrpSpPr>
        <p:grpSpPr>
          <a:xfrm rot="0">
            <a:off x="602605" y="1431578"/>
            <a:ext cx="8331399" cy="8331399"/>
            <a:chOff x="0" y="0"/>
            <a:chExt cx="11108532" cy="11108532"/>
          </a:xfrm>
        </p:grpSpPr>
        <p:sp>
          <p:nvSpPr>
            <p:cNvPr name="Freeform 10" id="10" descr="preencoded.png"/>
            <p:cNvSpPr/>
            <p:nvPr/>
          </p:nvSpPr>
          <p:spPr>
            <a:xfrm flipH="false" flipV="false" rot="0">
              <a:off x="0" y="0"/>
              <a:ext cx="11108563" cy="11108563"/>
            </a:xfrm>
            <a:custGeom>
              <a:avLst/>
              <a:gdLst/>
              <a:ahLst/>
              <a:cxnLst/>
              <a:rect r="r" b="b" t="t" l="l"/>
              <a:pathLst>
                <a:path h="11108563" w="11108563">
                  <a:moveTo>
                    <a:pt x="0" y="0"/>
                  </a:moveTo>
                  <a:lnTo>
                    <a:pt x="11108563" y="0"/>
                  </a:lnTo>
                  <a:lnTo>
                    <a:pt x="11108563" y="11108563"/>
                  </a:lnTo>
                  <a:lnTo>
                    <a:pt x="0" y="11108563"/>
                  </a:lnTo>
                  <a:lnTo>
                    <a:pt x="0" y="0"/>
                  </a:lnTo>
                  <a:close/>
                </a:path>
              </a:pathLst>
            </a:custGeom>
            <a:blipFill>
              <a:blip r:embed="rId5"/>
              <a:stretch>
                <a:fillRect l="0" t="0" r="0" b="0"/>
              </a:stretch>
            </a:blipFill>
          </p:spPr>
        </p:sp>
      </p:grpSp>
      <p:sp>
        <p:nvSpPr>
          <p:cNvPr name="TextBox 11" id="11"/>
          <p:cNvSpPr txBox="true"/>
          <p:nvPr/>
        </p:nvSpPr>
        <p:spPr>
          <a:xfrm rot="0">
            <a:off x="9363521" y="1372046"/>
            <a:ext cx="8331399" cy="645616"/>
          </a:xfrm>
          <a:prstGeom prst="rect">
            <a:avLst/>
          </a:prstGeom>
        </p:spPr>
        <p:txBody>
          <a:bodyPr anchor="t" rtlCol="false" tIns="0" lIns="0" bIns="0" rIns="0">
            <a:spAutoFit/>
          </a:bodyPr>
          <a:lstStyle/>
          <a:p>
            <a:pPr algn="l">
              <a:lnSpc>
                <a:spcPts val="2375"/>
              </a:lnSpc>
            </a:pPr>
            <a:r>
              <a:rPr lang="en-US" sz="1874">
                <a:solidFill>
                  <a:srgbClr val="FFFFFF"/>
                </a:solidFill>
                <a:latin typeface="Arimo"/>
                <a:ea typeface="Arimo"/>
                <a:cs typeface="Arimo"/>
                <a:sym typeface="Arimo"/>
              </a:rPr>
              <a:t>You're trying to login to Instagram using Facebook. What authentication method is this?</a:t>
            </a:r>
          </a:p>
        </p:txBody>
      </p:sp>
      <p:grpSp>
        <p:nvGrpSpPr>
          <p:cNvPr name="Group 12" id="12"/>
          <p:cNvGrpSpPr/>
          <p:nvPr/>
        </p:nvGrpSpPr>
        <p:grpSpPr>
          <a:xfrm rot="0">
            <a:off x="9363521" y="2469505"/>
            <a:ext cx="8331399" cy="1322486"/>
            <a:chOff x="0" y="0"/>
            <a:chExt cx="11108532" cy="1763315"/>
          </a:xfrm>
        </p:grpSpPr>
        <p:sp>
          <p:nvSpPr>
            <p:cNvPr name="Freeform 13" id="13"/>
            <p:cNvSpPr/>
            <p:nvPr/>
          </p:nvSpPr>
          <p:spPr>
            <a:xfrm flipH="false" flipV="false" rot="0">
              <a:off x="0" y="0"/>
              <a:ext cx="11108563" cy="1763268"/>
            </a:xfrm>
            <a:custGeom>
              <a:avLst/>
              <a:gdLst/>
              <a:ahLst/>
              <a:cxnLst/>
              <a:rect r="r" b="b" t="t" l="l"/>
              <a:pathLst>
                <a:path h="1763268" w="11108563">
                  <a:moveTo>
                    <a:pt x="0" y="121920"/>
                  </a:moveTo>
                  <a:cubicBezTo>
                    <a:pt x="0" y="54610"/>
                    <a:pt x="54610" y="0"/>
                    <a:pt x="121920" y="0"/>
                  </a:cubicBezTo>
                  <a:lnTo>
                    <a:pt x="10986643" y="0"/>
                  </a:lnTo>
                  <a:cubicBezTo>
                    <a:pt x="11053953" y="0"/>
                    <a:pt x="11108563" y="54610"/>
                    <a:pt x="11108563" y="121920"/>
                  </a:cubicBezTo>
                  <a:lnTo>
                    <a:pt x="11108563" y="1641348"/>
                  </a:lnTo>
                  <a:cubicBezTo>
                    <a:pt x="11108563" y="1708658"/>
                    <a:pt x="11053953" y="1763268"/>
                    <a:pt x="10986643" y="1763268"/>
                  </a:cubicBezTo>
                  <a:lnTo>
                    <a:pt x="121920" y="1763268"/>
                  </a:lnTo>
                  <a:cubicBezTo>
                    <a:pt x="54610" y="1763268"/>
                    <a:pt x="0" y="1708658"/>
                    <a:pt x="0" y="1641348"/>
                  </a:cubicBezTo>
                  <a:close/>
                </a:path>
              </a:pathLst>
            </a:custGeom>
            <a:solidFill>
              <a:srgbClr val="112836"/>
            </a:solidFill>
          </p:spPr>
        </p:sp>
      </p:grpSp>
      <p:grpSp>
        <p:nvGrpSpPr>
          <p:cNvPr name="Group 14" id="14"/>
          <p:cNvGrpSpPr/>
          <p:nvPr/>
        </p:nvGrpSpPr>
        <p:grpSpPr>
          <a:xfrm rot="0">
            <a:off x="9363521" y="2450455"/>
            <a:ext cx="8331399" cy="76200"/>
            <a:chOff x="0" y="0"/>
            <a:chExt cx="11108532" cy="101600"/>
          </a:xfrm>
        </p:grpSpPr>
        <p:sp>
          <p:nvSpPr>
            <p:cNvPr name="Freeform 15" id="15"/>
            <p:cNvSpPr/>
            <p:nvPr/>
          </p:nvSpPr>
          <p:spPr>
            <a:xfrm flipH="false" flipV="false" rot="0">
              <a:off x="0" y="0"/>
              <a:ext cx="11108563" cy="101600"/>
            </a:xfrm>
            <a:custGeom>
              <a:avLst/>
              <a:gdLst/>
              <a:ahLst/>
              <a:cxnLst/>
              <a:rect r="r" b="b" t="t" l="l"/>
              <a:pathLst>
                <a:path h="101600" w="11108563">
                  <a:moveTo>
                    <a:pt x="0" y="34417"/>
                  </a:moveTo>
                  <a:cubicBezTo>
                    <a:pt x="0" y="15367"/>
                    <a:pt x="15367" y="0"/>
                    <a:pt x="34417" y="0"/>
                  </a:cubicBezTo>
                  <a:lnTo>
                    <a:pt x="11074146" y="0"/>
                  </a:lnTo>
                  <a:cubicBezTo>
                    <a:pt x="11093196" y="0"/>
                    <a:pt x="11108563" y="15367"/>
                    <a:pt x="11108563" y="34417"/>
                  </a:cubicBezTo>
                  <a:lnTo>
                    <a:pt x="11108563" y="67183"/>
                  </a:lnTo>
                  <a:cubicBezTo>
                    <a:pt x="11108563" y="86233"/>
                    <a:pt x="11093196" y="101600"/>
                    <a:pt x="11074146" y="101600"/>
                  </a:cubicBezTo>
                  <a:lnTo>
                    <a:pt x="34417" y="101600"/>
                  </a:lnTo>
                  <a:cubicBezTo>
                    <a:pt x="15367" y="101600"/>
                    <a:pt x="0" y="86233"/>
                    <a:pt x="0" y="67183"/>
                  </a:cubicBezTo>
                  <a:close/>
                </a:path>
              </a:pathLst>
            </a:custGeom>
            <a:solidFill>
              <a:srgbClr val="0A988B"/>
            </a:solidFill>
          </p:spPr>
        </p:sp>
      </p:grpSp>
      <p:grpSp>
        <p:nvGrpSpPr>
          <p:cNvPr name="Group 16" id="16"/>
          <p:cNvGrpSpPr/>
          <p:nvPr/>
        </p:nvGrpSpPr>
        <p:grpSpPr>
          <a:xfrm rot="0">
            <a:off x="13270930" y="2211289"/>
            <a:ext cx="516582" cy="516583"/>
            <a:chOff x="0" y="0"/>
            <a:chExt cx="688777" cy="688777"/>
          </a:xfrm>
        </p:grpSpPr>
        <p:sp>
          <p:nvSpPr>
            <p:cNvPr name="Freeform 17" id="17"/>
            <p:cNvSpPr/>
            <p:nvPr/>
          </p:nvSpPr>
          <p:spPr>
            <a:xfrm flipH="false" flipV="false" rot="0">
              <a:off x="0" y="0"/>
              <a:ext cx="688721" cy="688721"/>
            </a:xfrm>
            <a:custGeom>
              <a:avLst/>
              <a:gdLst/>
              <a:ahLst/>
              <a:cxnLst/>
              <a:rect r="r" b="b" t="t" l="l"/>
              <a:pathLst>
                <a:path h="688721" w="688721">
                  <a:moveTo>
                    <a:pt x="0" y="344424"/>
                  </a:moveTo>
                  <a:cubicBezTo>
                    <a:pt x="0" y="154178"/>
                    <a:pt x="154178" y="0"/>
                    <a:pt x="344424" y="0"/>
                  </a:cubicBezTo>
                  <a:cubicBezTo>
                    <a:pt x="534670" y="0"/>
                    <a:pt x="688721" y="154178"/>
                    <a:pt x="688721" y="344424"/>
                  </a:cubicBezTo>
                  <a:cubicBezTo>
                    <a:pt x="688721" y="534670"/>
                    <a:pt x="534543" y="688721"/>
                    <a:pt x="344424" y="688721"/>
                  </a:cubicBezTo>
                  <a:cubicBezTo>
                    <a:pt x="154305" y="688721"/>
                    <a:pt x="0" y="534543"/>
                    <a:pt x="0" y="344424"/>
                  </a:cubicBezTo>
                  <a:close/>
                </a:path>
              </a:pathLst>
            </a:custGeom>
            <a:solidFill>
              <a:srgbClr val="0A988B"/>
            </a:solidFill>
          </p:spPr>
        </p:sp>
      </p:grpSp>
      <p:sp>
        <p:nvSpPr>
          <p:cNvPr name="TextBox 18" id="18"/>
          <p:cNvSpPr txBox="true"/>
          <p:nvPr/>
        </p:nvSpPr>
        <p:spPr>
          <a:xfrm rot="0">
            <a:off x="13425860" y="2264271"/>
            <a:ext cx="206574" cy="334416"/>
          </a:xfrm>
          <a:prstGeom prst="rect">
            <a:avLst/>
          </a:prstGeom>
        </p:spPr>
        <p:txBody>
          <a:bodyPr anchor="t" rtlCol="false" tIns="0" lIns="0" bIns="0" rIns="0">
            <a:spAutoFit/>
          </a:bodyPr>
          <a:lstStyle/>
          <a:p>
            <a:pPr algn="l">
              <a:lnSpc>
                <a:spcPts val="2562"/>
              </a:lnSpc>
            </a:pPr>
            <a:r>
              <a:rPr lang="en-US" sz="1625">
                <a:solidFill>
                  <a:srgbClr val="FFFFFF"/>
                </a:solidFill>
                <a:latin typeface="Arimo"/>
                <a:ea typeface="Arimo"/>
                <a:cs typeface="Arimo"/>
                <a:sym typeface="Arimo"/>
              </a:rPr>
              <a:t>1</a:t>
            </a:r>
          </a:p>
        </p:txBody>
      </p:sp>
      <p:sp>
        <p:nvSpPr>
          <p:cNvPr name="TextBox 19" id="19"/>
          <p:cNvSpPr txBox="true"/>
          <p:nvPr/>
        </p:nvSpPr>
        <p:spPr>
          <a:xfrm rot="0">
            <a:off x="9554766" y="2880866"/>
            <a:ext cx="2025849" cy="272206"/>
          </a:xfrm>
          <a:prstGeom prst="rect">
            <a:avLst/>
          </a:prstGeom>
        </p:spPr>
        <p:txBody>
          <a:bodyPr anchor="t" rtlCol="false" tIns="0" lIns="0" bIns="0" rIns="0">
            <a:spAutoFit/>
          </a:bodyPr>
          <a:lstStyle/>
          <a:p>
            <a:pPr algn="l">
              <a:lnSpc>
                <a:spcPts val="1937"/>
              </a:lnSpc>
            </a:pPr>
            <a:r>
              <a:rPr lang="en-US" sz="1562">
                <a:solidFill>
                  <a:srgbClr val="CAD6DE"/>
                </a:solidFill>
                <a:latin typeface="Arimo"/>
                <a:ea typeface="Arimo"/>
                <a:cs typeface="Arimo"/>
                <a:sym typeface="Arimo"/>
              </a:rPr>
              <a:t>Option A</a:t>
            </a:r>
          </a:p>
        </p:txBody>
      </p:sp>
      <p:sp>
        <p:nvSpPr>
          <p:cNvPr name="TextBox 20" id="20"/>
          <p:cNvSpPr txBox="true"/>
          <p:nvPr/>
        </p:nvSpPr>
        <p:spPr>
          <a:xfrm rot="0">
            <a:off x="9554766" y="3268116"/>
            <a:ext cx="7948910" cy="332631"/>
          </a:xfrm>
          <a:prstGeom prst="rect">
            <a:avLst/>
          </a:prstGeom>
        </p:spPr>
        <p:txBody>
          <a:bodyPr anchor="t" rtlCol="false" tIns="0" lIns="0" bIns="0" rIns="0">
            <a:spAutoFit/>
          </a:bodyPr>
          <a:lstStyle/>
          <a:p>
            <a:pPr algn="l">
              <a:lnSpc>
                <a:spcPts val="2125"/>
              </a:lnSpc>
            </a:pPr>
            <a:r>
              <a:rPr lang="en-US" sz="1312">
                <a:solidFill>
                  <a:srgbClr val="CAD6DE"/>
                </a:solidFill>
                <a:latin typeface="Cabin"/>
                <a:ea typeface="Cabin"/>
                <a:cs typeface="Cabin"/>
                <a:sym typeface="Cabin"/>
              </a:rPr>
              <a:t>Basic Auth—Username "cool_dude_123" and password "password123" written on a sticky note</a:t>
            </a:r>
          </a:p>
        </p:txBody>
      </p:sp>
      <p:grpSp>
        <p:nvGrpSpPr>
          <p:cNvPr name="Group 21" id="21"/>
          <p:cNvGrpSpPr/>
          <p:nvPr/>
        </p:nvGrpSpPr>
        <p:grpSpPr>
          <a:xfrm rot="0">
            <a:off x="9363521" y="4222402"/>
            <a:ext cx="8331399" cy="1322486"/>
            <a:chOff x="0" y="0"/>
            <a:chExt cx="11108532" cy="1763315"/>
          </a:xfrm>
        </p:grpSpPr>
        <p:sp>
          <p:nvSpPr>
            <p:cNvPr name="Freeform 22" id="22"/>
            <p:cNvSpPr/>
            <p:nvPr/>
          </p:nvSpPr>
          <p:spPr>
            <a:xfrm flipH="false" flipV="false" rot="0">
              <a:off x="0" y="0"/>
              <a:ext cx="11108563" cy="1763268"/>
            </a:xfrm>
            <a:custGeom>
              <a:avLst/>
              <a:gdLst/>
              <a:ahLst/>
              <a:cxnLst/>
              <a:rect r="r" b="b" t="t" l="l"/>
              <a:pathLst>
                <a:path h="1763268" w="11108563">
                  <a:moveTo>
                    <a:pt x="0" y="121920"/>
                  </a:moveTo>
                  <a:cubicBezTo>
                    <a:pt x="0" y="54610"/>
                    <a:pt x="54610" y="0"/>
                    <a:pt x="121920" y="0"/>
                  </a:cubicBezTo>
                  <a:lnTo>
                    <a:pt x="10986643" y="0"/>
                  </a:lnTo>
                  <a:cubicBezTo>
                    <a:pt x="11053953" y="0"/>
                    <a:pt x="11108563" y="54610"/>
                    <a:pt x="11108563" y="121920"/>
                  </a:cubicBezTo>
                  <a:lnTo>
                    <a:pt x="11108563" y="1641348"/>
                  </a:lnTo>
                  <a:cubicBezTo>
                    <a:pt x="11108563" y="1708658"/>
                    <a:pt x="11053953" y="1763268"/>
                    <a:pt x="10986643" y="1763268"/>
                  </a:cubicBezTo>
                  <a:lnTo>
                    <a:pt x="121920" y="1763268"/>
                  </a:lnTo>
                  <a:cubicBezTo>
                    <a:pt x="54610" y="1763268"/>
                    <a:pt x="0" y="1708658"/>
                    <a:pt x="0" y="1641348"/>
                  </a:cubicBezTo>
                  <a:close/>
                </a:path>
              </a:pathLst>
            </a:custGeom>
            <a:solidFill>
              <a:srgbClr val="112836"/>
            </a:solidFill>
          </p:spPr>
        </p:sp>
      </p:grpSp>
      <p:grpSp>
        <p:nvGrpSpPr>
          <p:cNvPr name="Group 23" id="23"/>
          <p:cNvGrpSpPr/>
          <p:nvPr/>
        </p:nvGrpSpPr>
        <p:grpSpPr>
          <a:xfrm rot="0">
            <a:off x="9363521" y="4203352"/>
            <a:ext cx="8331399" cy="76200"/>
            <a:chOff x="0" y="0"/>
            <a:chExt cx="11108532" cy="101600"/>
          </a:xfrm>
        </p:grpSpPr>
        <p:sp>
          <p:nvSpPr>
            <p:cNvPr name="Freeform 24" id="24"/>
            <p:cNvSpPr/>
            <p:nvPr/>
          </p:nvSpPr>
          <p:spPr>
            <a:xfrm flipH="false" flipV="false" rot="0">
              <a:off x="0" y="0"/>
              <a:ext cx="11108563" cy="101600"/>
            </a:xfrm>
            <a:custGeom>
              <a:avLst/>
              <a:gdLst/>
              <a:ahLst/>
              <a:cxnLst/>
              <a:rect r="r" b="b" t="t" l="l"/>
              <a:pathLst>
                <a:path h="101600" w="11108563">
                  <a:moveTo>
                    <a:pt x="0" y="34417"/>
                  </a:moveTo>
                  <a:cubicBezTo>
                    <a:pt x="0" y="15367"/>
                    <a:pt x="15367" y="0"/>
                    <a:pt x="34417" y="0"/>
                  </a:cubicBezTo>
                  <a:lnTo>
                    <a:pt x="11074146" y="0"/>
                  </a:lnTo>
                  <a:cubicBezTo>
                    <a:pt x="11093196" y="0"/>
                    <a:pt x="11108563" y="15367"/>
                    <a:pt x="11108563" y="34417"/>
                  </a:cubicBezTo>
                  <a:lnTo>
                    <a:pt x="11108563" y="67183"/>
                  </a:lnTo>
                  <a:cubicBezTo>
                    <a:pt x="11108563" y="86233"/>
                    <a:pt x="11093196" y="101600"/>
                    <a:pt x="11074146" y="101600"/>
                  </a:cubicBezTo>
                  <a:lnTo>
                    <a:pt x="34417" y="101600"/>
                  </a:lnTo>
                  <a:cubicBezTo>
                    <a:pt x="15367" y="101600"/>
                    <a:pt x="0" y="86233"/>
                    <a:pt x="0" y="67183"/>
                  </a:cubicBezTo>
                  <a:close/>
                </a:path>
              </a:pathLst>
            </a:custGeom>
            <a:solidFill>
              <a:srgbClr val="0A988B"/>
            </a:solidFill>
          </p:spPr>
        </p:sp>
      </p:grpSp>
      <p:grpSp>
        <p:nvGrpSpPr>
          <p:cNvPr name="Group 25" id="25"/>
          <p:cNvGrpSpPr/>
          <p:nvPr/>
        </p:nvGrpSpPr>
        <p:grpSpPr>
          <a:xfrm rot="0">
            <a:off x="13270930" y="3964186"/>
            <a:ext cx="516582" cy="516582"/>
            <a:chOff x="0" y="0"/>
            <a:chExt cx="688777" cy="688777"/>
          </a:xfrm>
        </p:grpSpPr>
        <p:sp>
          <p:nvSpPr>
            <p:cNvPr name="Freeform 26" id="26"/>
            <p:cNvSpPr/>
            <p:nvPr/>
          </p:nvSpPr>
          <p:spPr>
            <a:xfrm flipH="false" flipV="false" rot="0">
              <a:off x="0" y="0"/>
              <a:ext cx="688721" cy="688721"/>
            </a:xfrm>
            <a:custGeom>
              <a:avLst/>
              <a:gdLst/>
              <a:ahLst/>
              <a:cxnLst/>
              <a:rect r="r" b="b" t="t" l="l"/>
              <a:pathLst>
                <a:path h="688721" w="688721">
                  <a:moveTo>
                    <a:pt x="0" y="344424"/>
                  </a:moveTo>
                  <a:cubicBezTo>
                    <a:pt x="0" y="154178"/>
                    <a:pt x="154178" y="0"/>
                    <a:pt x="344424" y="0"/>
                  </a:cubicBezTo>
                  <a:cubicBezTo>
                    <a:pt x="534670" y="0"/>
                    <a:pt x="688721" y="154178"/>
                    <a:pt x="688721" y="344424"/>
                  </a:cubicBezTo>
                  <a:cubicBezTo>
                    <a:pt x="688721" y="534670"/>
                    <a:pt x="534543" y="688721"/>
                    <a:pt x="344424" y="688721"/>
                  </a:cubicBezTo>
                  <a:cubicBezTo>
                    <a:pt x="154305" y="688721"/>
                    <a:pt x="0" y="534543"/>
                    <a:pt x="0" y="344424"/>
                  </a:cubicBezTo>
                  <a:close/>
                </a:path>
              </a:pathLst>
            </a:custGeom>
            <a:solidFill>
              <a:srgbClr val="0A988B"/>
            </a:solidFill>
          </p:spPr>
        </p:sp>
      </p:grpSp>
      <p:sp>
        <p:nvSpPr>
          <p:cNvPr name="TextBox 27" id="27"/>
          <p:cNvSpPr txBox="true"/>
          <p:nvPr/>
        </p:nvSpPr>
        <p:spPr>
          <a:xfrm rot="0">
            <a:off x="13425860" y="4017169"/>
            <a:ext cx="206574" cy="334416"/>
          </a:xfrm>
          <a:prstGeom prst="rect">
            <a:avLst/>
          </a:prstGeom>
        </p:spPr>
        <p:txBody>
          <a:bodyPr anchor="t" rtlCol="false" tIns="0" lIns="0" bIns="0" rIns="0">
            <a:spAutoFit/>
          </a:bodyPr>
          <a:lstStyle/>
          <a:p>
            <a:pPr algn="l">
              <a:lnSpc>
                <a:spcPts val="2562"/>
              </a:lnSpc>
            </a:pPr>
            <a:r>
              <a:rPr lang="en-US" sz="1625">
                <a:solidFill>
                  <a:srgbClr val="FFFFFF"/>
                </a:solidFill>
                <a:latin typeface="Arimo"/>
                <a:ea typeface="Arimo"/>
                <a:cs typeface="Arimo"/>
                <a:sym typeface="Arimo"/>
              </a:rPr>
              <a:t>2</a:t>
            </a:r>
          </a:p>
        </p:txBody>
      </p:sp>
      <p:sp>
        <p:nvSpPr>
          <p:cNvPr name="TextBox 28" id="28"/>
          <p:cNvSpPr txBox="true"/>
          <p:nvPr/>
        </p:nvSpPr>
        <p:spPr>
          <a:xfrm rot="0">
            <a:off x="9554766" y="4633764"/>
            <a:ext cx="2025849" cy="272206"/>
          </a:xfrm>
          <a:prstGeom prst="rect">
            <a:avLst/>
          </a:prstGeom>
        </p:spPr>
        <p:txBody>
          <a:bodyPr anchor="t" rtlCol="false" tIns="0" lIns="0" bIns="0" rIns="0">
            <a:spAutoFit/>
          </a:bodyPr>
          <a:lstStyle/>
          <a:p>
            <a:pPr algn="l">
              <a:lnSpc>
                <a:spcPts val="1937"/>
              </a:lnSpc>
            </a:pPr>
            <a:r>
              <a:rPr lang="en-US" sz="1562">
                <a:solidFill>
                  <a:srgbClr val="CAD6DE"/>
                </a:solidFill>
                <a:latin typeface="Arimo"/>
                <a:ea typeface="Arimo"/>
                <a:cs typeface="Arimo"/>
                <a:sym typeface="Arimo"/>
              </a:rPr>
              <a:t>Option B</a:t>
            </a:r>
          </a:p>
        </p:txBody>
      </p:sp>
      <p:sp>
        <p:nvSpPr>
          <p:cNvPr name="TextBox 29" id="29"/>
          <p:cNvSpPr txBox="true"/>
          <p:nvPr/>
        </p:nvSpPr>
        <p:spPr>
          <a:xfrm rot="0">
            <a:off x="9554766" y="5021015"/>
            <a:ext cx="7948910" cy="332631"/>
          </a:xfrm>
          <a:prstGeom prst="rect">
            <a:avLst/>
          </a:prstGeom>
        </p:spPr>
        <p:txBody>
          <a:bodyPr anchor="t" rtlCol="false" tIns="0" lIns="0" bIns="0" rIns="0">
            <a:spAutoFit/>
          </a:bodyPr>
          <a:lstStyle/>
          <a:p>
            <a:pPr algn="l">
              <a:lnSpc>
                <a:spcPts val="2125"/>
              </a:lnSpc>
            </a:pPr>
            <a:r>
              <a:rPr lang="en-US" sz="1312">
                <a:solidFill>
                  <a:srgbClr val="CAD6DE"/>
                </a:solidFill>
                <a:latin typeface="Cabin"/>
                <a:ea typeface="Cabin"/>
                <a:cs typeface="Cabin"/>
                <a:sym typeface="Cabin"/>
              </a:rPr>
              <a:t>OAuth 2.0—Facebook vouches for you like your friend introducing you at a party: "They're cool, let them in!"</a:t>
            </a:r>
          </a:p>
        </p:txBody>
      </p:sp>
      <p:grpSp>
        <p:nvGrpSpPr>
          <p:cNvPr name="Group 30" id="30"/>
          <p:cNvGrpSpPr/>
          <p:nvPr/>
        </p:nvGrpSpPr>
        <p:grpSpPr>
          <a:xfrm rot="0">
            <a:off x="9363521" y="5975300"/>
            <a:ext cx="8331399" cy="1322486"/>
            <a:chOff x="0" y="0"/>
            <a:chExt cx="11108532" cy="1763315"/>
          </a:xfrm>
        </p:grpSpPr>
        <p:sp>
          <p:nvSpPr>
            <p:cNvPr name="Freeform 31" id="31"/>
            <p:cNvSpPr/>
            <p:nvPr/>
          </p:nvSpPr>
          <p:spPr>
            <a:xfrm flipH="false" flipV="false" rot="0">
              <a:off x="0" y="0"/>
              <a:ext cx="11108563" cy="1763268"/>
            </a:xfrm>
            <a:custGeom>
              <a:avLst/>
              <a:gdLst/>
              <a:ahLst/>
              <a:cxnLst/>
              <a:rect r="r" b="b" t="t" l="l"/>
              <a:pathLst>
                <a:path h="1763268" w="11108563">
                  <a:moveTo>
                    <a:pt x="0" y="121920"/>
                  </a:moveTo>
                  <a:cubicBezTo>
                    <a:pt x="0" y="54610"/>
                    <a:pt x="54610" y="0"/>
                    <a:pt x="121920" y="0"/>
                  </a:cubicBezTo>
                  <a:lnTo>
                    <a:pt x="10986643" y="0"/>
                  </a:lnTo>
                  <a:cubicBezTo>
                    <a:pt x="11053953" y="0"/>
                    <a:pt x="11108563" y="54610"/>
                    <a:pt x="11108563" y="121920"/>
                  </a:cubicBezTo>
                  <a:lnTo>
                    <a:pt x="11108563" y="1641348"/>
                  </a:lnTo>
                  <a:cubicBezTo>
                    <a:pt x="11108563" y="1708658"/>
                    <a:pt x="11053953" y="1763268"/>
                    <a:pt x="10986643" y="1763268"/>
                  </a:cubicBezTo>
                  <a:lnTo>
                    <a:pt x="121920" y="1763268"/>
                  </a:lnTo>
                  <a:cubicBezTo>
                    <a:pt x="54610" y="1763268"/>
                    <a:pt x="0" y="1708658"/>
                    <a:pt x="0" y="1641348"/>
                  </a:cubicBezTo>
                  <a:close/>
                </a:path>
              </a:pathLst>
            </a:custGeom>
            <a:solidFill>
              <a:srgbClr val="112836"/>
            </a:solidFill>
          </p:spPr>
        </p:sp>
      </p:grpSp>
      <p:grpSp>
        <p:nvGrpSpPr>
          <p:cNvPr name="Group 32" id="32"/>
          <p:cNvGrpSpPr/>
          <p:nvPr/>
        </p:nvGrpSpPr>
        <p:grpSpPr>
          <a:xfrm rot="0">
            <a:off x="9363521" y="5956250"/>
            <a:ext cx="8331399" cy="76200"/>
            <a:chOff x="0" y="0"/>
            <a:chExt cx="11108532" cy="101600"/>
          </a:xfrm>
        </p:grpSpPr>
        <p:sp>
          <p:nvSpPr>
            <p:cNvPr name="Freeform 33" id="33"/>
            <p:cNvSpPr/>
            <p:nvPr/>
          </p:nvSpPr>
          <p:spPr>
            <a:xfrm flipH="false" flipV="false" rot="0">
              <a:off x="0" y="0"/>
              <a:ext cx="11108563" cy="101600"/>
            </a:xfrm>
            <a:custGeom>
              <a:avLst/>
              <a:gdLst/>
              <a:ahLst/>
              <a:cxnLst/>
              <a:rect r="r" b="b" t="t" l="l"/>
              <a:pathLst>
                <a:path h="101600" w="11108563">
                  <a:moveTo>
                    <a:pt x="0" y="34417"/>
                  </a:moveTo>
                  <a:cubicBezTo>
                    <a:pt x="0" y="15367"/>
                    <a:pt x="15367" y="0"/>
                    <a:pt x="34417" y="0"/>
                  </a:cubicBezTo>
                  <a:lnTo>
                    <a:pt x="11074146" y="0"/>
                  </a:lnTo>
                  <a:cubicBezTo>
                    <a:pt x="11093196" y="0"/>
                    <a:pt x="11108563" y="15367"/>
                    <a:pt x="11108563" y="34417"/>
                  </a:cubicBezTo>
                  <a:lnTo>
                    <a:pt x="11108563" y="67183"/>
                  </a:lnTo>
                  <a:cubicBezTo>
                    <a:pt x="11108563" y="86233"/>
                    <a:pt x="11093196" y="101600"/>
                    <a:pt x="11074146" y="101600"/>
                  </a:cubicBezTo>
                  <a:lnTo>
                    <a:pt x="34417" y="101600"/>
                  </a:lnTo>
                  <a:cubicBezTo>
                    <a:pt x="15367" y="101600"/>
                    <a:pt x="0" y="86233"/>
                    <a:pt x="0" y="67183"/>
                  </a:cubicBezTo>
                  <a:close/>
                </a:path>
              </a:pathLst>
            </a:custGeom>
            <a:solidFill>
              <a:srgbClr val="0A988B"/>
            </a:solidFill>
          </p:spPr>
        </p:sp>
      </p:grpSp>
      <p:grpSp>
        <p:nvGrpSpPr>
          <p:cNvPr name="Group 34" id="34"/>
          <p:cNvGrpSpPr/>
          <p:nvPr/>
        </p:nvGrpSpPr>
        <p:grpSpPr>
          <a:xfrm rot="0">
            <a:off x="13270930" y="5717084"/>
            <a:ext cx="516582" cy="516582"/>
            <a:chOff x="0" y="0"/>
            <a:chExt cx="688777" cy="688777"/>
          </a:xfrm>
        </p:grpSpPr>
        <p:sp>
          <p:nvSpPr>
            <p:cNvPr name="Freeform 35" id="35"/>
            <p:cNvSpPr/>
            <p:nvPr/>
          </p:nvSpPr>
          <p:spPr>
            <a:xfrm flipH="false" flipV="false" rot="0">
              <a:off x="0" y="0"/>
              <a:ext cx="688721" cy="688721"/>
            </a:xfrm>
            <a:custGeom>
              <a:avLst/>
              <a:gdLst/>
              <a:ahLst/>
              <a:cxnLst/>
              <a:rect r="r" b="b" t="t" l="l"/>
              <a:pathLst>
                <a:path h="688721" w="688721">
                  <a:moveTo>
                    <a:pt x="0" y="344424"/>
                  </a:moveTo>
                  <a:cubicBezTo>
                    <a:pt x="0" y="154178"/>
                    <a:pt x="154178" y="0"/>
                    <a:pt x="344424" y="0"/>
                  </a:cubicBezTo>
                  <a:cubicBezTo>
                    <a:pt x="534670" y="0"/>
                    <a:pt x="688721" y="154178"/>
                    <a:pt x="688721" y="344424"/>
                  </a:cubicBezTo>
                  <a:cubicBezTo>
                    <a:pt x="688721" y="534670"/>
                    <a:pt x="534543" y="688721"/>
                    <a:pt x="344424" y="688721"/>
                  </a:cubicBezTo>
                  <a:cubicBezTo>
                    <a:pt x="154305" y="688721"/>
                    <a:pt x="0" y="534543"/>
                    <a:pt x="0" y="344424"/>
                  </a:cubicBezTo>
                  <a:close/>
                </a:path>
              </a:pathLst>
            </a:custGeom>
            <a:solidFill>
              <a:srgbClr val="0A988B"/>
            </a:solidFill>
          </p:spPr>
        </p:sp>
      </p:grpSp>
      <p:sp>
        <p:nvSpPr>
          <p:cNvPr name="TextBox 36" id="36"/>
          <p:cNvSpPr txBox="true"/>
          <p:nvPr/>
        </p:nvSpPr>
        <p:spPr>
          <a:xfrm rot="0">
            <a:off x="13425860" y="5770066"/>
            <a:ext cx="206574" cy="334416"/>
          </a:xfrm>
          <a:prstGeom prst="rect">
            <a:avLst/>
          </a:prstGeom>
        </p:spPr>
        <p:txBody>
          <a:bodyPr anchor="t" rtlCol="false" tIns="0" lIns="0" bIns="0" rIns="0">
            <a:spAutoFit/>
          </a:bodyPr>
          <a:lstStyle/>
          <a:p>
            <a:pPr algn="l">
              <a:lnSpc>
                <a:spcPts val="2562"/>
              </a:lnSpc>
            </a:pPr>
            <a:r>
              <a:rPr lang="en-US" sz="1625">
                <a:solidFill>
                  <a:srgbClr val="FFFFFF"/>
                </a:solidFill>
                <a:latin typeface="Arimo"/>
                <a:ea typeface="Arimo"/>
                <a:cs typeface="Arimo"/>
                <a:sym typeface="Arimo"/>
              </a:rPr>
              <a:t>3</a:t>
            </a:r>
          </a:p>
        </p:txBody>
      </p:sp>
      <p:sp>
        <p:nvSpPr>
          <p:cNvPr name="TextBox 37" id="37"/>
          <p:cNvSpPr txBox="true"/>
          <p:nvPr/>
        </p:nvSpPr>
        <p:spPr>
          <a:xfrm rot="0">
            <a:off x="9554766" y="6386661"/>
            <a:ext cx="2025849" cy="272206"/>
          </a:xfrm>
          <a:prstGeom prst="rect">
            <a:avLst/>
          </a:prstGeom>
        </p:spPr>
        <p:txBody>
          <a:bodyPr anchor="t" rtlCol="false" tIns="0" lIns="0" bIns="0" rIns="0">
            <a:spAutoFit/>
          </a:bodyPr>
          <a:lstStyle/>
          <a:p>
            <a:pPr algn="l">
              <a:lnSpc>
                <a:spcPts val="1937"/>
              </a:lnSpc>
            </a:pPr>
            <a:r>
              <a:rPr lang="en-US" sz="1562">
                <a:solidFill>
                  <a:srgbClr val="CAD6DE"/>
                </a:solidFill>
                <a:latin typeface="Arimo"/>
                <a:ea typeface="Arimo"/>
                <a:cs typeface="Arimo"/>
                <a:sym typeface="Arimo"/>
              </a:rPr>
              <a:t>Option C</a:t>
            </a:r>
          </a:p>
        </p:txBody>
      </p:sp>
      <p:sp>
        <p:nvSpPr>
          <p:cNvPr name="TextBox 38" id="38"/>
          <p:cNvSpPr txBox="true"/>
          <p:nvPr/>
        </p:nvSpPr>
        <p:spPr>
          <a:xfrm rot="0">
            <a:off x="9554766" y="6773912"/>
            <a:ext cx="7948910" cy="332631"/>
          </a:xfrm>
          <a:prstGeom prst="rect">
            <a:avLst/>
          </a:prstGeom>
        </p:spPr>
        <p:txBody>
          <a:bodyPr anchor="t" rtlCol="false" tIns="0" lIns="0" bIns="0" rIns="0">
            <a:spAutoFit/>
          </a:bodyPr>
          <a:lstStyle/>
          <a:p>
            <a:pPr algn="l">
              <a:lnSpc>
                <a:spcPts val="2125"/>
              </a:lnSpc>
            </a:pPr>
            <a:r>
              <a:rPr lang="en-US" sz="1312">
                <a:solidFill>
                  <a:srgbClr val="CAD6DE"/>
                </a:solidFill>
                <a:latin typeface="Cabin"/>
                <a:ea typeface="Cabin"/>
                <a:cs typeface="Cabin"/>
                <a:sym typeface="Cabin"/>
              </a:rPr>
              <a:t>API Key—A secret handshake only you and Mark Zuckerberg know about</a:t>
            </a:r>
          </a:p>
        </p:txBody>
      </p:sp>
      <p:grpSp>
        <p:nvGrpSpPr>
          <p:cNvPr name="Group 39" id="39"/>
          <p:cNvGrpSpPr/>
          <p:nvPr/>
        </p:nvGrpSpPr>
        <p:grpSpPr>
          <a:xfrm rot="0">
            <a:off x="9363521" y="7728197"/>
            <a:ext cx="8331399" cy="1322486"/>
            <a:chOff x="0" y="0"/>
            <a:chExt cx="11108532" cy="1763315"/>
          </a:xfrm>
        </p:grpSpPr>
        <p:sp>
          <p:nvSpPr>
            <p:cNvPr name="Freeform 40" id="40"/>
            <p:cNvSpPr/>
            <p:nvPr/>
          </p:nvSpPr>
          <p:spPr>
            <a:xfrm flipH="false" flipV="false" rot="0">
              <a:off x="0" y="0"/>
              <a:ext cx="11108563" cy="1763268"/>
            </a:xfrm>
            <a:custGeom>
              <a:avLst/>
              <a:gdLst/>
              <a:ahLst/>
              <a:cxnLst/>
              <a:rect r="r" b="b" t="t" l="l"/>
              <a:pathLst>
                <a:path h="1763268" w="11108563">
                  <a:moveTo>
                    <a:pt x="0" y="121920"/>
                  </a:moveTo>
                  <a:cubicBezTo>
                    <a:pt x="0" y="54610"/>
                    <a:pt x="54610" y="0"/>
                    <a:pt x="121920" y="0"/>
                  </a:cubicBezTo>
                  <a:lnTo>
                    <a:pt x="10986643" y="0"/>
                  </a:lnTo>
                  <a:cubicBezTo>
                    <a:pt x="11053953" y="0"/>
                    <a:pt x="11108563" y="54610"/>
                    <a:pt x="11108563" y="121920"/>
                  </a:cubicBezTo>
                  <a:lnTo>
                    <a:pt x="11108563" y="1641348"/>
                  </a:lnTo>
                  <a:cubicBezTo>
                    <a:pt x="11108563" y="1708658"/>
                    <a:pt x="11053953" y="1763268"/>
                    <a:pt x="10986643" y="1763268"/>
                  </a:cubicBezTo>
                  <a:lnTo>
                    <a:pt x="121920" y="1763268"/>
                  </a:lnTo>
                  <a:cubicBezTo>
                    <a:pt x="54610" y="1763268"/>
                    <a:pt x="0" y="1708658"/>
                    <a:pt x="0" y="1641348"/>
                  </a:cubicBezTo>
                  <a:close/>
                </a:path>
              </a:pathLst>
            </a:custGeom>
            <a:solidFill>
              <a:srgbClr val="112836"/>
            </a:solidFill>
          </p:spPr>
        </p:sp>
      </p:grpSp>
      <p:grpSp>
        <p:nvGrpSpPr>
          <p:cNvPr name="Group 41" id="41"/>
          <p:cNvGrpSpPr/>
          <p:nvPr/>
        </p:nvGrpSpPr>
        <p:grpSpPr>
          <a:xfrm rot="0">
            <a:off x="9363521" y="7709147"/>
            <a:ext cx="8331399" cy="76200"/>
            <a:chOff x="0" y="0"/>
            <a:chExt cx="11108532" cy="101600"/>
          </a:xfrm>
        </p:grpSpPr>
        <p:sp>
          <p:nvSpPr>
            <p:cNvPr name="Freeform 42" id="42"/>
            <p:cNvSpPr/>
            <p:nvPr/>
          </p:nvSpPr>
          <p:spPr>
            <a:xfrm flipH="false" flipV="false" rot="0">
              <a:off x="0" y="0"/>
              <a:ext cx="11108563" cy="101600"/>
            </a:xfrm>
            <a:custGeom>
              <a:avLst/>
              <a:gdLst/>
              <a:ahLst/>
              <a:cxnLst/>
              <a:rect r="r" b="b" t="t" l="l"/>
              <a:pathLst>
                <a:path h="101600" w="11108563">
                  <a:moveTo>
                    <a:pt x="0" y="34417"/>
                  </a:moveTo>
                  <a:cubicBezTo>
                    <a:pt x="0" y="15367"/>
                    <a:pt x="15367" y="0"/>
                    <a:pt x="34417" y="0"/>
                  </a:cubicBezTo>
                  <a:lnTo>
                    <a:pt x="11074146" y="0"/>
                  </a:lnTo>
                  <a:cubicBezTo>
                    <a:pt x="11093196" y="0"/>
                    <a:pt x="11108563" y="15367"/>
                    <a:pt x="11108563" y="34417"/>
                  </a:cubicBezTo>
                  <a:lnTo>
                    <a:pt x="11108563" y="67183"/>
                  </a:lnTo>
                  <a:cubicBezTo>
                    <a:pt x="11108563" y="86233"/>
                    <a:pt x="11093196" y="101600"/>
                    <a:pt x="11074146" y="101600"/>
                  </a:cubicBezTo>
                  <a:lnTo>
                    <a:pt x="34417" y="101600"/>
                  </a:lnTo>
                  <a:cubicBezTo>
                    <a:pt x="15367" y="101600"/>
                    <a:pt x="0" y="86233"/>
                    <a:pt x="0" y="67183"/>
                  </a:cubicBezTo>
                  <a:close/>
                </a:path>
              </a:pathLst>
            </a:custGeom>
            <a:solidFill>
              <a:srgbClr val="0A988B"/>
            </a:solidFill>
          </p:spPr>
        </p:sp>
      </p:grpSp>
      <p:grpSp>
        <p:nvGrpSpPr>
          <p:cNvPr name="Group 43" id="43"/>
          <p:cNvGrpSpPr/>
          <p:nvPr/>
        </p:nvGrpSpPr>
        <p:grpSpPr>
          <a:xfrm rot="0">
            <a:off x="13270930" y="7469981"/>
            <a:ext cx="516582" cy="516582"/>
            <a:chOff x="0" y="0"/>
            <a:chExt cx="688777" cy="688777"/>
          </a:xfrm>
        </p:grpSpPr>
        <p:sp>
          <p:nvSpPr>
            <p:cNvPr name="Freeform 44" id="44"/>
            <p:cNvSpPr/>
            <p:nvPr/>
          </p:nvSpPr>
          <p:spPr>
            <a:xfrm flipH="false" flipV="false" rot="0">
              <a:off x="0" y="0"/>
              <a:ext cx="688721" cy="688721"/>
            </a:xfrm>
            <a:custGeom>
              <a:avLst/>
              <a:gdLst/>
              <a:ahLst/>
              <a:cxnLst/>
              <a:rect r="r" b="b" t="t" l="l"/>
              <a:pathLst>
                <a:path h="688721" w="688721">
                  <a:moveTo>
                    <a:pt x="0" y="344424"/>
                  </a:moveTo>
                  <a:cubicBezTo>
                    <a:pt x="0" y="154178"/>
                    <a:pt x="154178" y="0"/>
                    <a:pt x="344424" y="0"/>
                  </a:cubicBezTo>
                  <a:cubicBezTo>
                    <a:pt x="534670" y="0"/>
                    <a:pt x="688721" y="154178"/>
                    <a:pt x="688721" y="344424"/>
                  </a:cubicBezTo>
                  <a:cubicBezTo>
                    <a:pt x="688721" y="534670"/>
                    <a:pt x="534543" y="688721"/>
                    <a:pt x="344424" y="688721"/>
                  </a:cubicBezTo>
                  <a:cubicBezTo>
                    <a:pt x="154305" y="688721"/>
                    <a:pt x="0" y="534543"/>
                    <a:pt x="0" y="344424"/>
                  </a:cubicBezTo>
                  <a:close/>
                </a:path>
              </a:pathLst>
            </a:custGeom>
            <a:solidFill>
              <a:srgbClr val="0A988B"/>
            </a:solidFill>
          </p:spPr>
        </p:sp>
      </p:grpSp>
      <p:sp>
        <p:nvSpPr>
          <p:cNvPr name="TextBox 45" id="45"/>
          <p:cNvSpPr txBox="true"/>
          <p:nvPr/>
        </p:nvSpPr>
        <p:spPr>
          <a:xfrm rot="0">
            <a:off x="13425860" y="7522964"/>
            <a:ext cx="206574" cy="334416"/>
          </a:xfrm>
          <a:prstGeom prst="rect">
            <a:avLst/>
          </a:prstGeom>
        </p:spPr>
        <p:txBody>
          <a:bodyPr anchor="t" rtlCol="false" tIns="0" lIns="0" bIns="0" rIns="0">
            <a:spAutoFit/>
          </a:bodyPr>
          <a:lstStyle/>
          <a:p>
            <a:pPr algn="l">
              <a:lnSpc>
                <a:spcPts val="2562"/>
              </a:lnSpc>
            </a:pPr>
            <a:r>
              <a:rPr lang="en-US" sz="1625">
                <a:solidFill>
                  <a:srgbClr val="FFFFFF"/>
                </a:solidFill>
                <a:latin typeface="Arimo"/>
                <a:ea typeface="Arimo"/>
                <a:cs typeface="Arimo"/>
                <a:sym typeface="Arimo"/>
              </a:rPr>
              <a:t>4</a:t>
            </a:r>
          </a:p>
        </p:txBody>
      </p:sp>
      <p:sp>
        <p:nvSpPr>
          <p:cNvPr name="TextBox 46" id="46"/>
          <p:cNvSpPr txBox="true"/>
          <p:nvPr/>
        </p:nvSpPr>
        <p:spPr>
          <a:xfrm rot="0">
            <a:off x="9554766" y="8139559"/>
            <a:ext cx="2025849" cy="272206"/>
          </a:xfrm>
          <a:prstGeom prst="rect">
            <a:avLst/>
          </a:prstGeom>
        </p:spPr>
        <p:txBody>
          <a:bodyPr anchor="t" rtlCol="false" tIns="0" lIns="0" bIns="0" rIns="0">
            <a:spAutoFit/>
          </a:bodyPr>
          <a:lstStyle/>
          <a:p>
            <a:pPr algn="l">
              <a:lnSpc>
                <a:spcPts val="1937"/>
              </a:lnSpc>
            </a:pPr>
            <a:r>
              <a:rPr lang="en-US" sz="1562">
                <a:solidFill>
                  <a:srgbClr val="CAD6DE"/>
                </a:solidFill>
                <a:latin typeface="Arimo"/>
                <a:ea typeface="Arimo"/>
                <a:cs typeface="Arimo"/>
                <a:sym typeface="Arimo"/>
              </a:rPr>
              <a:t>Option D</a:t>
            </a:r>
          </a:p>
        </p:txBody>
      </p:sp>
      <p:sp>
        <p:nvSpPr>
          <p:cNvPr name="TextBox 47" id="47"/>
          <p:cNvSpPr txBox="true"/>
          <p:nvPr/>
        </p:nvSpPr>
        <p:spPr>
          <a:xfrm rot="0">
            <a:off x="9554766" y="8526810"/>
            <a:ext cx="7948910" cy="332631"/>
          </a:xfrm>
          <a:prstGeom prst="rect">
            <a:avLst/>
          </a:prstGeom>
        </p:spPr>
        <p:txBody>
          <a:bodyPr anchor="t" rtlCol="false" tIns="0" lIns="0" bIns="0" rIns="0">
            <a:spAutoFit/>
          </a:bodyPr>
          <a:lstStyle/>
          <a:p>
            <a:pPr algn="l">
              <a:lnSpc>
                <a:spcPts val="2125"/>
              </a:lnSpc>
            </a:pPr>
            <a:r>
              <a:rPr lang="en-US" sz="1312">
                <a:solidFill>
                  <a:srgbClr val="CAD6DE"/>
                </a:solidFill>
                <a:latin typeface="Cabin"/>
                <a:ea typeface="Cabin"/>
                <a:cs typeface="Cabin"/>
                <a:sym typeface="Cabin"/>
              </a:rPr>
              <a:t>JWT Token—A magical aadhar card that expires every 5 minutes just to annoy you</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7651105" y="862756"/>
            <a:ext cx="8889504" cy="704552"/>
          </a:xfrm>
          <a:prstGeom prst="rect">
            <a:avLst/>
          </a:prstGeom>
        </p:spPr>
        <p:txBody>
          <a:bodyPr anchor="t" rtlCol="false" tIns="0" lIns="0" bIns="0" rIns="0">
            <a:spAutoFit/>
          </a:bodyPr>
          <a:lstStyle/>
          <a:p>
            <a:pPr algn="l">
              <a:lnSpc>
                <a:spcPts val="5187"/>
              </a:lnSpc>
            </a:pPr>
            <a:r>
              <a:rPr lang="en-US" sz="4187">
                <a:solidFill>
                  <a:srgbClr val="FFFFFF"/>
                </a:solidFill>
                <a:latin typeface="Arimo"/>
                <a:ea typeface="Arimo"/>
                <a:cs typeface="Arimo"/>
                <a:sym typeface="Arimo"/>
              </a:rPr>
              <a:t>Round 4: Kafka Introduction</a:t>
            </a:r>
          </a:p>
        </p:txBody>
      </p:sp>
      <p:sp>
        <p:nvSpPr>
          <p:cNvPr name="TextBox 11" id="11"/>
          <p:cNvSpPr txBox="true"/>
          <p:nvPr/>
        </p:nvSpPr>
        <p:spPr>
          <a:xfrm rot="0">
            <a:off x="7651105" y="1629370"/>
            <a:ext cx="9843790" cy="828377"/>
          </a:xfrm>
          <a:prstGeom prst="rect">
            <a:avLst/>
          </a:prstGeom>
        </p:spPr>
        <p:txBody>
          <a:bodyPr anchor="t" rtlCol="false" tIns="0" lIns="0" bIns="0" rIns="0">
            <a:spAutoFit/>
          </a:bodyPr>
          <a:lstStyle/>
          <a:p>
            <a:pPr algn="l">
              <a:lnSpc>
                <a:spcPts val="3124"/>
              </a:lnSpc>
            </a:pPr>
            <a:r>
              <a:rPr lang="en-US" sz="2499">
                <a:solidFill>
                  <a:srgbClr val="FFFFFF"/>
                </a:solidFill>
                <a:latin typeface="Arimo"/>
                <a:ea typeface="Arimo"/>
                <a:cs typeface="Arimo"/>
                <a:sym typeface="Arimo"/>
              </a:rPr>
              <a:t>You ordered pizza and you're obsessively refreshing the Domino's tracker. How is Kafka involved?</a:t>
            </a:r>
          </a:p>
        </p:txBody>
      </p:sp>
      <p:grpSp>
        <p:nvGrpSpPr>
          <p:cNvPr name="Group 12" id="12"/>
          <p:cNvGrpSpPr/>
          <p:nvPr/>
        </p:nvGrpSpPr>
        <p:grpSpPr>
          <a:xfrm rot="0">
            <a:off x="7651105" y="2797671"/>
            <a:ext cx="1133029" cy="1647081"/>
            <a:chOff x="0" y="0"/>
            <a:chExt cx="1510705" cy="2196108"/>
          </a:xfrm>
        </p:grpSpPr>
        <p:sp>
          <p:nvSpPr>
            <p:cNvPr name="Freeform 13" id="13" descr="preencoded.png"/>
            <p:cNvSpPr/>
            <p:nvPr/>
          </p:nvSpPr>
          <p:spPr>
            <a:xfrm flipH="false" flipV="false" rot="0">
              <a:off x="0" y="0"/>
              <a:ext cx="1510665" cy="2196084"/>
            </a:xfrm>
            <a:custGeom>
              <a:avLst/>
              <a:gdLst/>
              <a:ahLst/>
              <a:cxnLst/>
              <a:rect r="r" b="b" t="t" l="l"/>
              <a:pathLst>
                <a:path h="2196084" w="1510665">
                  <a:moveTo>
                    <a:pt x="0" y="0"/>
                  </a:moveTo>
                  <a:lnTo>
                    <a:pt x="1510665" y="0"/>
                  </a:lnTo>
                  <a:lnTo>
                    <a:pt x="1510665" y="2196084"/>
                  </a:lnTo>
                  <a:lnTo>
                    <a:pt x="0" y="2196084"/>
                  </a:lnTo>
                  <a:lnTo>
                    <a:pt x="0" y="0"/>
                  </a:lnTo>
                  <a:close/>
                </a:path>
              </a:pathLst>
            </a:custGeom>
            <a:blipFill>
              <a:blip r:embed="rId6"/>
              <a:stretch>
                <a:fillRect l="0" t="-2" r="-2" b="-3"/>
              </a:stretch>
            </a:blipFill>
          </p:spPr>
        </p:sp>
      </p:grpSp>
      <p:sp>
        <p:nvSpPr>
          <p:cNvPr name="TextBox 14" id="14"/>
          <p:cNvSpPr txBox="true"/>
          <p:nvPr/>
        </p:nvSpPr>
        <p:spPr>
          <a:xfrm rot="0">
            <a:off x="9010650" y="3005138"/>
            <a:ext cx="2666108" cy="352127"/>
          </a:xfrm>
          <a:prstGeom prst="rect">
            <a:avLst/>
          </a:prstGeom>
        </p:spPr>
        <p:txBody>
          <a:bodyPr anchor="t" rtlCol="false" tIns="0" lIns="0" bIns="0" rIns="0">
            <a:spAutoFit/>
          </a:bodyPr>
          <a:lstStyle/>
          <a:p>
            <a:pPr algn="l">
              <a:lnSpc>
                <a:spcPts val="2562"/>
              </a:lnSpc>
            </a:pPr>
            <a:r>
              <a:rPr lang="en-US" sz="2062">
                <a:solidFill>
                  <a:srgbClr val="CAD6DE"/>
                </a:solidFill>
                <a:latin typeface="Arimo"/>
                <a:ea typeface="Arimo"/>
                <a:cs typeface="Arimo"/>
                <a:sym typeface="Arimo"/>
              </a:rPr>
              <a:t>Option A</a:t>
            </a:r>
          </a:p>
        </p:txBody>
      </p:sp>
      <p:sp>
        <p:nvSpPr>
          <p:cNvPr name="TextBox 15" id="15"/>
          <p:cNvSpPr txBox="true"/>
          <p:nvPr/>
        </p:nvSpPr>
        <p:spPr>
          <a:xfrm rot="0">
            <a:off x="9010650" y="3416945"/>
            <a:ext cx="8484245" cy="801291"/>
          </a:xfrm>
          <a:prstGeom prst="rect">
            <a:avLst/>
          </a:prstGeom>
        </p:spPr>
        <p:txBody>
          <a:bodyPr anchor="t" rtlCol="false" tIns="0" lIns="0" bIns="0" rIns="0">
            <a:spAutoFit/>
          </a:bodyPr>
          <a:lstStyle/>
          <a:p>
            <a:pPr algn="l">
              <a:lnSpc>
                <a:spcPts val="2812"/>
              </a:lnSpc>
            </a:pPr>
            <a:r>
              <a:rPr lang="en-US" sz="1750">
                <a:solidFill>
                  <a:srgbClr val="CAD6DE"/>
                </a:solidFill>
                <a:latin typeface="Cabin"/>
                <a:ea typeface="Cabin"/>
                <a:cs typeface="Cabin"/>
                <a:sym typeface="Cabin"/>
              </a:rPr>
              <a:t>Kafka is the delivery boy's name, and he's personally updating you via WhatsApp every 30 seconds about traffic conditions</a:t>
            </a:r>
          </a:p>
        </p:txBody>
      </p:sp>
      <p:grpSp>
        <p:nvGrpSpPr>
          <p:cNvPr name="Group 16" id="16"/>
          <p:cNvGrpSpPr/>
          <p:nvPr/>
        </p:nvGrpSpPr>
        <p:grpSpPr>
          <a:xfrm rot="0">
            <a:off x="7651105" y="4444752"/>
            <a:ext cx="1133029" cy="1647081"/>
            <a:chOff x="0" y="0"/>
            <a:chExt cx="1510705" cy="2196108"/>
          </a:xfrm>
        </p:grpSpPr>
        <p:sp>
          <p:nvSpPr>
            <p:cNvPr name="Freeform 17" id="17" descr="preencoded.png"/>
            <p:cNvSpPr/>
            <p:nvPr/>
          </p:nvSpPr>
          <p:spPr>
            <a:xfrm flipH="false" flipV="false" rot="0">
              <a:off x="0" y="0"/>
              <a:ext cx="1510665" cy="2196084"/>
            </a:xfrm>
            <a:custGeom>
              <a:avLst/>
              <a:gdLst/>
              <a:ahLst/>
              <a:cxnLst/>
              <a:rect r="r" b="b" t="t" l="l"/>
              <a:pathLst>
                <a:path h="2196084" w="1510665">
                  <a:moveTo>
                    <a:pt x="0" y="0"/>
                  </a:moveTo>
                  <a:lnTo>
                    <a:pt x="1510665" y="0"/>
                  </a:lnTo>
                  <a:lnTo>
                    <a:pt x="1510665" y="2196084"/>
                  </a:lnTo>
                  <a:lnTo>
                    <a:pt x="0" y="2196084"/>
                  </a:lnTo>
                  <a:lnTo>
                    <a:pt x="0" y="0"/>
                  </a:lnTo>
                  <a:close/>
                </a:path>
              </a:pathLst>
            </a:custGeom>
            <a:blipFill>
              <a:blip r:embed="rId7"/>
              <a:stretch>
                <a:fillRect l="0" t="-2" r="-2" b="-3"/>
              </a:stretch>
            </a:blipFill>
          </p:spPr>
        </p:sp>
      </p:grpSp>
      <p:sp>
        <p:nvSpPr>
          <p:cNvPr name="TextBox 18" id="18"/>
          <p:cNvSpPr txBox="true"/>
          <p:nvPr/>
        </p:nvSpPr>
        <p:spPr>
          <a:xfrm rot="0">
            <a:off x="9010650" y="4652219"/>
            <a:ext cx="2666108" cy="352127"/>
          </a:xfrm>
          <a:prstGeom prst="rect">
            <a:avLst/>
          </a:prstGeom>
        </p:spPr>
        <p:txBody>
          <a:bodyPr anchor="t" rtlCol="false" tIns="0" lIns="0" bIns="0" rIns="0">
            <a:spAutoFit/>
          </a:bodyPr>
          <a:lstStyle/>
          <a:p>
            <a:pPr algn="l">
              <a:lnSpc>
                <a:spcPts val="2562"/>
              </a:lnSpc>
            </a:pPr>
            <a:r>
              <a:rPr lang="en-US" sz="2062">
                <a:solidFill>
                  <a:srgbClr val="CAD6DE"/>
                </a:solidFill>
                <a:latin typeface="Arimo"/>
                <a:ea typeface="Arimo"/>
                <a:cs typeface="Arimo"/>
                <a:sym typeface="Arimo"/>
              </a:rPr>
              <a:t>Option B</a:t>
            </a:r>
          </a:p>
        </p:txBody>
      </p:sp>
      <p:sp>
        <p:nvSpPr>
          <p:cNvPr name="TextBox 19" id="19"/>
          <p:cNvSpPr txBox="true"/>
          <p:nvPr/>
        </p:nvSpPr>
        <p:spPr>
          <a:xfrm rot="0">
            <a:off x="9010650" y="5064026"/>
            <a:ext cx="8484245" cy="801291"/>
          </a:xfrm>
          <a:prstGeom prst="rect">
            <a:avLst/>
          </a:prstGeom>
        </p:spPr>
        <p:txBody>
          <a:bodyPr anchor="t" rtlCol="false" tIns="0" lIns="0" bIns="0" rIns="0">
            <a:spAutoFit/>
          </a:bodyPr>
          <a:lstStyle/>
          <a:p>
            <a:pPr algn="l">
              <a:lnSpc>
                <a:spcPts val="2812"/>
              </a:lnSpc>
            </a:pPr>
            <a:r>
              <a:rPr lang="en-US" sz="1750">
                <a:solidFill>
                  <a:srgbClr val="CAD6DE"/>
                </a:solidFill>
                <a:latin typeface="Cabin"/>
                <a:ea typeface="Cabin"/>
                <a:cs typeface="Cabin"/>
                <a:sym typeface="Cabin"/>
              </a:rPr>
              <a:t>Streaming real-time location updates from the delivery bike's GPS—"Your pizza is stuck in Bangalore traffic" notifications</a:t>
            </a:r>
          </a:p>
        </p:txBody>
      </p:sp>
      <p:grpSp>
        <p:nvGrpSpPr>
          <p:cNvPr name="Group 20" id="20"/>
          <p:cNvGrpSpPr/>
          <p:nvPr/>
        </p:nvGrpSpPr>
        <p:grpSpPr>
          <a:xfrm rot="0">
            <a:off x="7651105" y="6091832"/>
            <a:ext cx="1133029" cy="1647081"/>
            <a:chOff x="0" y="0"/>
            <a:chExt cx="1510705" cy="2196108"/>
          </a:xfrm>
        </p:grpSpPr>
        <p:sp>
          <p:nvSpPr>
            <p:cNvPr name="Freeform 21" id="21" descr="preencoded.png"/>
            <p:cNvSpPr/>
            <p:nvPr/>
          </p:nvSpPr>
          <p:spPr>
            <a:xfrm flipH="false" flipV="false" rot="0">
              <a:off x="0" y="0"/>
              <a:ext cx="1510665" cy="2196084"/>
            </a:xfrm>
            <a:custGeom>
              <a:avLst/>
              <a:gdLst/>
              <a:ahLst/>
              <a:cxnLst/>
              <a:rect r="r" b="b" t="t" l="l"/>
              <a:pathLst>
                <a:path h="2196084" w="1510665">
                  <a:moveTo>
                    <a:pt x="0" y="0"/>
                  </a:moveTo>
                  <a:lnTo>
                    <a:pt x="1510665" y="0"/>
                  </a:lnTo>
                  <a:lnTo>
                    <a:pt x="1510665" y="2196084"/>
                  </a:lnTo>
                  <a:lnTo>
                    <a:pt x="0" y="2196084"/>
                  </a:lnTo>
                  <a:lnTo>
                    <a:pt x="0" y="0"/>
                  </a:lnTo>
                  <a:close/>
                </a:path>
              </a:pathLst>
            </a:custGeom>
            <a:blipFill>
              <a:blip r:embed="rId8"/>
              <a:stretch>
                <a:fillRect l="0" t="-2" r="-2" b="-3"/>
              </a:stretch>
            </a:blipFill>
          </p:spPr>
        </p:sp>
      </p:grpSp>
      <p:sp>
        <p:nvSpPr>
          <p:cNvPr name="TextBox 22" id="22"/>
          <p:cNvSpPr txBox="true"/>
          <p:nvPr/>
        </p:nvSpPr>
        <p:spPr>
          <a:xfrm rot="0">
            <a:off x="9010650" y="6299299"/>
            <a:ext cx="2666108" cy="352127"/>
          </a:xfrm>
          <a:prstGeom prst="rect">
            <a:avLst/>
          </a:prstGeom>
        </p:spPr>
        <p:txBody>
          <a:bodyPr anchor="t" rtlCol="false" tIns="0" lIns="0" bIns="0" rIns="0">
            <a:spAutoFit/>
          </a:bodyPr>
          <a:lstStyle/>
          <a:p>
            <a:pPr algn="l">
              <a:lnSpc>
                <a:spcPts val="2562"/>
              </a:lnSpc>
            </a:pPr>
            <a:r>
              <a:rPr lang="en-US" sz="2062">
                <a:solidFill>
                  <a:srgbClr val="CAD6DE"/>
                </a:solidFill>
                <a:latin typeface="Arimo"/>
                <a:ea typeface="Arimo"/>
                <a:cs typeface="Arimo"/>
                <a:sym typeface="Arimo"/>
              </a:rPr>
              <a:t>Option C</a:t>
            </a:r>
          </a:p>
        </p:txBody>
      </p:sp>
      <p:sp>
        <p:nvSpPr>
          <p:cNvPr name="TextBox 23" id="23"/>
          <p:cNvSpPr txBox="true"/>
          <p:nvPr/>
        </p:nvSpPr>
        <p:spPr>
          <a:xfrm rot="0">
            <a:off x="9010650" y="6711106"/>
            <a:ext cx="8484245" cy="801291"/>
          </a:xfrm>
          <a:prstGeom prst="rect">
            <a:avLst/>
          </a:prstGeom>
        </p:spPr>
        <p:txBody>
          <a:bodyPr anchor="t" rtlCol="false" tIns="0" lIns="0" bIns="0" rIns="0">
            <a:spAutoFit/>
          </a:bodyPr>
          <a:lstStyle/>
          <a:p>
            <a:pPr algn="l">
              <a:lnSpc>
                <a:spcPts val="2812"/>
              </a:lnSpc>
            </a:pPr>
            <a:r>
              <a:rPr lang="en-US" sz="1750">
                <a:solidFill>
                  <a:srgbClr val="CAD6DE"/>
                </a:solidFill>
                <a:latin typeface="Cabin"/>
                <a:ea typeface="Cabin"/>
                <a:cs typeface="Cabin"/>
                <a:sym typeface="Cabin"/>
              </a:rPr>
              <a:t>A coffee machine at Domino's that powers all their servers (because it's named after Franz Kafka, the writer who loved coffee)</a:t>
            </a:r>
          </a:p>
        </p:txBody>
      </p:sp>
      <p:grpSp>
        <p:nvGrpSpPr>
          <p:cNvPr name="Group 24" id="24"/>
          <p:cNvGrpSpPr/>
          <p:nvPr/>
        </p:nvGrpSpPr>
        <p:grpSpPr>
          <a:xfrm rot="0">
            <a:off x="7651105" y="7738914"/>
            <a:ext cx="1133029" cy="1647081"/>
            <a:chOff x="0" y="0"/>
            <a:chExt cx="1510705" cy="2196108"/>
          </a:xfrm>
        </p:grpSpPr>
        <p:sp>
          <p:nvSpPr>
            <p:cNvPr name="Freeform 25" id="25" descr="preencoded.png"/>
            <p:cNvSpPr/>
            <p:nvPr/>
          </p:nvSpPr>
          <p:spPr>
            <a:xfrm flipH="false" flipV="false" rot="0">
              <a:off x="0" y="0"/>
              <a:ext cx="1510665" cy="2196084"/>
            </a:xfrm>
            <a:custGeom>
              <a:avLst/>
              <a:gdLst/>
              <a:ahLst/>
              <a:cxnLst/>
              <a:rect r="r" b="b" t="t" l="l"/>
              <a:pathLst>
                <a:path h="2196084" w="1510665">
                  <a:moveTo>
                    <a:pt x="0" y="0"/>
                  </a:moveTo>
                  <a:lnTo>
                    <a:pt x="1510665" y="0"/>
                  </a:lnTo>
                  <a:lnTo>
                    <a:pt x="1510665" y="2196084"/>
                  </a:lnTo>
                  <a:lnTo>
                    <a:pt x="0" y="2196084"/>
                  </a:lnTo>
                  <a:lnTo>
                    <a:pt x="0" y="0"/>
                  </a:lnTo>
                  <a:close/>
                </a:path>
              </a:pathLst>
            </a:custGeom>
            <a:blipFill>
              <a:blip r:embed="rId9"/>
              <a:stretch>
                <a:fillRect l="0" t="-2" r="-2" b="-3"/>
              </a:stretch>
            </a:blipFill>
          </p:spPr>
        </p:sp>
      </p:grpSp>
      <p:sp>
        <p:nvSpPr>
          <p:cNvPr name="TextBox 26" id="26"/>
          <p:cNvSpPr txBox="true"/>
          <p:nvPr/>
        </p:nvSpPr>
        <p:spPr>
          <a:xfrm rot="0">
            <a:off x="9010650" y="7946380"/>
            <a:ext cx="2666108" cy="352128"/>
          </a:xfrm>
          <a:prstGeom prst="rect">
            <a:avLst/>
          </a:prstGeom>
        </p:spPr>
        <p:txBody>
          <a:bodyPr anchor="t" rtlCol="false" tIns="0" lIns="0" bIns="0" rIns="0">
            <a:spAutoFit/>
          </a:bodyPr>
          <a:lstStyle/>
          <a:p>
            <a:pPr algn="l">
              <a:lnSpc>
                <a:spcPts val="2562"/>
              </a:lnSpc>
            </a:pPr>
            <a:r>
              <a:rPr lang="en-US" sz="2062">
                <a:solidFill>
                  <a:srgbClr val="CAD6DE"/>
                </a:solidFill>
                <a:latin typeface="Arimo"/>
                <a:ea typeface="Arimo"/>
                <a:cs typeface="Arimo"/>
                <a:sym typeface="Arimo"/>
              </a:rPr>
              <a:t>Option D</a:t>
            </a:r>
          </a:p>
        </p:txBody>
      </p:sp>
      <p:sp>
        <p:nvSpPr>
          <p:cNvPr name="TextBox 27" id="27"/>
          <p:cNvSpPr txBox="true"/>
          <p:nvPr/>
        </p:nvSpPr>
        <p:spPr>
          <a:xfrm rot="0">
            <a:off x="9010650" y="8358187"/>
            <a:ext cx="8484245" cy="801291"/>
          </a:xfrm>
          <a:prstGeom prst="rect">
            <a:avLst/>
          </a:prstGeom>
        </p:spPr>
        <p:txBody>
          <a:bodyPr anchor="t" rtlCol="false" tIns="0" lIns="0" bIns="0" rIns="0">
            <a:spAutoFit/>
          </a:bodyPr>
          <a:lstStyle/>
          <a:p>
            <a:pPr algn="l">
              <a:lnSpc>
                <a:spcPts val="2812"/>
              </a:lnSpc>
            </a:pPr>
            <a:r>
              <a:rPr lang="en-US" sz="1750">
                <a:solidFill>
                  <a:srgbClr val="CAD6DE"/>
                </a:solidFill>
                <a:latin typeface="Cabin"/>
                <a:ea typeface="Cabin"/>
                <a:cs typeface="Cabin"/>
                <a:sym typeface="Cabin"/>
              </a:rPr>
              <a:t>A fortune-telling system that predicts when you'll get hungry and pre-makes your favourite pizza before you even order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3024485"/>
            <a:chOff x="0" y="0"/>
            <a:chExt cx="24384000" cy="4032647"/>
          </a:xfrm>
        </p:grpSpPr>
        <p:sp>
          <p:nvSpPr>
            <p:cNvPr name="Freeform 9" id="9" descr="preencoded.png"/>
            <p:cNvSpPr/>
            <p:nvPr/>
          </p:nvSpPr>
          <p:spPr>
            <a:xfrm flipH="false" flipV="false" rot="0">
              <a:off x="0" y="0"/>
              <a:ext cx="24384000" cy="4032631"/>
            </a:xfrm>
            <a:custGeom>
              <a:avLst/>
              <a:gdLst/>
              <a:ahLst/>
              <a:cxnLst/>
              <a:rect r="r" b="b" t="t" l="l"/>
              <a:pathLst>
                <a:path h="4032631" w="24384000">
                  <a:moveTo>
                    <a:pt x="0" y="0"/>
                  </a:moveTo>
                  <a:lnTo>
                    <a:pt x="24384000" y="0"/>
                  </a:lnTo>
                  <a:lnTo>
                    <a:pt x="24384000" y="4032631"/>
                  </a:lnTo>
                  <a:lnTo>
                    <a:pt x="0" y="4032631"/>
                  </a:lnTo>
                  <a:lnTo>
                    <a:pt x="0" y="0"/>
                  </a:lnTo>
                  <a:close/>
                </a:path>
              </a:pathLst>
            </a:custGeom>
            <a:blipFill>
              <a:blip r:embed="rId5"/>
              <a:stretch>
                <a:fillRect l="0" t="-73" r="0" b="-74"/>
              </a:stretch>
            </a:blipFill>
          </p:spPr>
        </p:sp>
      </p:grpSp>
      <p:sp>
        <p:nvSpPr>
          <p:cNvPr name="TextBox 10" id="10"/>
          <p:cNvSpPr txBox="true"/>
          <p:nvPr/>
        </p:nvSpPr>
        <p:spPr>
          <a:xfrm rot="0">
            <a:off x="846833" y="3652837"/>
            <a:ext cx="12412415" cy="749647"/>
          </a:xfrm>
          <a:prstGeom prst="rect">
            <a:avLst/>
          </a:prstGeom>
        </p:spPr>
        <p:txBody>
          <a:bodyPr anchor="t" rtlCol="false" tIns="0" lIns="0" bIns="0" rIns="0">
            <a:spAutoFit/>
          </a:bodyPr>
          <a:lstStyle/>
          <a:p>
            <a:pPr algn="l">
              <a:lnSpc>
                <a:spcPts val="5562"/>
              </a:lnSpc>
            </a:pPr>
            <a:r>
              <a:rPr lang="en-US" sz="4437">
                <a:solidFill>
                  <a:srgbClr val="FFFFFF"/>
                </a:solidFill>
                <a:latin typeface="Arimo"/>
                <a:ea typeface="Arimo"/>
                <a:cs typeface="Arimo"/>
                <a:sym typeface="Arimo"/>
              </a:rPr>
              <a:t>Round 5: Kafka Topics and Partitions</a:t>
            </a:r>
          </a:p>
        </p:txBody>
      </p:sp>
      <p:sp>
        <p:nvSpPr>
          <p:cNvPr name="TextBox 11" id="11"/>
          <p:cNvSpPr txBox="true"/>
          <p:nvPr/>
        </p:nvSpPr>
        <p:spPr>
          <a:xfrm rot="0">
            <a:off x="846833" y="4470647"/>
            <a:ext cx="16594336" cy="882254"/>
          </a:xfrm>
          <a:prstGeom prst="rect">
            <a:avLst/>
          </a:prstGeom>
        </p:spPr>
        <p:txBody>
          <a:bodyPr anchor="t" rtlCol="false" tIns="0" lIns="0" bIns="0" rIns="0">
            <a:spAutoFit/>
          </a:bodyPr>
          <a:lstStyle/>
          <a:p>
            <a:pPr algn="l">
              <a:lnSpc>
                <a:spcPts val="3312"/>
              </a:lnSpc>
            </a:pPr>
            <a:r>
              <a:rPr lang="en-US" sz="2687">
                <a:solidFill>
                  <a:srgbClr val="FFFFFF"/>
                </a:solidFill>
                <a:latin typeface="Arimo"/>
                <a:ea typeface="Arimo"/>
                <a:cs typeface="Arimo"/>
                <a:sym typeface="Arimo"/>
              </a:rPr>
              <a:t>Your family WhatsApp group has 47 unread messages. How are Kafka topics similar?</a:t>
            </a:r>
          </a:p>
        </p:txBody>
      </p:sp>
      <p:grpSp>
        <p:nvGrpSpPr>
          <p:cNvPr name="Group 12" id="12"/>
          <p:cNvGrpSpPr/>
          <p:nvPr/>
        </p:nvGrpSpPr>
        <p:grpSpPr>
          <a:xfrm rot="0">
            <a:off x="846833" y="5715744"/>
            <a:ext cx="16594336" cy="3904804"/>
            <a:chOff x="0" y="0"/>
            <a:chExt cx="22125782" cy="5206405"/>
          </a:xfrm>
        </p:grpSpPr>
        <p:sp>
          <p:nvSpPr>
            <p:cNvPr name="Freeform 13" id="13"/>
            <p:cNvSpPr/>
            <p:nvPr/>
          </p:nvSpPr>
          <p:spPr>
            <a:xfrm flipH="false" flipV="false" rot="0">
              <a:off x="0" y="0"/>
              <a:ext cx="22125814" cy="5206365"/>
            </a:xfrm>
            <a:custGeom>
              <a:avLst/>
              <a:gdLst/>
              <a:ahLst/>
              <a:cxnLst/>
              <a:rect r="r" b="b" t="t" l="l"/>
              <a:pathLst>
                <a:path h="5206365" w="22125814">
                  <a:moveTo>
                    <a:pt x="0" y="48387"/>
                  </a:moveTo>
                  <a:cubicBezTo>
                    <a:pt x="0" y="21717"/>
                    <a:pt x="21717" y="0"/>
                    <a:pt x="48387" y="0"/>
                  </a:cubicBezTo>
                  <a:lnTo>
                    <a:pt x="22077426" y="0"/>
                  </a:lnTo>
                  <a:cubicBezTo>
                    <a:pt x="22104096" y="0"/>
                    <a:pt x="22125814" y="21717"/>
                    <a:pt x="22125814" y="48387"/>
                  </a:cubicBezTo>
                  <a:lnTo>
                    <a:pt x="22125814" y="5157978"/>
                  </a:lnTo>
                  <a:cubicBezTo>
                    <a:pt x="22125814" y="5184648"/>
                    <a:pt x="22104096" y="5206365"/>
                    <a:pt x="22077426" y="5206365"/>
                  </a:cubicBezTo>
                  <a:lnTo>
                    <a:pt x="48387" y="5206365"/>
                  </a:lnTo>
                  <a:cubicBezTo>
                    <a:pt x="21717" y="5206365"/>
                    <a:pt x="0" y="5184648"/>
                    <a:pt x="0" y="5157978"/>
                  </a:cubicBezTo>
                  <a:close/>
                </a:path>
              </a:pathLst>
            </a:custGeom>
            <a:solidFill>
              <a:srgbClr val="304755"/>
            </a:solidFill>
          </p:spPr>
        </p:sp>
      </p:grpSp>
      <p:grpSp>
        <p:nvGrpSpPr>
          <p:cNvPr name="Group 14" id="14"/>
          <p:cNvGrpSpPr/>
          <p:nvPr/>
        </p:nvGrpSpPr>
        <p:grpSpPr>
          <a:xfrm rot="0">
            <a:off x="846833" y="5715744"/>
            <a:ext cx="8297167" cy="2145952"/>
            <a:chOff x="0" y="0"/>
            <a:chExt cx="11062890" cy="2861270"/>
          </a:xfrm>
        </p:grpSpPr>
        <p:sp>
          <p:nvSpPr>
            <p:cNvPr name="Freeform 15" id="15"/>
            <p:cNvSpPr/>
            <p:nvPr/>
          </p:nvSpPr>
          <p:spPr>
            <a:xfrm flipH="false" flipV="false" rot="0">
              <a:off x="0" y="0"/>
              <a:ext cx="11062843" cy="2861310"/>
            </a:xfrm>
            <a:custGeom>
              <a:avLst/>
              <a:gdLst/>
              <a:ahLst/>
              <a:cxnLst/>
              <a:rect r="r" b="b" t="t" l="l"/>
              <a:pathLst>
                <a:path h="2861310" w="11062843">
                  <a:moveTo>
                    <a:pt x="0" y="48387"/>
                  </a:moveTo>
                  <a:cubicBezTo>
                    <a:pt x="0" y="21717"/>
                    <a:pt x="21717" y="0"/>
                    <a:pt x="48387" y="0"/>
                  </a:cubicBezTo>
                  <a:lnTo>
                    <a:pt x="11014456" y="0"/>
                  </a:lnTo>
                  <a:cubicBezTo>
                    <a:pt x="11041126" y="0"/>
                    <a:pt x="11062843" y="21717"/>
                    <a:pt x="11062843" y="48387"/>
                  </a:cubicBezTo>
                  <a:lnTo>
                    <a:pt x="11062843" y="2812923"/>
                  </a:lnTo>
                  <a:cubicBezTo>
                    <a:pt x="11062843" y="2839593"/>
                    <a:pt x="11041126" y="2861310"/>
                    <a:pt x="11014456" y="2861310"/>
                  </a:cubicBezTo>
                  <a:lnTo>
                    <a:pt x="48387" y="2861310"/>
                  </a:lnTo>
                  <a:cubicBezTo>
                    <a:pt x="21717" y="2861310"/>
                    <a:pt x="0" y="2839593"/>
                    <a:pt x="0" y="2812923"/>
                  </a:cubicBezTo>
                  <a:close/>
                </a:path>
              </a:pathLst>
            </a:custGeom>
            <a:solidFill>
              <a:srgbClr val="304755"/>
            </a:solidFill>
          </p:spPr>
        </p:sp>
      </p:grpSp>
      <p:sp>
        <p:nvSpPr>
          <p:cNvPr name="TextBox 16" id="16"/>
          <p:cNvSpPr txBox="true"/>
          <p:nvPr/>
        </p:nvSpPr>
        <p:spPr>
          <a:xfrm rot="0">
            <a:off x="1088677" y="5929015"/>
            <a:ext cx="2846635" cy="384422"/>
          </a:xfrm>
          <a:prstGeom prst="rect">
            <a:avLst/>
          </a:prstGeom>
        </p:spPr>
        <p:txBody>
          <a:bodyPr anchor="t" rtlCol="false" tIns="0" lIns="0" bIns="0" rIns="0">
            <a:spAutoFit/>
          </a:bodyPr>
          <a:lstStyle/>
          <a:p>
            <a:pPr algn="l">
              <a:lnSpc>
                <a:spcPts val="2750"/>
              </a:lnSpc>
            </a:pPr>
            <a:r>
              <a:rPr lang="en-US" sz="2187">
                <a:solidFill>
                  <a:srgbClr val="CAD6DE"/>
                </a:solidFill>
                <a:latin typeface="Arimo"/>
                <a:ea typeface="Arimo"/>
                <a:cs typeface="Arimo"/>
                <a:sym typeface="Arimo"/>
              </a:rPr>
              <a:t>Option A</a:t>
            </a:r>
          </a:p>
        </p:txBody>
      </p:sp>
      <p:sp>
        <p:nvSpPr>
          <p:cNvPr name="TextBox 17" id="17"/>
          <p:cNvSpPr txBox="true"/>
          <p:nvPr/>
        </p:nvSpPr>
        <p:spPr>
          <a:xfrm rot="0">
            <a:off x="1088677" y="6382345"/>
            <a:ext cx="7813476" cy="850404"/>
          </a:xfrm>
          <a:prstGeom prst="rect">
            <a:avLst/>
          </a:prstGeom>
        </p:spPr>
        <p:txBody>
          <a:bodyPr anchor="t" rtlCol="false" tIns="0" lIns="0" bIns="0" rIns="0">
            <a:spAutoFit/>
          </a:bodyPr>
          <a:lstStyle/>
          <a:p>
            <a:pPr algn="l">
              <a:lnSpc>
                <a:spcPts val="3000"/>
              </a:lnSpc>
            </a:pPr>
            <a:r>
              <a:rPr lang="en-US" sz="1874">
                <a:solidFill>
                  <a:srgbClr val="CAD6DE"/>
                </a:solidFill>
                <a:latin typeface="Cabin"/>
                <a:ea typeface="Cabin"/>
                <a:cs typeface="Cabin"/>
                <a:sym typeface="Cabin"/>
              </a:rPr>
              <a:t>Each topic is like your aunt's forwards—irrelevant, unstoppable, and multiplying faster than you can read them</a:t>
            </a:r>
          </a:p>
        </p:txBody>
      </p:sp>
      <p:grpSp>
        <p:nvGrpSpPr>
          <p:cNvPr name="Group 18" id="18"/>
          <p:cNvGrpSpPr/>
          <p:nvPr/>
        </p:nvGrpSpPr>
        <p:grpSpPr>
          <a:xfrm rot="0">
            <a:off x="9144000" y="5715744"/>
            <a:ext cx="8297167" cy="2145952"/>
            <a:chOff x="0" y="0"/>
            <a:chExt cx="11062890" cy="2861270"/>
          </a:xfrm>
        </p:grpSpPr>
        <p:sp>
          <p:nvSpPr>
            <p:cNvPr name="Freeform 19" id="19"/>
            <p:cNvSpPr/>
            <p:nvPr/>
          </p:nvSpPr>
          <p:spPr>
            <a:xfrm flipH="false" flipV="false" rot="0">
              <a:off x="0" y="0"/>
              <a:ext cx="11062843" cy="2861310"/>
            </a:xfrm>
            <a:custGeom>
              <a:avLst/>
              <a:gdLst/>
              <a:ahLst/>
              <a:cxnLst/>
              <a:rect r="r" b="b" t="t" l="l"/>
              <a:pathLst>
                <a:path h="2861310" w="11062843">
                  <a:moveTo>
                    <a:pt x="0" y="0"/>
                  </a:moveTo>
                  <a:lnTo>
                    <a:pt x="11062843" y="0"/>
                  </a:lnTo>
                  <a:lnTo>
                    <a:pt x="11062843" y="2861310"/>
                  </a:lnTo>
                  <a:lnTo>
                    <a:pt x="0" y="2861310"/>
                  </a:lnTo>
                  <a:close/>
                </a:path>
              </a:pathLst>
            </a:custGeom>
            <a:solidFill>
              <a:srgbClr val="304755"/>
            </a:solidFill>
          </p:spPr>
        </p:sp>
      </p:grpSp>
      <p:grpSp>
        <p:nvGrpSpPr>
          <p:cNvPr name="Group 20" id="20"/>
          <p:cNvGrpSpPr/>
          <p:nvPr/>
        </p:nvGrpSpPr>
        <p:grpSpPr>
          <a:xfrm rot="0">
            <a:off x="9144000" y="5715744"/>
            <a:ext cx="28575" cy="2145952"/>
            <a:chOff x="0" y="0"/>
            <a:chExt cx="38100" cy="2861270"/>
          </a:xfrm>
        </p:grpSpPr>
        <p:sp>
          <p:nvSpPr>
            <p:cNvPr name="Freeform 21" id="21"/>
            <p:cNvSpPr/>
            <p:nvPr/>
          </p:nvSpPr>
          <p:spPr>
            <a:xfrm flipH="false" flipV="false" rot="0">
              <a:off x="0" y="0"/>
              <a:ext cx="38100" cy="2861310"/>
            </a:xfrm>
            <a:custGeom>
              <a:avLst/>
              <a:gdLst/>
              <a:ahLst/>
              <a:cxnLst/>
              <a:rect r="r" b="b" t="t" l="l"/>
              <a:pathLst>
                <a:path h="2861310" w="38100">
                  <a:moveTo>
                    <a:pt x="0" y="19050"/>
                  </a:moveTo>
                  <a:cubicBezTo>
                    <a:pt x="0" y="8509"/>
                    <a:pt x="8509" y="0"/>
                    <a:pt x="19050" y="0"/>
                  </a:cubicBezTo>
                  <a:cubicBezTo>
                    <a:pt x="29591" y="0"/>
                    <a:pt x="38100" y="8509"/>
                    <a:pt x="38100" y="19050"/>
                  </a:cubicBezTo>
                  <a:lnTo>
                    <a:pt x="38100" y="2842260"/>
                  </a:lnTo>
                  <a:cubicBezTo>
                    <a:pt x="38100" y="2852801"/>
                    <a:pt x="29591" y="2861310"/>
                    <a:pt x="19050" y="2861310"/>
                  </a:cubicBezTo>
                  <a:cubicBezTo>
                    <a:pt x="8509" y="2861310"/>
                    <a:pt x="0" y="2852801"/>
                    <a:pt x="0" y="2842260"/>
                  </a:cubicBezTo>
                  <a:close/>
                </a:path>
              </a:pathLst>
            </a:custGeom>
            <a:solidFill>
              <a:srgbClr val="49606E"/>
            </a:solidFill>
          </p:spPr>
        </p:sp>
      </p:grpSp>
      <p:sp>
        <p:nvSpPr>
          <p:cNvPr name="TextBox 22" id="22"/>
          <p:cNvSpPr txBox="true"/>
          <p:nvPr/>
        </p:nvSpPr>
        <p:spPr>
          <a:xfrm rot="0">
            <a:off x="9385846" y="5929015"/>
            <a:ext cx="2846635" cy="384422"/>
          </a:xfrm>
          <a:prstGeom prst="rect">
            <a:avLst/>
          </a:prstGeom>
        </p:spPr>
        <p:txBody>
          <a:bodyPr anchor="t" rtlCol="false" tIns="0" lIns="0" bIns="0" rIns="0">
            <a:spAutoFit/>
          </a:bodyPr>
          <a:lstStyle/>
          <a:p>
            <a:pPr algn="l">
              <a:lnSpc>
                <a:spcPts val="2750"/>
              </a:lnSpc>
            </a:pPr>
            <a:r>
              <a:rPr lang="en-US" sz="2187">
                <a:solidFill>
                  <a:srgbClr val="CAD6DE"/>
                </a:solidFill>
                <a:latin typeface="Arimo"/>
                <a:ea typeface="Arimo"/>
                <a:cs typeface="Arimo"/>
                <a:sym typeface="Arimo"/>
              </a:rPr>
              <a:t>Option B</a:t>
            </a:r>
          </a:p>
        </p:txBody>
      </p:sp>
      <p:sp>
        <p:nvSpPr>
          <p:cNvPr name="TextBox 23" id="23"/>
          <p:cNvSpPr txBox="true"/>
          <p:nvPr/>
        </p:nvSpPr>
        <p:spPr>
          <a:xfrm rot="0">
            <a:off x="9385846" y="6382345"/>
            <a:ext cx="7813476" cy="1237506"/>
          </a:xfrm>
          <a:prstGeom prst="rect">
            <a:avLst/>
          </a:prstGeom>
        </p:spPr>
        <p:txBody>
          <a:bodyPr anchor="t" rtlCol="false" tIns="0" lIns="0" bIns="0" rIns="0">
            <a:spAutoFit/>
          </a:bodyPr>
          <a:lstStyle/>
          <a:p>
            <a:pPr algn="l">
              <a:lnSpc>
                <a:spcPts val="3000"/>
              </a:lnSpc>
            </a:pPr>
            <a:r>
              <a:rPr lang="en-US" sz="1874">
                <a:solidFill>
                  <a:srgbClr val="CAD6DE"/>
                </a:solidFill>
                <a:latin typeface="Cabin"/>
                <a:ea typeface="Cabin"/>
                <a:cs typeface="Cabin"/>
                <a:sym typeface="Cabin"/>
              </a:rPr>
              <a:t>Topics are categories (like "Good Morning" messages, political debates, recipe videos), and partitions split them so multiple people can handle the chaos simultaneously</a:t>
            </a:r>
          </a:p>
        </p:txBody>
      </p:sp>
      <p:grpSp>
        <p:nvGrpSpPr>
          <p:cNvPr name="Group 24" id="24"/>
          <p:cNvGrpSpPr/>
          <p:nvPr/>
        </p:nvGrpSpPr>
        <p:grpSpPr>
          <a:xfrm rot="0">
            <a:off x="846833" y="7861697"/>
            <a:ext cx="8297167" cy="1758851"/>
            <a:chOff x="0" y="0"/>
            <a:chExt cx="11062890" cy="2345135"/>
          </a:xfrm>
        </p:grpSpPr>
        <p:sp>
          <p:nvSpPr>
            <p:cNvPr name="Freeform 25" id="25"/>
            <p:cNvSpPr/>
            <p:nvPr/>
          </p:nvSpPr>
          <p:spPr>
            <a:xfrm flipH="false" flipV="false" rot="0">
              <a:off x="0" y="0"/>
              <a:ext cx="11062843" cy="2345182"/>
            </a:xfrm>
            <a:custGeom>
              <a:avLst/>
              <a:gdLst/>
              <a:ahLst/>
              <a:cxnLst/>
              <a:rect r="r" b="b" t="t" l="l"/>
              <a:pathLst>
                <a:path h="2345182" w="11062843">
                  <a:moveTo>
                    <a:pt x="0" y="0"/>
                  </a:moveTo>
                  <a:lnTo>
                    <a:pt x="11062843" y="0"/>
                  </a:lnTo>
                  <a:lnTo>
                    <a:pt x="11062843" y="2345182"/>
                  </a:lnTo>
                  <a:lnTo>
                    <a:pt x="0" y="2345182"/>
                  </a:lnTo>
                  <a:close/>
                </a:path>
              </a:pathLst>
            </a:custGeom>
            <a:solidFill>
              <a:srgbClr val="304755"/>
            </a:solidFill>
          </p:spPr>
        </p:sp>
      </p:grpSp>
      <p:grpSp>
        <p:nvGrpSpPr>
          <p:cNvPr name="Group 26" id="26"/>
          <p:cNvGrpSpPr/>
          <p:nvPr/>
        </p:nvGrpSpPr>
        <p:grpSpPr>
          <a:xfrm rot="0">
            <a:off x="846833" y="7861697"/>
            <a:ext cx="8297167" cy="28575"/>
            <a:chOff x="0" y="0"/>
            <a:chExt cx="11062890" cy="38100"/>
          </a:xfrm>
        </p:grpSpPr>
        <p:sp>
          <p:nvSpPr>
            <p:cNvPr name="Freeform 27" id="27"/>
            <p:cNvSpPr/>
            <p:nvPr/>
          </p:nvSpPr>
          <p:spPr>
            <a:xfrm flipH="false" flipV="false" rot="0">
              <a:off x="0" y="0"/>
              <a:ext cx="11062843" cy="38100"/>
            </a:xfrm>
            <a:custGeom>
              <a:avLst/>
              <a:gdLst/>
              <a:ahLst/>
              <a:cxnLst/>
              <a:rect r="r" b="b" t="t" l="l"/>
              <a:pathLst>
                <a:path h="38100" w="11062843">
                  <a:moveTo>
                    <a:pt x="0" y="19050"/>
                  </a:moveTo>
                  <a:cubicBezTo>
                    <a:pt x="0" y="8509"/>
                    <a:pt x="8509" y="0"/>
                    <a:pt x="19050" y="0"/>
                  </a:cubicBezTo>
                  <a:lnTo>
                    <a:pt x="11043793" y="0"/>
                  </a:lnTo>
                  <a:cubicBezTo>
                    <a:pt x="11054335" y="0"/>
                    <a:pt x="11062843" y="8509"/>
                    <a:pt x="11062843" y="19050"/>
                  </a:cubicBezTo>
                  <a:cubicBezTo>
                    <a:pt x="11062843" y="29591"/>
                    <a:pt x="11054335" y="38100"/>
                    <a:pt x="11043793" y="38100"/>
                  </a:cubicBezTo>
                  <a:lnTo>
                    <a:pt x="19050" y="38100"/>
                  </a:lnTo>
                  <a:cubicBezTo>
                    <a:pt x="8509" y="38100"/>
                    <a:pt x="0" y="29591"/>
                    <a:pt x="0" y="19050"/>
                  </a:cubicBezTo>
                  <a:close/>
                </a:path>
              </a:pathLst>
            </a:custGeom>
            <a:solidFill>
              <a:srgbClr val="49606E"/>
            </a:solidFill>
          </p:spPr>
        </p:sp>
      </p:grpSp>
      <p:sp>
        <p:nvSpPr>
          <p:cNvPr name="TextBox 28" id="28"/>
          <p:cNvSpPr txBox="true"/>
          <p:nvPr/>
        </p:nvSpPr>
        <p:spPr>
          <a:xfrm rot="0">
            <a:off x="1088677" y="8074967"/>
            <a:ext cx="2846635" cy="384422"/>
          </a:xfrm>
          <a:prstGeom prst="rect">
            <a:avLst/>
          </a:prstGeom>
        </p:spPr>
        <p:txBody>
          <a:bodyPr anchor="t" rtlCol="false" tIns="0" lIns="0" bIns="0" rIns="0">
            <a:spAutoFit/>
          </a:bodyPr>
          <a:lstStyle/>
          <a:p>
            <a:pPr algn="l">
              <a:lnSpc>
                <a:spcPts val="2750"/>
              </a:lnSpc>
            </a:pPr>
            <a:r>
              <a:rPr lang="en-US" sz="2187">
                <a:solidFill>
                  <a:srgbClr val="CAD6DE"/>
                </a:solidFill>
                <a:latin typeface="Arimo"/>
                <a:ea typeface="Arimo"/>
                <a:cs typeface="Arimo"/>
                <a:sym typeface="Arimo"/>
              </a:rPr>
              <a:t>Option C</a:t>
            </a:r>
          </a:p>
        </p:txBody>
      </p:sp>
      <p:sp>
        <p:nvSpPr>
          <p:cNvPr name="TextBox 29" id="29"/>
          <p:cNvSpPr txBox="true"/>
          <p:nvPr/>
        </p:nvSpPr>
        <p:spPr>
          <a:xfrm rot="0">
            <a:off x="1088677" y="8528298"/>
            <a:ext cx="7813476" cy="850404"/>
          </a:xfrm>
          <a:prstGeom prst="rect">
            <a:avLst/>
          </a:prstGeom>
        </p:spPr>
        <p:txBody>
          <a:bodyPr anchor="t" rtlCol="false" tIns="0" lIns="0" bIns="0" rIns="0">
            <a:spAutoFit/>
          </a:bodyPr>
          <a:lstStyle/>
          <a:p>
            <a:pPr algn="l">
              <a:lnSpc>
                <a:spcPts val="3000"/>
              </a:lnSpc>
            </a:pPr>
            <a:r>
              <a:rPr lang="en-US" sz="1874">
                <a:solidFill>
                  <a:srgbClr val="CAD6DE"/>
                </a:solidFill>
                <a:latin typeface="Cabin"/>
                <a:ea typeface="Cabin"/>
                <a:cs typeface="Cabin"/>
                <a:sym typeface="Cabin"/>
              </a:rPr>
              <a:t>Partitions are different phone numbers you use to escape the group, but you keep getting added back by determined relatives</a:t>
            </a:r>
          </a:p>
        </p:txBody>
      </p:sp>
      <p:grpSp>
        <p:nvGrpSpPr>
          <p:cNvPr name="Group 30" id="30"/>
          <p:cNvGrpSpPr/>
          <p:nvPr/>
        </p:nvGrpSpPr>
        <p:grpSpPr>
          <a:xfrm rot="0">
            <a:off x="9144000" y="7861697"/>
            <a:ext cx="8297167" cy="1758851"/>
            <a:chOff x="0" y="0"/>
            <a:chExt cx="11062890" cy="2345135"/>
          </a:xfrm>
        </p:grpSpPr>
        <p:sp>
          <p:nvSpPr>
            <p:cNvPr name="Freeform 31" id="31"/>
            <p:cNvSpPr/>
            <p:nvPr/>
          </p:nvSpPr>
          <p:spPr>
            <a:xfrm flipH="false" flipV="false" rot="0">
              <a:off x="0" y="0"/>
              <a:ext cx="11062843" cy="2345182"/>
            </a:xfrm>
            <a:custGeom>
              <a:avLst/>
              <a:gdLst/>
              <a:ahLst/>
              <a:cxnLst/>
              <a:rect r="r" b="b" t="t" l="l"/>
              <a:pathLst>
                <a:path h="2345182" w="11062843">
                  <a:moveTo>
                    <a:pt x="0" y="0"/>
                  </a:moveTo>
                  <a:lnTo>
                    <a:pt x="11062843" y="0"/>
                  </a:lnTo>
                  <a:lnTo>
                    <a:pt x="11062843" y="2345182"/>
                  </a:lnTo>
                  <a:lnTo>
                    <a:pt x="0" y="2345182"/>
                  </a:lnTo>
                  <a:close/>
                </a:path>
              </a:pathLst>
            </a:custGeom>
            <a:solidFill>
              <a:srgbClr val="304755"/>
            </a:solidFill>
          </p:spPr>
        </p:sp>
      </p:grpSp>
      <p:grpSp>
        <p:nvGrpSpPr>
          <p:cNvPr name="Group 32" id="32"/>
          <p:cNvGrpSpPr/>
          <p:nvPr/>
        </p:nvGrpSpPr>
        <p:grpSpPr>
          <a:xfrm rot="0">
            <a:off x="9144000" y="7861697"/>
            <a:ext cx="28575" cy="1758851"/>
            <a:chOff x="0" y="0"/>
            <a:chExt cx="38100" cy="2345135"/>
          </a:xfrm>
        </p:grpSpPr>
        <p:sp>
          <p:nvSpPr>
            <p:cNvPr name="Freeform 33" id="33"/>
            <p:cNvSpPr/>
            <p:nvPr/>
          </p:nvSpPr>
          <p:spPr>
            <a:xfrm flipH="false" flipV="false" rot="0">
              <a:off x="0" y="0"/>
              <a:ext cx="38100" cy="2345182"/>
            </a:xfrm>
            <a:custGeom>
              <a:avLst/>
              <a:gdLst/>
              <a:ahLst/>
              <a:cxnLst/>
              <a:rect r="r" b="b" t="t" l="l"/>
              <a:pathLst>
                <a:path h="2345182" w="38100">
                  <a:moveTo>
                    <a:pt x="0" y="19050"/>
                  </a:moveTo>
                  <a:cubicBezTo>
                    <a:pt x="0" y="8509"/>
                    <a:pt x="8509" y="0"/>
                    <a:pt x="19050" y="0"/>
                  </a:cubicBezTo>
                  <a:cubicBezTo>
                    <a:pt x="29591" y="0"/>
                    <a:pt x="38100" y="8509"/>
                    <a:pt x="38100" y="19050"/>
                  </a:cubicBezTo>
                  <a:lnTo>
                    <a:pt x="38100" y="2326132"/>
                  </a:lnTo>
                  <a:cubicBezTo>
                    <a:pt x="38100" y="2336673"/>
                    <a:pt x="29591" y="2345182"/>
                    <a:pt x="19050" y="2345182"/>
                  </a:cubicBezTo>
                  <a:cubicBezTo>
                    <a:pt x="8509" y="2345182"/>
                    <a:pt x="0" y="2336673"/>
                    <a:pt x="0" y="2326132"/>
                  </a:cubicBezTo>
                  <a:close/>
                </a:path>
              </a:pathLst>
            </a:custGeom>
            <a:solidFill>
              <a:srgbClr val="49606E"/>
            </a:solidFill>
          </p:spPr>
        </p:sp>
      </p:grpSp>
      <p:grpSp>
        <p:nvGrpSpPr>
          <p:cNvPr name="Group 34" id="34"/>
          <p:cNvGrpSpPr/>
          <p:nvPr/>
        </p:nvGrpSpPr>
        <p:grpSpPr>
          <a:xfrm rot="0">
            <a:off x="9144000" y="7861697"/>
            <a:ext cx="8297167" cy="28575"/>
            <a:chOff x="0" y="0"/>
            <a:chExt cx="11062890" cy="38100"/>
          </a:xfrm>
        </p:grpSpPr>
        <p:sp>
          <p:nvSpPr>
            <p:cNvPr name="Freeform 35" id="35"/>
            <p:cNvSpPr/>
            <p:nvPr/>
          </p:nvSpPr>
          <p:spPr>
            <a:xfrm flipH="false" flipV="false" rot="0">
              <a:off x="0" y="0"/>
              <a:ext cx="11062843" cy="38100"/>
            </a:xfrm>
            <a:custGeom>
              <a:avLst/>
              <a:gdLst/>
              <a:ahLst/>
              <a:cxnLst/>
              <a:rect r="r" b="b" t="t" l="l"/>
              <a:pathLst>
                <a:path h="38100" w="11062843">
                  <a:moveTo>
                    <a:pt x="0" y="19050"/>
                  </a:moveTo>
                  <a:cubicBezTo>
                    <a:pt x="0" y="8509"/>
                    <a:pt x="8509" y="0"/>
                    <a:pt x="19050" y="0"/>
                  </a:cubicBezTo>
                  <a:lnTo>
                    <a:pt x="11043793" y="0"/>
                  </a:lnTo>
                  <a:cubicBezTo>
                    <a:pt x="11054335" y="0"/>
                    <a:pt x="11062843" y="8509"/>
                    <a:pt x="11062843" y="19050"/>
                  </a:cubicBezTo>
                  <a:cubicBezTo>
                    <a:pt x="11062843" y="29591"/>
                    <a:pt x="11054335" y="38100"/>
                    <a:pt x="11043793" y="38100"/>
                  </a:cubicBezTo>
                  <a:lnTo>
                    <a:pt x="19050" y="38100"/>
                  </a:lnTo>
                  <a:cubicBezTo>
                    <a:pt x="8509" y="38100"/>
                    <a:pt x="0" y="29591"/>
                    <a:pt x="0" y="19050"/>
                  </a:cubicBezTo>
                  <a:close/>
                </a:path>
              </a:pathLst>
            </a:custGeom>
            <a:solidFill>
              <a:srgbClr val="49606E"/>
            </a:solidFill>
          </p:spPr>
        </p:sp>
      </p:grpSp>
      <p:sp>
        <p:nvSpPr>
          <p:cNvPr name="TextBox 36" id="36"/>
          <p:cNvSpPr txBox="true"/>
          <p:nvPr/>
        </p:nvSpPr>
        <p:spPr>
          <a:xfrm rot="0">
            <a:off x="9385846" y="8074967"/>
            <a:ext cx="2846635" cy="384422"/>
          </a:xfrm>
          <a:prstGeom prst="rect">
            <a:avLst/>
          </a:prstGeom>
        </p:spPr>
        <p:txBody>
          <a:bodyPr anchor="t" rtlCol="false" tIns="0" lIns="0" bIns="0" rIns="0">
            <a:spAutoFit/>
          </a:bodyPr>
          <a:lstStyle/>
          <a:p>
            <a:pPr algn="l">
              <a:lnSpc>
                <a:spcPts val="2750"/>
              </a:lnSpc>
            </a:pPr>
            <a:r>
              <a:rPr lang="en-US" sz="2187">
                <a:solidFill>
                  <a:srgbClr val="CAD6DE"/>
                </a:solidFill>
                <a:latin typeface="Arimo"/>
                <a:ea typeface="Arimo"/>
                <a:cs typeface="Arimo"/>
                <a:sym typeface="Arimo"/>
              </a:rPr>
              <a:t>Option D</a:t>
            </a:r>
          </a:p>
        </p:txBody>
      </p:sp>
      <p:sp>
        <p:nvSpPr>
          <p:cNvPr name="TextBox 37" id="37"/>
          <p:cNvSpPr txBox="true"/>
          <p:nvPr/>
        </p:nvSpPr>
        <p:spPr>
          <a:xfrm rot="0">
            <a:off x="9385846" y="8528298"/>
            <a:ext cx="7813476" cy="850404"/>
          </a:xfrm>
          <a:prstGeom prst="rect">
            <a:avLst/>
          </a:prstGeom>
        </p:spPr>
        <p:txBody>
          <a:bodyPr anchor="t" rtlCol="false" tIns="0" lIns="0" bIns="0" rIns="0">
            <a:spAutoFit/>
          </a:bodyPr>
          <a:lstStyle/>
          <a:p>
            <a:pPr algn="l">
              <a:lnSpc>
                <a:spcPts val="3000"/>
              </a:lnSpc>
            </a:pPr>
            <a:r>
              <a:rPr lang="en-US" sz="1874">
                <a:solidFill>
                  <a:srgbClr val="CAD6DE"/>
                </a:solidFill>
                <a:latin typeface="Cabin"/>
                <a:ea typeface="Cabin"/>
                <a:cs typeface="Cabin"/>
                <a:sym typeface="Cabin"/>
              </a:rPr>
              <a:t>Topics are deleted automatically after 7 days, just like your motivation to reply to everyone's "GM" messages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sp>
        <p:nvSpPr>
          <p:cNvPr name="TextBox 8" id="8"/>
          <p:cNvSpPr txBox="true"/>
          <p:nvPr/>
        </p:nvSpPr>
        <p:spPr>
          <a:xfrm rot="0">
            <a:off x="637282" y="462706"/>
            <a:ext cx="9150846" cy="573584"/>
          </a:xfrm>
          <a:prstGeom prst="rect">
            <a:avLst/>
          </a:prstGeom>
        </p:spPr>
        <p:txBody>
          <a:bodyPr anchor="t" rtlCol="false" tIns="0" lIns="0" bIns="0" rIns="0">
            <a:spAutoFit/>
          </a:bodyPr>
          <a:lstStyle/>
          <a:p>
            <a:pPr algn="l">
              <a:lnSpc>
                <a:spcPts val="4187"/>
              </a:lnSpc>
            </a:pPr>
            <a:r>
              <a:rPr lang="en-US" sz="3312">
                <a:solidFill>
                  <a:srgbClr val="FFFFFF"/>
                </a:solidFill>
                <a:latin typeface="Arimo"/>
                <a:ea typeface="Arimo"/>
                <a:cs typeface="Arimo"/>
                <a:sym typeface="Arimo"/>
              </a:rPr>
              <a:t>Round 6: Producers and Consumers</a:t>
            </a:r>
          </a:p>
        </p:txBody>
      </p:sp>
      <p:sp>
        <p:nvSpPr>
          <p:cNvPr name="TextBox 9" id="9"/>
          <p:cNvSpPr txBox="true"/>
          <p:nvPr/>
        </p:nvSpPr>
        <p:spPr>
          <a:xfrm rot="0">
            <a:off x="637282" y="1472356"/>
            <a:ext cx="8284666" cy="983456"/>
          </a:xfrm>
          <a:prstGeom prst="rect">
            <a:avLst/>
          </a:prstGeom>
        </p:spPr>
        <p:txBody>
          <a:bodyPr anchor="t" rtlCol="false" tIns="0" lIns="0" bIns="0" rIns="0">
            <a:spAutoFit/>
          </a:bodyPr>
          <a:lstStyle/>
          <a:p>
            <a:pPr algn="l">
              <a:lnSpc>
                <a:spcPts val="2500"/>
              </a:lnSpc>
            </a:pPr>
            <a:r>
              <a:rPr lang="en-US" sz="2000">
                <a:solidFill>
                  <a:srgbClr val="FFFFFF"/>
                </a:solidFill>
                <a:latin typeface="Arimo"/>
                <a:ea typeface="Arimo"/>
                <a:cs typeface="Arimo"/>
                <a:sym typeface="Arimo"/>
              </a:rPr>
              <a:t>YouTube keeps sending you notifications for channels you don't even remember subscribing to. Who's the producer and consumer?</a:t>
            </a:r>
          </a:p>
        </p:txBody>
      </p:sp>
      <p:sp>
        <p:nvSpPr>
          <p:cNvPr name="TextBox 10" id="10"/>
          <p:cNvSpPr txBox="true"/>
          <p:nvPr/>
        </p:nvSpPr>
        <p:spPr>
          <a:xfrm rot="0">
            <a:off x="637282" y="2584400"/>
            <a:ext cx="182016" cy="303759"/>
          </a:xfrm>
          <a:prstGeom prst="rect">
            <a:avLst/>
          </a:prstGeom>
        </p:spPr>
        <p:txBody>
          <a:bodyPr anchor="t" rtlCol="false" tIns="0" lIns="0" bIns="0" rIns="0">
            <a:spAutoFit/>
          </a:bodyPr>
          <a:lstStyle/>
          <a:p>
            <a:pPr algn="l">
              <a:lnSpc>
                <a:spcPts val="2250"/>
              </a:lnSpc>
            </a:pPr>
            <a:r>
              <a:rPr lang="en-US" sz="1375">
                <a:solidFill>
                  <a:srgbClr val="CAD6DE"/>
                </a:solidFill>
                <a:latin typeface="Arimo"/>
                <a:ea typeface="Arimo"/>
                <a:cs typeface="Arimo"/>
                <a:sym typeface="Arimo"/>
              </a:rPr>
              <a:t>01</a:t>
            </a:r>
          </a:p>
        </p:txBody>
      </p:sp>
      <p:grpSp>
        <p:nvGrpSpPr>
          <p:cNvPr name="Group 11" id="11"/>
          <p:cNvGrpSpPr/>
          <p:nvPr/>
        </p:nvGrpSpPr>
        <p:grpSpPr>
          <a:xfrm rot="0">
            <a:off x="637282" y="2950815"/>
            <a:ext cx="8284666" cy="19050"/>
            <a:chOff x="0" y="0"/>
            <a:chExt cx="11046222" cy="25400"/>
          </a:xfrm>
        </p:grpSpPr>
        <p:sp>
          <p:nvSpPr>
            <p:cNvPr name="Freeform 12" id="12"/>
            <p:cNvSpPr/>
            <p:nvPr/>
          </p:nvSpPr>
          <p:spPr>
            <a:xfrm flipH="false" flipV="false" rot="0">
              <a:off x="0" y="0"/>
              <a:ext cx="11046206" cy="25400"/>
            </a:xfrm>
            <a:custGeom>
              <a:avLst/>
              <a:gdLst/>
              <a:ahLst/>
              <a:cxnLst/>
              <a:rect r="r" b="b" t="t" l="l"/>
              <a:pathLst>
                <a:path h="25400" w="11046206">
                  <a:moveTo>
                    <a:pt x="0" y="0"/>
                  </a:moveTo>
                  <a:lnTo>
                    <a:pt x="11046206" y="0"/>
                  </a:lnTo>
                  <a:lnTo>
                    <a:pt x="11046206" y="25400"/>
                  </a:lnTo>
                  <a:lnTo>
                    <a:pt x="0" y="25400"/>
                  </a:lnTo>
                  <a:close/>
                </a:path>
              </a:pathLst>
            </a:custGeom>
            <a:solidFill>
              <a:srgbClr val="0A988B"/>
            </a:solidFill>
          </p:spPr>
        </p:sp>
      </p:grpSp>
      <p:sp>
        <p:nvSpPr>
          <p:cNvPr name="TextBox 13" id="13"/>
          <p:cNvSpPr txBox="true"/>
          <p:nvPr/>
        </p:nvSpPr>
        <p:spPr>
          <a:xfrm rot="0">
            <a:off x="637282" y="3051274"/>
            <a:ext cx="2142530" cy="296465"/>
          </a:xfrm>
          <a:prstGeom prst="rect">
            <a:avLst/>
          </a:prstGeom>
        </p:spPr>
        <p:txBody>
          <a:bodyPr anchor="t" rtlCol="false" tIns="0" lIns="0" bIns="0" rIns="0">
            <a:spAutoFit/>
          </a:bodyPr>
          <a:lstStyle/>
          <a:p>
            <a:pPr algn="l">
              <a:lnSpc>
                <a:spcPts val="2062"/>
              </a:lnSpc>
            </a:pPr>
            <a:r>
              <a:rPr lang="en-US" sz="1625">
                <a:solidFill>
                  <a:srgbClr val="CAD6DE"/>
                </a:solidFill>
                <a:latin typeface="Arimo"/>
                <a:ea typeface="Arimo"/>
                <a:cs typeface="Arimo"/>
                <a:sym typeface="Arimo"/>
              </a:rPr>
              <a:t>Option A</a:t>
            </a:r>
          </a:p>
        </p:txBody>
      </p:sp>
      <p:sp>
        <p:nvSpPr>
          <p:cNvPr name="TextBox 14" id="14"/>
          <p:cNvSpPr txBox="true"/>
          <p:nvPr/>
        </p:nvSpPr>
        <p:spPr>
          <a:xfrm rot="0">
            <a:off x="637282" y="3472606"/>
            <a:ext cx="8284666" cy="639961"/>
          </a:xfrm>
          <a:prstGeom prst="rect">
            <a:avLst/>
          </a:prstGeom>
        </p:spPr>
        <p:txBody>
          <a:bodyPr anchor="t" rtlCol="false" tIns="0" lIns="0" bIns="0" rIns="0">
            <a:spAutoFit/>
          </a:bodyPr>
          <a:lstStyle/>
          <a:p>
            <a:pPr algn="l">
              <a:lnSpc>
                <a:spcPts val="2250"/>
              </a:lnSpc>
            </a:pPr>
            <a:r>
              <a:rPr lang="en-US" sz="1375">
                <a:solidFill>
                  <a:srgbClr val="CAD6DE"/>
                </a:solidFill>
                <a:latin typeface="Cabin"/>
                <a:ea typeface="Cabin"/>
                <a:cs typeface="Cabin"/>
                <a:sym typeface="Cabin"/>
              </a:rPr>
              <a:t>Producer: Your sleep-deprived 3 AM self randomly subscribing. Consumer: Morning-you wondering "Why am I getting cat videos?"</a:t>
            </a:r>
          </a:p>
        </p:txBody>
      </p:sp>
      <p:sp>
        <p:nvSpPr>
          <p:cNvPr name="TextBox 15" id="15"/>
          <p:cNvSpPr txBox="true"/>
          <p:nvPr/>
        </p:nvSpPr>
        <p:spPr>
          <a:xfrm rot="0">
            <a:off x="637282" y="4354860"/>
            <a:ext cx="182016" cy="303759"/>
          </a:xfrm>
          <a:prstGeom prst="rect">
            <a:avLst/>
          </a:prstGeom>
        </p:spPr>
        <p:txBody>
          <a:bodyPr anchor="t" rtlCol="false" tIns="0" lIns="0" bIns="0" rIns="0">
            <a:spAutoFit/>
          </a:bodyPr>
          <a:lstStyle/>
          <a:p>
            <a:pPr algn="l">
              <a:lnSpc>
                <a:spcPts val="2250"/>
              </a:lnSpc>
            </a:pPr>
            <a:r>
              <a:rPr lang="en-US" sz="1375">
                <a:solidFill>
                  <a:srgbClr val="CAD6DE"/>
                </a:solidFill>
                <a:latin typeface="Arimo"/>
                <a:ea typeface="Arimo"/>
                <a:cs typeface="Arimo"/>
                <a:sym typeface="Arimo"/>
              </a:rPr>
              <a:t>02</a:t>
            </a:r>
          </a:p>
        </p:txBody>
      </p:sp>
      <p:grpSp>
        <p:nvGrpSpPr>
          <p:cNvPr name="Group 16" id="16"/>
          <p:cNvGrpSpPr/>
          <p:nvPr/>
        </p:nvGrpSpPr>
        <p:grpSpPr>
          <a:xfrm rot="0">
            <a:off x="637282" y="4721275"/>
            <a:ext cx="8284666" cy="19050"/>
            <a:chOff x="0" y="0"/>
            <a:chExt cx="11046222" cy="25400"/>
          </a:xfrm>
        </p:grpSpPr>
        <p:sp>
          <p:nvSpPr>
            <p:cNvPr name="Freeform 17" id="17"/>
            <p:cNvSpPr/>
            <p:nvPr/>
          </p:nvSpPr>
          <p:spPr>
            <a:xfrm flipH="false" flipV="false" rot="0">
              <a:off x="0" y="0"/>
              <a:ext cx="11046206" cy="25400"/>
            </a:xfrm>
            <a:custGeom>
              <a:avLst/>
              <a:gdLst/>
              <a:ahLst/>
              <a:cxnLst/>
              <a:rect r="r" b="b" t="t" l="l"/>
              <a:pathLst>
                <a:path h="25400" w="11046206">
                  <a:moveTo>
                    <a:pt x="0" y="0"/>
                  </a:moveTo>
                  <a:lnTo>
                    <a:pt x="11046206" y="0"/>
                  </a:lnTo>
                  <a:lnTo>
                    <a:pt x="11046206" y="25400"/>
                  </a:lnTo>
                  <a:lnTo>
                    <a:pt x="0" y="25400"/>
                  </a:lnTo>
                  <a:close/>
                </a:path>
              </a:pathLst>
            </a:custGeom>
            <a:solidFill>
              <a:srgbClr val="0A988B"/>
            </a:solidFill>
          </p:spPr>
        </p:sp>
      </p:grpSp>
      <p:sp>
        <p:nvSpPr>
          <p:cNvPr name="TextBox 18" id="18"/>
          <p:cNvSpPr txBox="true"/>
          <p:nvPr/>
        </p:nvSpPr>
        <p:spPr>
          <a:xfrm rot="0">
            <a:off x="637282" y="4821734"/>
            <a:ext cx="2142530" cy="296465"/>
          </a:xfrm>
          <a:prstGeom prst="rect">
            <a:avLst/>
          </a:prstGeom>
        </p:spPr>
        <p:txBody>
          <a:bodyPr anchor="t" rtlCol="false" tIns="0" lIns="0" bIns="0" rIns="0">
            <a:spAutoFit/>
          </a:bodyPr>
          <a:lstStyle/>
          <a:p>
            <a:pPr algn="l">
              <a:lnSpc>
                <a:spcPts val="2062"/>
              </a:lnSpc>
            </a:pPr>
            <a:r>
              <a:rPr lang="en-US" sz="1625">
                <a:solidFill>
                  <a:srgbClr val="CAD6DE"/>
                </a:solidFill>
                <a:latin typeface="Arimo"/>
                <a:ea typeface="Arimo"/>
                <a:cs typeface="Arimo"/>
                <a:sym typeface="Arimo"/>
              </a:rPr>
              <a:t>Option B</a:t>
            </a:r>
          </a:p>
        </p:txBody>
      </p:sp>
      <p:sp>
        <p:nvSpPr>
          <p:cNvPr name="TextBox 19" id="19"/>
          <p:cNvSpPr txBox="true"/>
          <p:nvPr/>
        </p:nvSpPr>
        <p:spPr>
          <a:xfrm rot="0">
            <a:off x="637282" y="5243066"/>
            <a:ext cx="8284666" cy="639961"/>
          </a:xfrm>
          <a:prstGeom prst="rect">
            <a:avLst/>
          </a:prstGeom>
        </p:spPr>
        <p:txBody>
          <a:bodyPr anchor="t" rtlCol="false" tIns="0" lIns="0" bIns="0" rIns="0">
            <a:spAutoFit/>
          </a:bodyPr>
          <a:lstStyle/>
          <a:p>
            <a:pPr algn="l">
              <a:lnSpc>
                <a:spcPts val="2250"/>
              </a:lnSpc>
            </a:pPr>
            <a:r>
              <a:rPr lang="en-US" sz="1375">
                <a:solidFill>
                  <a:srgbClr val="CAD6DE"/>
                </a:solidFill>
                <a:latin typeface="Cabin"/>
                <a:ea typeface="Cabin"/>
                <a:cs typeface="Cabin"/>
                <a:sym typeface="Cabin"/>
              </a:rPr>
              <a:t>Producer: YouTube channels posting videos. Consumer: Your notification-addicted brain checking every single ping immediately</a:t>
            </a:r>
          </a:p>
        </p:txBody>
      </p:sp>
      <p:sp>
        <p:nvSpPr>
          <p:cNvPr name="TextBox 20" id="20"/>
          <p:cNvSpPr txBox="true"/>
          <p:nvPr/>
        </p:nvSpPr>
        <p:spPr>
          <a:xfrm rot="0">
            <a:off x="637282" y="6125319"/>
            <a:ext cx="182016" cy="303759"/>
          </a:xfrm>
          <a:prstGeom prst="rect">
            <a:avLst/>
          </a:prstGeom>
        </p:spPr>
        <p:txBody>
          <a:bodyPr anchor="t" rtlCol="false" tIns="0" lIns="0" bIns="0" rIns="0">
            <a:spAutoFit/>
          </a:bodyPr>
          <a:lstStyle/>
          <a:p>
            <a:pPr algn="l">
              <a:lnSpc>
                <a:spcPts val="2250"/>
              </a:lnSpc>
            </a:pPr>
            <a:r>
              <a:rPr lang="en-US" sz="1375">
                <a:solidFill>
                  <a:srgbClr val="CAD6DE"/>
                </a:solidFill>
                <a:latin typeface="Arimo"/>
                <a:ea typeface="Arimo"/>
                <a:cs typeface="Arimo"/>
                <a:sym typeface="Arimo"/>
              </a:rPr>
              <a:t>03</a:t>
            </a:r>
          </a:p>
        </p:txBody>
      </p:sp>
      <p:grpSp>
        <p:nvGrpSpPr>
          <p:cNvPr name="Group 21" id="21"/>
          <p:cNvGrpSpPr/>
          <p:nvPr/>
        </p:nvGrpSpPr>
        <p:grpSpPr>
          <a:xfrm rot="0">
            <a:off x="637282" y="6491734"/>
            <a:ext cx="8284666" cy="19050"/>
            <a:chOff x="0" y="0"/>
            <a:chExt cx="11046222" cy="25400"/>
          </a:xfrm>
        </p:grpSpPr>
        <p:sp>
          <p:nvSpPr>
            <p:cNvPr name="Freeform 22" id="22"/>
            <p:cNvSpPr/>
            <p:nvPr/>
          </p:nvSpPr>
          <p:spPr>
            <a:xfrm flipH="false" flipV="false" rot="0">
              <a:off x="0" y="0"/>
              <a:ext cx="11046206" cy="25400"/>
            </a:xfrm>
            <a:custGeom>
              <a:avLst/>
              <a:gdLst/>
              <a:ahLst/>
              <a:cxnLst/>
              <a:rect r="r" b="b" t="t" l="l"/>
              <a:pathLst>
                <a:path h="25400" w="11046206">
                  <a:moveTo>
                    <a:pt x="0" y="0"/>
                  </a:moveTo>
                  <a:lnTo>
                    <a:pt x="11046206" y="0"/>
                  </a:lnTo>
                  <a:lnTo>
                    <a:pt x="11046206" y="25400"/>
                  </a:lnTo>
                  <a:lnTo>
                    <a:pt x="0" y="25400"/>
                  </a:lnTo>
                  <a:close/>
                </a:path>
              </a:pathLst>
            </a:custGeom>
            <a:solidFill>
              <a:srgbClr val="0A988B"/>
            </a:solidFill>
          </p:spPr>
        </p:sp>
      </p:grpSp>
      <p:sp>
        <p:nvSpPr>
          <p:cNvPr name="TextBox 23" id="23"/>
          <p:cNvSpPr txBox="true"/>
          <p:nvPr/>
        </p:nvSpPr>
        <p:spPr>
          <a:xfrm rot="0">
            <a:off x="637282" y="6592192"/>
            <a:ext cx="2142530" cy="296465"/>
          </a:xfrm>
          <a:prstGeom prst="rect">
            <a:avLst/>
          </a:prstGeom>
        </p:spPr>
        <p:txBody>
          <a:bodyPr anchor="t" rtlCol="false" tIns="0" lIns="0" bIns="0" rIns="0">
            <a:spAutoFit/>
          </a:bodyPr>
          <a:lstStyle/>
          <a:p>
            <a:pPr algn="l">
              <a:lnSpc>
                <a:spcPts val="2062"/>
              </a:lnSpc>
            </a:pPr>
            <a:r>
              <a:rPr lang="en-US" sz="1625">
                <a:solidFill>
                  <a:srgbClr val="CAD6DE"/>
                </a:solidFill>
                <a:latin typeface="Arimo"/>
                <a:ea typeface="Arimo"/>
                <a:cs typeface="Arimo"/>
                <a:sym typeface="Arimo"/>
              </a:rPr>
              <a:t>Option C</a:t>
            </a:r>
          </a:p>
        </p:txBody>
      </p:sp>
      <p:sp>
        <p:nvSpPr>
          <p:cNvPr name="TextBox 24" id="24"/>
          <p:cNvSpPr txBox="true"/>
          <p:nvPr/>
        </p:nvSpPr>
        <p:spPr>
          <a:xfrm rot="0">
            <a:off x="637282" y="7013525"/>
            <a:ext cx="8284666" cy="639961"/>
          </a:xfrm>
          <a:prstGeom prst="rect">
            <a:avLst/>
          </a:prstGeom>
        </p:spPr>
        <p:txBody>
          <a:bodyPr anchor="t" rtlCol="false" tIns="0" lIns="0" bIns="0" rIns="0">
            <a:spAutoFit/>
          </a:bodyPr>
          <a:lstStyle/>
          <a:p>
            <a:pPr algn="l">
              <a:lnSpc>
                <a:spcPts val="2250"/>
              </a:lnSpc>
            </a:pPr>
            <a:r>
              <a:rPr lang="en-US" sz="1375">
                <a:solidFill>
                  <a:srgbClr val="CAD6DE"/>
                </a:solidFill>
                <a:latin typeface="Cabin"/>
                <a:ea typeface="Cabin"/>
                <a:cs typeface="Cabin"/>
                <a:sym typeface="Cabin"/>
              </a:rPr>
              <a:t>Producer: YouTube's algorithm. Consumer: Your data plan crying as it downloads HD thumbnails you'll never watch</a:t>
            </a:r>
          </a:p>
        </p:txBody>
      </p:sp>
      <p:sp>
        <p:nvSpPr>
          <p:cNvPr name="TextBox 25" id="25"/>
          <p:cNvSpPr txBox="true"/>
          <p:nvPr/>
        </p:nvSpPr>
        <p:spPr>
          <a:xfrm rot="0">
            <a:off x="637282" y="7895779"/>
            <a:ext cx="182016" cy="303759"/>
          </a:xfrm>
          <a:prstGeom prst="rect">
            <a:avLst/>
          </a:prstGeom>
        </p:spPr>
        <p:txBody>
          <a:bodyPr anchor="t" rtlCol="false" tIns="0" lIns="0" bIns="0" rIns="0">
            <a:spAutoFit/>
          </a:bodyPr>
          <a:lstStyle/>
          <a:p>
            <a:pPr algn="l">
              <a:lnSpc>
                <a:spcPts val="2250"/>
              </a:lnSpc>
            </a:pPr>
            <a:r>
              <a:rPr lang="en-US" sz="1375">
                <a:solidFill>
                  <a:srgbClr val="CAD6DE"/>
                </a:solidFill>
                <a:latin typeface="Arimo"/>
                <a:ea typeface="Arimo"/>
                <a:cs typeface="Arimo"/>
                <a:sym typeface="Arimo"/>
              </a:rPr>
              <a:t>04</a:t>
            </a:r>
          </a:p>
        </p:txBody>
      </p:sp>
      <p:grpSp>
        <p:nvGrpSpPr>
          <p:cNvPr name="Group 26" id="26"/>
          <p:cNvGrpSpPr/>
          <p:nvPr/>
        </p:nvGrpSpPr>
        <p:grpSpPr>
          <a:xfrm rot="0">
            <a:off x="637282" y="8262194"/>
            <a:ext cx="8284666" cy="19050"/>
            <a:chOff x="0" y="0"/>
            <a:chExt cx="11046222" cy="25400"/>
          </a:xfrm>
        </p:grpSpPr>
        <p:sp>
          <p:nvSpPr>
            <p:cNvPr name="Freeform 27" id="27"/>
            <p:cNvSpPr/>
            <p:nvPr/>
          </p:nvSpPr>
          <p:spPr>
            <a:xfrm flipH="false" flipV="false" rot="0">
              <a:off x="0" y="0"/>
              <a:ext cx="11046206" cy="25400"/>
            </a:xfrm>
            <a:custGeom>
              <a:avLst/>
              <a:gdLst/>
              <a:ahLst/>
              <a:cxnLst/>
              <a:rect r="r" b="b" t="t" l="l"/>
              <a:pathLst>
                <a:path h="25400" w="11046206">
                  <a:moveTo>
                    <a:pt x="0" y="0"/>
                  </a:moveTo>
                  <a:lnTo>
                    <a:pt x="11046206" y="0"/>
                  </a:lnTo>
                  <a:lnTo>
                    <a:pt x="11046206" y="25400"/>
                  </a:lnTo>
                  <a:lnTo>
                    <a:pt x="0" y="25400"/>
                  </a:lnTo>
                  <a:close/>
                </a:path>
              </a:pathLst>
            </a:custGeom>
            <a:solidFill>
              <a:srgbClr val="0A988B"/>
            </a:solidFill>
          </p:spPr>
        </p:sp>
      </p:grpSp>
      <p:sp>
        <p:nvSpPr>
          <p:cNvPr name="TextBox 28" id="28"/>
          <p:cNvSpPr txBox="true"/>
          <p:nvPr/>
        </p:nvSpPr>
        <p:spPr>
          <a:xfrm rot="0">
            <a:off x="637282" y="8362653"/>
            <a:ext cx="2142530" cy="296465"/>
          </a:xfrm>
          <a:prstGeom prst="rect">
            <a:avLst/>
          </a:prstGeom>
        </p:spPr>
        <p:txBody>
          <a:bodyPr anchor="t" rtlCol="false" tIns="0" lIns="0" bIns="0" rIns="0">
            <a:spAutoFit/>
          </a:bodyPr>
          <a:lstStyle/>
          <a:p>
            <a:pPr algn="l">
              <a:lnSpc>
                <a:spcPts val="2062"/>
              </a:lnSpc>
            </a:pPr>
            <a:r>
              <a:rPr lang="en-US" sz="1625">
                <a:solidFill>
                  <a:srgbClr val="CAD6DE"/>
                </a:solidFill>
                <a:latin typeface="Arimo"/>
                <a:ea typeface="Arimo"/>
                <a:cs typeface="Arimo"/>
                <a:sym typeface="Arimo"/>
              </a:rPr>
              <a:t>Option D</a:t>
            </a:r>
          </a:p>
        </p:txBody>
      </p:sp>
      <p:sp>
        <p:nvSpPr>
          <p:cNvPr name="TextBox 29" id="29"/>
          <p:cNvSpPr txBox="true"/>
          <p:nvPr/>
        </p:nvSpPr>
        <p:spPr>
          <a:xfrm rot="0">
            <a:off x="637282" y="8783985"/>
            <a:ext cx="8284666" cy="639961"/>
          </a:xfrm>
          <a:prstGeom prst="rect">
            <a:avLst/>
          </a:prstGeom>
        </p:spPr>
        <p:txBody>
          <a:bodyPr anchor="t" rtlCol="false" tIns="0" lIns="0" bIns="0" rIns="0">
            <a:spAutoFit/>
          </a:bodyPr>
          <a:lstStyle/>
          <a:p>
            <a:pPr algn="l">
              <a:lnSpc>
                <a:spcPts val="2250"/>
              </a:lnSpc>
            </a:pPr>
            <a:r>
              <a:rPr lang="en-US" sz="1375">
                <a:solidFill>
                  <a:srgbClr val="CAD6DE"/>
                </a:solidFill>
                <a:latin typeface="Cabin"/>
                <a:ea typeface="Cabin"/>
                <a:cs typeface="Cabin"/>
                <a:sym typeface="Cabin"/>
              </a:rPr>
              <a:t>Producer: Your friend who hacked your account. Consumer: Everyone laughing at your "subscribe to my gaming channel" comments</a:t>
            </a:r>
          </a:p>
        </p:txBody>
      </p:sp>
      <p:grpSp>
        <p:nvGrpSpPr>
          <p:cNvPr name="Group 30" id="30"/>
          <p:cNvGrpSpPr/>
          <p:nvPr/>
        </p:nvGrpSpPr>
        <p:grpSpPr>
          <a:xfrm rot="0">
            <a:off x="9375576" y="1514178"/>
            <a:ext cx="8284666" cy="8284666"/>
            <a:chOff x="0" y="0"/>
            <a:chExt cx="11046222" cy="11046222"/>
          </a:xfrm>
        </p:grpSpPr>
        <p:sp>
          <p:nvSpPr>
            <p:cNvPr name="Freeform 31" id="31" descr="preencoded.png"/>
            <p:cNvSpPr/>
            <p:nvPr/>
          </p:nvSpPr>
          <p:spPr>
            <a:xfrm flipH="false" flipV="false" rot="0">
              <a:off x="0" y="0"/>
              <a:ext cx="11046206" cy="11046206"/>
            </a:xfrm>
            <a:custGeom>
              <a:avLst/>
              <a:gdLst/>
              <a:ahLst/>
              <a:cxnLst/>
              <a:rect r="r" b="b" t="t" l="l"/>
              <a:pathLst>
                <a:path h="11046206" w="11046206">
                  <a:moveTo>
                    <a:pt x="0" y="0"/>
                  </a:moveTo>
                  <a:lnTo>
                    <a:pt x="11046206" y="0"/>
                  </a:lnTo>
                  <a:lnTo>
                    <a:pt x="11046206" y="11046206"/>
                  </a:lnTo>
                  <a:lnTo>
                    <a:pt x="0" y="11046206"/>
                  </a:lnTo>
                  <a:lnTo>
                    <a:pt x="0" y="0"/>
                  </a:lnTo>
                  <a:close/>
                </a:path>
              </a:pathLst>
            </a:custGeom>
            <a:blipFill>
              <a:blip r:embed="rId5"/>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sp>
        <p:nvSpPr>
          <p:cNvPr name="TextBox 8" id="8"/>
          <p:cNvSpPr txBox="true"/>
          <p:nvPr/>
        </p:nvSpPr>
        <p:spPr>
          <a:xfrm rot="0">
            <a:off x="1047155" y="2177951"/>
            <a:ext cx="12378481" cy="937171"/>
          </a:xfrm>
          <a:prstGeom prst="rect">
            <a:avLst/>
          </a:prstGeom>
        </p:spPr>
        <p:txBody>
          <a:bodyPr anchor="t" rtlCol="false" tIns="0" lIns="0" bIns="0" rIns="0">
            <a:spAutoFit/>
          </a:bodyPr>
          <a:lstStyle/>
          <a:p>
            <a:pPr algn="l">
              <a:lnSpc>
                <a:spcPts val="6875"/>
              </a:lnSpc>
            </a:pPr>
            <a:r>
              <a:rPr lang="en-US" sz="5500">
                <a:solidFill>
                  <a:srgbClr val="FFFFFF"/>
                </a:solidFill>
                <a:latin typeface="Arimo"/>
                <a:ea typeface="Arimo"/>
                <a:cs typeface="Arimo"/>
                <a:sym typeface="Arimo"/>
              </a:rPr>
              <a:t>Round 7: Real-Time Streaming</a:t>
            </a:r>
          </a:p>
        </p:txBody>
      </p:sp>
      <p:sp>
        <p:nvSpPr>
          <p:cNvPr name="TextBox 9" id="9"/>
          <p:cNvSpPr txBox="true"/>
          <p:nvPr/>
        </p:nvSpPr>
        <p:spPr>
          <a:xfrm rot="0">
            <a:off x="1047155" y="3196679"/>
            <a:ext cx="16193690" cy="1093886"/>
          </a:xfrm>
          <a:prstGeom prst="rect">
            <a:avLst/>
          </a:prstGeom>
        </p:spPr>
        <p:txBody>
          <a:bodyPr anchor="t" rtlCol="false" tIns="0" lIns="0" bIns="0" rIns="0">
            <a:spAutoFit/>
          </a:bodyPr>
          <a:lstStyle/>
          <a:p>
            <a:pPr algn="l">
              <a:lnSpc>
                <a:spcPts val="4125"/>
              </a:lnSpc>
            </a:pPr>
            <a:r>
              <a:rPr lang="en-US" sz="3312">
                <a:solidFill>
                  <a:srgbClr val="FFFFFF"/>
                </a:solidFill>
                <a:latin typeface="Arimo"/>
                <a:ea typeface="Arimo"/>
                <a:cs typeface="Arimo"/>
                <a:sym typeface="Arimo"/>
              </a:rPr>
              <a:t>You're watching IPL, and the score updates faster on Cricbuzz than on TV. What's Kafka's role?</a:t>
            </a:r>
          </a:p>
        </p:txBody>
      </p:sp>
      <p:sp>
        <p:nvSpPr>
          <p:cNvPr name="TextBox 10" id="10"/>
          <p:cNvSpPr txBox="true"/>
          <p:nvPr/>
        </p:nvSpPr>
        <p:spPr>
          <a:xfrm rot="0">
            <a:off x="1047155" y="5000327"/>
            <a:ext cx="3520231" cy="478036"/>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Option A</a:t>
            </a:r>
          </a:p>
        </p:txBody>
      </p:sp>
      <p:sp>
        <p:nvSpPr>
          <p:cNvPr name="TextBox 11" id="11"/>
          <p:cNvSpPr txBox="true"/>
          <p:nvPr/>
        </p:nvSpPr>
        <p:spPr>
          <a:xfrm rot="0">
            <a:off x="1047155" y="5562600"/>
            <a:ext cx="3767881" cy="2489150"/>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Kafka is the commentator's pet parrot that memorises scores and tweets them out before the TV broadcast catches up</a:t>
            </a:r>
          </a:p>
        </p:txBody>
      </p:sp>
      <p:sp>
        <p:nvSpPr>
          <p:cNvPr name="TextBox 12" id="12"/>
          <p:cNvSpPr txBox="true"/>
          <p:nvPr/>
        </p:nvSpPr>
        <p:spPr>
          <a:xfrm rot="0">
            <a:off x="5189041" y="5000327"/>
            <a:ext cx="3520231" cy="478036"/>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Option B</a:t>
            </a:r>
          </a:p>
        </p:txBody>
      </p:sp>
      <p:sp>
        <p:nvSpPr>
          <p:cNvPr name="TextBox 13" id="13"/>
          <p:cNvSpPr txBox="true"/>
          <p:nvPr/>
        </p:nvSpPr>
        <p:spPr>
          <a:xfrm rot="0">
            <a:off x="5189041" y="5562600"/>
            <a:ext cx="3767881" cy="2489150"/>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Streaming live events from the stadium in milliseconds—every run, wicket, and boundary delivered to your phone before your TV buffers</a:t>
            </a:r>
          </a:p>
        </p:txBody>
      </p:sp>
      <p:sp>
        <p:nvSpPr>
          <p:cNvPr name="TextBox 14" id="14"/>
          <p:cNvSpPr txBox="true"/>
          <p:nvPr/>
        </p:nvSpPr>
        <p:spPr>
          <a:xfrm rot="0">
            <a:off x="9330929" y="5000327"/>
            <a:ext cx="3520231" cy="478036"/>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Option C</a:t>
            </a:r>
          </a:p>
        </p:txBody>
      </p:sp>
      <p:sp>
        <p:nvSpPr>
          <p:cNvPr name="TextBox 15" id="15"/>
          <p:cNvSpPr txBox="true"/>
          <p:nvPr/>
        </p:nvSpPr>
        <p:spPr>
          <a:xfrm rot="0">
            <a:off x="9330929" y="5562600"/>
            <a:ext cx="3767881" cy="2489150"/>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A time machine that shows you future scores, which is why your neighbour's cheering spoils the match for you watching on TV</a:t>
            </a:r>
          </a:p>
        </p:txBody>
      </p:sp>
      <p:sp>
        <p:nvSpPr>
          <p:cNvPr name="TextBox 16" id="16"/>
          <p:cNvSpPr txBox="true"/>
          <p:nvPr/>
        </p:nvSpPr>
        <p:spPr>
          <a:xfrm rot="0">
            <a:off x="13472815" y="5000327"/>
            <a:ext cx="3520231" cy="478036"/>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Option D</a:t>
            </a:r>
          </a:p>
        </p:txBody>
      </p:sp>
      <p:sp>
        <p:nvSpPr>
          <p:cNvPr name="TextBox 17" id="17"/>
          <p:cNvSpPr txBox="true"/>
          <p:nvPr/>
        </p:nvSpPr>
        <p:spPr>
          <a:xfrm rot="0">
            <a:off x="13472815" y="5562600"/>
            <a:ext cx="3768030" cy="2010370"/>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A group of data entry interns manually typing scores really, really fast while surviving on samosas and energy drinks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sp>
        <p:nvSpPr>
          <p:cNvPr name="TextBox 8" id="8"/>
          <p:cNvSpPr txBox="true"/>
          <p:nvPr/>
        </p:nvSpPr>
        <p:spPr>
          <a:xfrm rot="0">
            <a:off x="928092" y="891182"/>
            <a:ext cx="12350503" cy="827634"/>
          </a:xfrm>
          <a:prstGeom prst="rect">
            <a:avLst/>
          </a:prstGeom>
        </p:spPr>
        <p:txBody>
          <a:bodyPr anchor="t" rtlCol="false" tIns="0" lIns="0" bIns="0" rIns="0">
            <a:spAutoFit/>
          </a:bodyPr>
          <a:lstStyle/>
          <a:p>
            <a:pPr algn="l">
              <a:lnSpc>
                <a:spcPts val="6125"/>
              </a:lnSpc>
            </a:pPr>
            <a:r>
              <a:rPr lang="en-US" sz="4875">
                <a:solidFill>
                  <a:srgbClr val="FFFFFF"/>
                </a:solidFill>
                <a:latin typeface="Arimo"/>
                <a:ea typeface="Arimo"/>
                <a:cs typeface="Arimo"/>
                <a:sym typeface="Arimo"/>
              </a:rPr>
              <a:t>Round 8: API vs Kafka Integration</a:t>
            </a:r>
          </a:p>
        </p:txBody>
      </p:sp>
      <p:sp>
        <p:nvSpPr>
          <p:cNvPr name="TextBox 9" id="9"/>
          <p:cNvSpPr txBox="true"/>
          <p:nvPr/>
        </p:nvSpPr>
        <p:spPr>
          <a:xfrm rot="0">
            <a:off x="928092" y="1796206"/>
            <a:ext cx="16431816" cy="964704"/>
          </a:xfrm>
          <a:prstGeom prst="rect">
            <a:avLst/>
          </a:prstGeom>
        </p:spPr>
        <p:txBody>
          <a:bodyPr anchor="t" rtlCol="false" tIns="0" lIns="0" bIns="0" rIns="0">
            <a:spAutoFit/>
          </a:bodyPr>
          <a:lstStyle/>
          <a:p>
            <a:pPr algn="l">
              <a:lnSpc>
                <a:spcPts val="3625"/>
              </a:lnSpc>
            </a:pPr>
            <a:r>
              <a:rPr lang="en-US" sz="2937">
                <a:solidFill>
                  <a:srgbClr val="FFFFFF"/>
                </a:solidFill>
                <a:latin typeface="Arimo"/>
                <a:ea typeface="Arimo"/>
                <a:cs typeface="Arimo"/>
                <a:sym typeface="Arimo"/>
              </a:rPr>
              <a:t>You placed an order on Flipkart during Big Billion Days sale. How do API and Kafka work together in this chaos?</a:t>
            </a:r>
          </a:p>
        </p:txBody>
      </p:sp>
      <p:grpSp>
        <p:nvGrpSpPr>
          <p:cNvPr name="Group 10" id="10"/>
          <p:cNvGrpSpPr/>
          <p:nvPr/>
        </p:nvGrpSpPr>
        <p:grpSpPr>
          <a:xfrm rot="0">
            <a:off x="928092" y="6041231"/>
            <a:ext cx="16431816" cy="28575"/>
            <a:chOff x="0" y="0"/>
            <a:chExt cx="21909088" cy="38100"/>
          </a:xfrm>
        </p:grpSpPr>
        <p:sp>
          <p:nvSpPr>
            <p:cNvPr name="Freeform 11" id="11"/>
            <p:cNvSpPr/>
            <p:nvPr/>
          </p:nvSpPr>
          <p:spPr>
            <a:xfrm flipH="false" flipV="false" rot="0">
              <a:off x="0" y="0"/>
              <a:ext cx="21909151" cy="38100"/>
            </a:xfrm>
            <a:custGeom>
              <a:avLst/>
              <a:gdLst/>
              <a:ahLst/>
              <a:cxnLst/>
              <a:rect r="r" b="b" t="t" l="l"/>
              <a:pathLst>
                <a:path h="38100" w="21909151">
                  <a:moveTo>
                    <a:pt x="0" y="19050"/>
                  </a:moveTo>
                  <a:cubicBezTo>
                    <a:pt x="0" y="8509"/>
                    <a:pt x="8509" y="0"/>
                    <a:pt x="19050" y="0"/>
                  </a:cubicBezTo>
                  <a:lnTo>
                    <a:pt x="21890101" y="0"/>
                  </a:lnTo>
                  <a:cubicBezTo>
                    <a:pt x="21900642" y="0"/>
                    <a:pt x="21909151" y="8509"/>
                    <a:pt x="21909151" y="19050"/>
                  </a:cubicBezTo>
                  <a:cubicBezTo>
                    <a:pt x="21909151" y="29591"/>
                    <a:pt x="21900642" y="38100"/>
                    <a:pt x="21890101" y="38100"/>
                  </a:cubicBezTo>
                  <a:lnTo>
                    <a:pt x="19050" y="38100"/>
                  </a:lnTo>
                  <a:cubicBezTo>
                    <a:pt x="8509" y="38100"/>
                    <a:pt x="0" y="29591"/>
                    <a:pt x="0" y="19050"/>
                  </a:cubicBezTo>
                  <a:close/>
                </a:path>
              </a:pathLst>
            </a:custGeom>
            <a:solidFill>
              <a:srgbClr val="49606E"/>
            </a:solidFill>
          </p:spPr>
        </p:sp>
      </p:grpSp>
      <p:grpSp>
        <p:nvGrpSpPr>
          <p:cNvPr name="Group 12" id="12"/>
          <p:cNvGrpSpPr/>
          <p:nvPr/>
        </p:nvGrpSpPr>
        <p:grpSpPr>
          <a:xfrm rot="0">
            <a:off x="4100512" y="5245819"/>
            <a:ext cx="28575" cy="795486"/>
            <a:chOff x="0" y="0"/>
            <a:chExt cx="38100" cy="1060648"/>
          </a:xfrm>
        </p:grpSpPr>
        <p:sp>
          <p:nvSpPr>
            <p:cNvPr name="Freeform 13" id="13"/>
            <p:cNvSpPr/>
            <p:nvPr/>
          </p:nvSpPr>
          <p:spPr>
            <a:xfrm flipH="false" flipV="false" rot="0">
              <a:off x="0" y="0"/>
              <a:ext cx="38100" cy="1060704"/>
            </a:xfrm>
            <a:custGeom>
              <a:avLst/>
              <a:gdLst/>
              <a:ahLst/>
              <a:cxnLst/>
              <a:rect r="r" b="b" t="t" l="l"/>
              <a:pathLst>
                <a:path h="1060704" w="38100">
                  <a:moveTo>
                    <a:pt x="0" y="19050"/>
                  </a:moveTo>
                  <a:cubicBezTo>
                    <a:pt x="0" y="8509"/>
                    <a:pt x="8509" y="0"/>
                    <a:pt x="19050" y="0"/>
                  </a:cubicBezTo>
                  <a:cubicBezTo>
                    <a:pt x="29591" y="0"/>
                    <a:pt x="38100" y="8509"/>
                    <a:pt x="38100" y="19050"/>
                  </a:cubicBezTo>
                  <a:lnTo>
                    <a:pt x="38100" y="1041654"/>
                  </a:lnTo>
                  <a:cubicBezTo>
                    <a:pt x="38100" y="1052195"/>
                    <a:pt x="29591" y="1060704"/>
                    <a:pt x="19050" y="1060704"/>
                  </a:cubicBezTo>
                  <a:cubicBezTo>
                    <a:pt x="8509" y="1060704"/>
                    <a:pt x="0" y="1052068"/>
                    <a:pt x="0" y="1041654"/>
                  </a:cubicBezTo>
                  <a:close/>
                </a:path>
              </a:pathLst>
            </a:custGeom>
            <a:solidFill>
              <a:srgbClr val="49606E"/>
            </a:solidFill>
          </p:spPr>
        </p:sp>
      </p:grpSp>
      <p:grpSp>
        <p:nvGrpSpPr>
          <p:cNvPr name="Group 14" id="14"/>
          <p:cNvGrpSpPr/>
          <p:nvPr/>
        </p:nvGrpSpPr>
        <p:grpSpPr>
          <a:xfrm rot="0">
            <a:off x="3816549" y="5742905"/>
            <a:ext cx="596653" cy="596653"/>
            <a:chOff x="0" y="0"/>
            <a:chExt cx="795537" cy="795537"/>
          </a:xfrm>
        </p:grpSpPr>
        <p:sp>
          <p:nvSpPr>
            <p:cNvPr name="Freeform 15" id="15"/>
            <p:cNvSpPr/>
            <p:nvPr/>
          </p:nvSpPr>
          <p:spPr>
            <a:xfrm flipH="false" flipV="false" rot="0">
              <a:off x="0" y="0"/>
              <a:ext cx="795528" cy="795528"/>
            </a:xfrm>
            <a:custGeom>
              <a:avLst/>
              <a:gdLst/>
              <a:ahLst/>
              <a:cxnLst/>
              <a:rect r="r" b="b" t="t" l="l"/>
              <a:pathLst>
                <a:path h="795528" w="795528">
                  <a:moveTo>
                    <a:pt x="0" y="53086"/>
                  </a:moveTo>
                  <a:cubicBezTo>
                    <a:pt x="0" y="23749"/>
                    <a:pt x="23749" y="0"/>
                    <a:pt x="53086" y="0"/>
                  </a:cubicBezTo>
                  <a:lnTo>
                    <a:pt x="742442" y="0"/>
                  </a:lnTo>
                  <a:cubicBezTo>
                    <a:pt x="771779" y="0"/>
                    <a:pt x="795528" y="23749"/>
                    <a:pt x="795528" y="53086"/>
                  </a:cubicBezTo>
                  <a:lnTo>
                    <a:pt x="795528" y="742442"/>
                  </a:lnTo>
                  <a:cubicBezTo>
                    <a:pt x="795528" y="771779"/>
                    <a:pt x="771779" y="795528"/>
                    <a:pt x="742442" y="795528"/>
                  </a:cubicBezTo>
                  <a:lnTo>
                    <a:pt x="53086" y="795528"/>
                  </a:lnTo>
                  <a:cubicBezTo>
                    <a:pt x="23749" y="795528"/>
                    <a:pt x="0" y="771779"/>
                    <a:pt x="0" y="742442"/>
                  </a:cubicBezTo>
                  <a:close/>
                </a:path>
              </a:pathLst>
            </a:custGeom>
            <a:solidFill>
              <a:srgbClr val="304755"/>
            </a:solidFill>
          </p:spPr>
        </p:sp>
      </p:grpSp>
      <p:sp>
        <p:nvSpPr>
          <p:cNvPr name="TextBox 16" id="16"/>
          <p:cNvSpPr txBox="true"/>
          <p:nvPr/>
        </p:nvSpPr>
        <p:spPr>
          <a:xfrm rot="0">
            <a:off x="3927649" y="5845299"/>
            <a:ext cx="374302" cy="429816"/>
          </a:xfrm>
          <a:prstGeom prst="rect">
            <a:avLst/>
          </a:prstGeom>
        </p:spPr>
        <p:txBody>
          <a:bodyPr anchor="t" rtlCol="false" tIns="0" lIns="0" bIns="0" rIns="0">
            <a:spAutoFit/>
          </a:bodyPr>
          <a:lstStyle/>
          <a:p>
            <a:pPr algn="ctr">
              <a:lnSpc>
                <a:spcPts val="2937"/>
              </a:lnSpc>
            </a:pPr>
            <a:r>
              <a:rPr lang="en-US" sz="2937">
                <a:solidFill>
                  <a:srgbClr val="CAD6DE"/>
                </a:solidFill>
                <a:latin typeface="Arimo"/>
                <a:ea typeface="Arimo"/>
                <a:cs typeface="Arimo"/>
                <a:sym typeface="Arimo"/>
              </a:rPr>
              <a:t>1</a:t>
            </a:r>
          </a:p>
        </p:txBody>
      </p:sp>
      <p:sp>
        <p:nvSpPr>
          <p:cNvPr name="TextBox 17" id="17"/>
          <p:cNvSpPr txBox="true"/>
          <p:nvPr/>
        </p:nvSpPr>
        <p:spPr>
          <a:xfrm rot="0">
            <a:off x="2555081" y="3139529"/>
            <a:ext cx="3119735" cy="408980"/>
          </a:xfrm>
          <a:prstGeom prst="rect">
            <a:avLst/>
          </a:prstGeom>
        </p:spPr>
        <p:txBody>
          <a:bodyPr anchor="t" rtlCol="false" tIns="0" lIns="0" bIns="0" rIns="0">
            <a:spAutoFit/>
          </a:bodyPr>
          <a:lstStyle/>
          <a:p>
            <a:pPr algn="ctr">
              <a:lnSpc>
                <a:spcPts val="3062"/>
              </a:lnSpc>
            </a:pPr>
            <a:r>
              <a:rPr lang="en-US" sz="2437">
                <a:solidFill>
                  <a:srgbClr val="CAD6DE"/>
                </a:solidFill>
                <a:latin typeface="Arimo"/>
                <a:ea typeface="Arimo"/>
                <a:cs typeface="Arimo"/>
                <a:sym typeface="Arimo"/>
              </a:rPr>
              <a:t>Option A</a:t>
            </a:r>
          </a:p>
        </p:txBody>
      </p:sp>
      <p:sp>
        <p:nvSpPr>
          <p:cNvPr name="TextBox 18" id="18"/>
          <p:cNvSpPr txBox="true"/>
          <p:nvPr/>
        </p:nvSpPr>
        <p:spPr>
          <a:xfrm rot="0">
            <a:off x="1193155" y="3621881"/>
            <a:ext cx="5843736" cy="1358653"/>
          </a:xfrm>
          <a:prstGeom prst="rect">
            <a:avLst/>
          </a:prstGeom>
        </p:spPr>
        <p:txBody>
          <a:bodyPr anchor="t" rtlCol="false" tIns="0" lIns="0" bIns="0" rIns="0">
            <a:spAutoFit/>
          </a:bodyPr>
          <a:lstStyle/>
          <a:p>
            <a:pPr algn="ctr">
              <a:lnSpc>
                <a:spcPts val="3312"/>
              </a:lnSpc>
            </a:pPr>
            <a:r>
              <a:rPr lang="en-US" sz="2062">
                <a:solidFill>
                  <a:srgbClr val="CAD6DE"/>
                </a:solidFill>
                <a:latin typeface="Cabin"/>
                <a:ea typeface="Cabin"/>
                <a:cs typeface="Cabin"/>
                <a:sym typeface="Cabin"/>
              </a:rPr>
              <a:t>API takes your order while crying, Kafka streams "out of stock" messages, and both blame each other for the disaster in morning standup meetings</a:t>
            </a:r>
          </a:p>
        </p:txBody>
      </p:sp>
      <p:grpSp>
        <p:nvGrpSpPr>
          <p:cNvPr name="Group 19" id="19"/>
          <p:cNvGrpSpPr/>
          <p:nvPr/>
        </p:nvGrpSpPr>
        <p:grpSpPr>
          <a:xfrm rot="0">
            <a:off x="7453164" y="6041156"/>
            <a:ext cx="28575" cy="795486"/>
            <a:chOff x="0" y="0"/>
            <a:chExt cx="38100" cy="1060648"/>
          </a:xfrm>
        </p:grpSpPr>
        <p:sp>
          <p:nvSpPr>
            <p:cNvPr name="Freeform 20" id="20"/>
            <p:cNvSpPr/>
            <p:nvPr/>
          </p:nvSpPr>
          <p:spPr>
            <a:xfrm flipH="false" flipV="false" rot="0">
              <a:off x="0" y="0"/>
              <a:ext cx="38100" cy="1060704"/>
            </a:xfrm>
            <a:custGeom>
              <a:avLst/>
              <a:gdLst/>
              <a:ahLst/>
              <a:cxnLst/>
              <a:rect r="r" b="b" t="t" l="l"/>
              <a:pathLst>
                <a:path h="1060704" w="38100">
                  <a:moveTo>
                    <a:pt x="0" y="19050"/>
                  </a:moveTo>
                  <a:cubicBezTo>
                    <a:pt x="0" y="8509"/>
                    <a:pt x="8509" y="0"/>
                    <a:pt x="19050" y="0"/>
                  </a:cubicBezTo>
                  <a:cubicBezTo>
                    <a:pt x="29591" y="0"/>
                    <a:pt x="38100" y="8509"/>
                    <a:pt x="38100" y="19050"/>
                  </a:cubicBezTo>
                  <a:lnTo>
                    <a:pt x="38100" y="1041654"/>
                  </a:lnTo>
                  <a:cubicBezTo>
                    <a:pt x="38100" y="1052195"/>
                    <a:pt x="29591" y="1060704"/>
                    <a:pt x="19050" y="1060704"/>
                  </a:cubicBezTo>
                  <a:cubicBezTo>
                    <a:pt x="8509" y="1060704"/>
                    <a:pt x="0" y="1052068"/>
                    <a:pt x="0" y="1041654"/>
                  </a:cubicBezTo>
                  <a:close/>
                </a:path>
              </a:pathLst>
            </a:custGeom>
            <a:solidFill>
              <a:srgbClr val="49606E"/>
            </a:solidFill>
          </p:spPr>
        </p:sp>
      </p:grpSp>
      <p:grpSp>
        <p:nvGrpSpPr>
          <p:cNvPr name="Group 21" id="21"/>
          <p:cNvGrpSpPr/>
          <p:nvPr/>
        </p:nvGrpSpPr>
        <p:grpSpPr>
          <a:xfrm rot="0">
            <a:off x="7169200" y="5742905"/>
            <a:ext cx="596653" cy="596653"/>
            <a:chOff x="0" y="0"/>
            <a:chExt cx="795537" cy="795537"/>
          </a:xfrm>
        </p:grpSpPr>
        <p:sp>
          <p:nvSpPr>
            <p:cNvPr name="Freeform 22" id="22"/>
            <p:cNvSpPr/>
            <p:nvPr/>
          </p:nvSpPr>
          <p:spPr>
            <a:xfrm flipH="false" flipV="false" rot="0">
              <a:off x="0" y="0"/>
              <a:ext cx="795528" cy="795528"/>
            </a:xfrm>
            <a:custGeom>
              <a:avLst/>
              <a:gdLst/>
              <a:ahLst/>
              <a:cxnLst/>
              <a:rect r="r" b="b" t="t" l="l"/>
              <a:pathLst>
                <a:path h="795528" w="795528">
                  <a:moveTo>
                    <a:pt x="0" y="53086"/>
                  </a:moveTo>
                  <a:cubicBezTo>
                    <a:pt x="0" y="23749"/>
                    <a:pt x="23749" y="0"/>
                    <a:pt x="53086" y="0"/>
                  </a:cubicBezTo>
                  <a:lnTo>
                    <a:pt x="742442" y="0"/>
                  </a:lnTo>
                  <a:cubicBezTo>
                    <a:pt x="771779" y="0"/>
                    <a:pt x="795528" y="23749"/>
                    <a:pt x="795528" y="53086"/>
                  </a:cubicBezTo>
                  <a:lnTo>
                    <a:pt x="795528" y="742442"/>
                  </a:lnTo>
                  <a:cubicBezTo>
                    <a:pt x="795528" y="771779"/>
                    <a:pt x="771779" y="795528"/>
                    <a:pt x="742442" y="795528"/>
                  </a:cubicBezTo>
                  <a:lnTo>
                    <a:pt x="53086" y="795528"/>
                  </a:lnTo>
                  <a:cubicBezTo>
                    <a:pt x="23749" y="795528"/>
                    <a:pt x="0" y="771779"/>
                    <a:pt x="0" y="742442"/>
                  </a:cubicBezTo>
                  <a:close/>
                </a:path>
              </a:pathLst>
            </a:custGeom>
            <a:solidFill>
              <a:srgbClr val="304755"/>
            </a:solidFill>
          </p:spPr>
        </p:sp>
      </p:grpSp>
      <p:sp>
        <p:nvSpPr>
          <p:cNvPr name="TextBox 23" id="23"/>
          <p:cNvSpPr txBox="true"/>
          <p:nvPr/>
        </p:nvSpPr>
        <p:spPr>
          <a:xfrm rot="0">
            <a:off x="7280300" y="5845299"/>
            <a:ext cx="374302" cy="429816"/>
          </a:xfrm>
          <a:prstGeom prst="rect">
            <a:avLst/>
          </a:prstGeom>
        </p:spPr>
        <p:txBody>
          <a:bodyPr anchor="t" rtlCol="false" tIns="0" lIns="0" bIns="0" rIns="0">
            <a:spAutoFit/>
          </a:bodyPr>
          <a:lstStyle/>
          <a:p>
            <a:pPr algn="ctr">
              <a:lnSpc>
                <a:spcPts val="2937"/>
              </a:lnSpc>
            </a:pPr>
            <a:r>
              <a:rPr lang="en-US" sz="2937">
                <a:solidFill>
                  <a:srgbClr val="CAD6DE"/>
                </a:solidFill>
                <a:latin typeface="Arimo"/>
                <a:ea typeface="Arimo"/>
                <a:cs typeface="Arimo"/>
                <a:sym typeface="Arimo"/>
              </a:rPr>
              <a:t>2</a:t>
            </a:r>
          </a:p>
        </p:txBody>
      </p:sp>
      <p:sp>
        <p:nvSpPr>
          <p:cNvPr name="TextBox 24" id="24"/>
          <p:cNvSpPr txBox="true"/>
          <p:nvPr/>
        </p:nvSpPr>
        <p:spPr>
          <a:xfrm rot="0">
            <a:off x="5907732" y="7082879"/>
            <a:ext cx="3119735" cy="408980"/>
          </a:xfrm>
          <a:prstGeom prst="rect">
            <a:avLst/>
          </a:prstGeom>
        </p:spPr>
        <p:txBody>
          <a:bodyPr anchor="t" rtlCol="false" tIns="0" lIns="0" bIns="0" rIns="0">
            <a:spAutoFit/>
          </a:bodyPr>
          <a:lstStyle/>
          <a:p>
            <a:pPr algn="ctr">
              <a:lnSpc>
                <a:spcPts val="3062"/>
              </a:lnSpc>
            </a:pPr>
            <a:r>
              <a:rPr lang="en-US" sz="2437">
                <a:solidFill>
                  <a:srgbClr val="CAD6DE"/>
                </a:solidFill>
                <a:latin typeface="Arimo"/>
                <a:ea typeface="Arimo"/>
                <a:cs typeface="Arimo"/>
                <a:sym typeface="Arimo"/>
              </a:rPr>
              <a:t>Option B</a:t>
            </a:r>
          </a:p>
        </p:txBody>
      </p:sp>
      <p:sp>
        <p:nvSpPr>
          <p:cNvPr name="TextBox 25" id="25"/>
          <p:cNvSpPr txBox="true"/>
          <p:nvPr/>
        </p:nvSpPr>
        <p:spPr>
          <a:xfrm rot="0">
            <a:off x="4545806" y="7565231"/>
            <a:ext cx="5843736" cy="1782961"/>
          </a:xfrm>
          <a:prstGeom prst="rect">
            <a:avLst/>
          </a:prstGeom>
        </p:spPr>
        <p:txBody>
          <a:bodyPr anchor="t" rtlCol="false" tIns="0" lIns="0" bIns="0" rIns="0">
            <a:spAutoFit/>
          </a:bodyPr>
          <a:lstStyle/>
          <a:p>
            <a:pPr algn="ctr">
              <a:lnSpc>
                <a:spcPts val="3312"/>
              </a:lnSpc>
            </a:pPr>
            <a:r>
              <a:rPr lang="en-US" sz="2062">
                <a:solidFill>
                  <a:srgbClr val="CAD6DE"/>
                </a:solidFill>
                <a:latin typeface="Cabin"/>
                <a:ea typeface="Cabin"/>
                <a:cs typeface="Cabin"/>
                <a:sym typeface="Cabin"/>
              </a:rPr>
              <a:t>API handles your checkout (payment, address), Kafka streams order status updates (packed, shipped, "delivery boy is lost") in real-time to your anxious refreshing</a:t>
            </a:r>
          </a:p>
        </p:txBody>
      </p:sp>
      <p:grpSp>
        <p:nvGrpSpPr>
          <p:cNvPr name="Group 26" id="26"/>
          <p:cNvGrpSpPr/>
          <p:nvPr/>
        </p:nvGrpSpPr>
        <p:grpSpPr>
          <a:xfrm rot="0">
            <a:off x="10805815" y="5245819"/>
            <a:ext cx="28575" cy="795486"/>
            <a:chOff x="0" y="0"/>
            <a:chExt cx="38100" cy="1060648"/>
          </a:xfrm>
        </p:grpSpPr>
        <p:sp>
          <p:nvSpPr>
            <p:cNvPr name="Freeform 27" id="27"/>
            <p:cNvSpPr/>
            <p:nvPr/>
          </p:nvSpPr>
          <p:spPr>
            <a:xfrm flipH="false" flipV="false" rot="0">
              <a:off x="0" y="0"/>
              <a:ext cx="38100" cy="1060704"/>
            </a:xfrm>
            <a:custGeom>
              <a:avLst/>
              <a:gdLst/>
              <a:ahLst/>
              <a:cxnLst/>
              <a:rect r="r" b="b" t="t" l="l"/>
              <a:pathLst>
                <a:path h="1060704" w="38100">
                  <a:moveTo>
                    <a:pt x="0" y="19050"/>
                  </a:moveTo>
                  <a:cubicBezTo>
                    <a:pt x="0" y="8509"/>
                    <a:pt x="8509" y="0"/>
                    <a:pt x="19050" y="0"/>
                  </a:cubicBezTo>
                  <a:cubicBezTo>
                    <a:pt x="29591" y="0"/>
                    <a:pt x="38100" y="8509"/>
                    <a:pt x="38100" y="19050"/>
                  </a:cubicBezTo>
                  <a:lnTo>
                    <a:pt x="38100" y="1041654"/>
                  </a:lnTo>
                  <a:cubicBezTo>
                    <a:pt x="38100" y="1052195"/>
                    <a:pt x="29591" y="1060704"/>
                    <a:pt x="19050" y="1060704"/>
                  </a:cubicBezTo>
                  <a:cubicBezTo>
                    <a:pt x="8509" y="1060704"/>
                    <a:pt x="0" y="1052068"/>
                    <a:pt x="0" y="1041654"/>
                  </a:cubicBezTo>
                  <a:close/>
                </a:path>
              </a:pathLst>
            </a:custGeom>
            <a:solidFill>
              <a:srgbClr val="49606E"/>
            </a:solidFill>
          </p:spPr>
        </p:sp>
      </p:grpSp>
      <p:grpSp>
        <p:nvGrpSpPr>
          <p:cNvPr name="Group 28" id="28"/>
          <p:cNvGrpSpPr/>
          <p:nvPr/>
        </p:nvGrpSpPr>
        <p:grpSpPr>
          <a:xfrm rot="0">
            <a:off x="10521851" y="5742905"/>
            <a:ext cx="596653" cy="596653"/>
            <a:chOff x="0" y="0"/>
            <a:chExt cx="795537" cy="795537"/>
          </a:xfrm>
        </p:grpSpPr>
        <p:sp>
          <p:nvSpPr>
            <p:cNvPr name="Freeform 29" id="29"/>
            <p:cNvSpPr/>
            <p:nvPr/>
          </p:nvSpPr>
          <p:spPr>
            <a:xfrm flipH="false" flipV="false" rot="0">
              <a:off x="0" y="0"/>
              <a:ext cx="795528" cy="795528"/>
            </a:xfrm>
            <a:custGeom>
              <a:avLst/>
              <a:gdLst/>
              <a:ahLst/>
              <a:cxnLst/>
              <a:rect r="r" b="b" t="t" l="l"/>
              <a:pathLst>
                <a:path h="795528" w="795528">
                  <a:moveTo>
                    <a:pt x="0" y="53086"/>
                  </a:moveTo>
                  <a:cubicBezTo>
                    <a:pt x="0" y="23749"/>
                    <a:pt x="23749" y="0"/>
                    <a:pt x="53086" y="0"/>
                  </a:cubicBezTo>
                  <a:lnTo>
                    <a:pt x="742442" y="0"/>
                  </a:lnTo>
                  <a:cubicBezTo>
                    <a:pt x="771779" y="0"/>
                    <a:pt x="795528" y="23749"/>
                    <a:pt x="795528" y="53086"/>
                  </a:cubicBezTo>
                  <a:lnTo>
                    <a:pt x="795528" y="742442"/>
                  </a:lnTo>
                  <a:cubicBezTo>
                    <a:pt x="795528" y="771779"/>
                    <a:pt x="771779" y="795528"/>
                    <a:pt x="742442" y="795528"/>
                  </a:cubicBezTo>
                  <a:lnTo>
                    <a:pt x="53086" y="795528"/>
                  </a:lnTo>
                  <a:cubicBezTo>
                    <a:pt x="23749" y="795528"/>
                    <a:pt x="0" y="771779"/>
                    <a:pt x="0" y="742442"/>
                  </a:cubicBezTo>
                  <a:close/>
                </a:path>
              </a:pathLst>
            </a:custGeom>
            <a:solidFill>
              <a:srgbClr val="304755"/>
            </a:solidFill>
          </p:spPr>
        </p:sp>
      </p:grpSp>
      <p:sp>
        <p:nvSpPr>
          <p:cNvPr name="TextBox 30" id="30"/>
          <p:cNvSpPr txBox="true"/>
          <p:nvPr/>
        </p:nvSpPr>
        <p:spPr>
          <a:xfrm rot="0">
            <a:off x="10632951" y="5845299"/>
            <a:ext cx="374303" cy="429816"/>
          </a:xfrm>
          <a:prstGeom prst="rect">
            <a:avLst/>
          </a:prstGeom>
        </p:spPr>
        <p:txBody>
          <a:bodyPr anchor="t" rtlCol="false" tIns="0" lIns="0" bIns="0" rIns="0">
            <a:spAutoFit/>
          </a:bodyPr>
          <a:lstStyle/>
          <a:p>
            <a:pPr algn="ctr">
              <a:lnSpc>
                <a:spcPts val="2937"/>
              </a:lnSpc>
            </a:pPr>
            <a:r>
              <a:rPr lang="en-US" sz="2937">
                <a:solidFill>
                  <a:srgbClr val="CAD6DE"/>
                </a:solidFill>
                <a:latin typeface="Arimo"/>
                <a:ea typeface="Arimo"/>
                <a:cs typeface="Arimo"/>
                <a:sym typeface="Arimo"/>
              </a:rPr>
              <a:t>3</a:t>
            </a:r>
          </a:p>
        </p:txBody>
      </p:sp>
      <p:sp>
        <p:nvSpPr>
          <p:cNvPr name="TextBox 31" id="31"/>
          <p:cNvSpPr txBox="true"/>
          <p:nvPr/>
        </p:nvSpPr>
        <p:spPr>
          <a:xfrm rot="0">
            <a:off x="9260384" y="3139529"/>
            <a:ext cx="3119735" cy="408980"/>
          </a:xfrm>
          <a:prstGeom prst="rect">
            <a:avLst/>
          </a:prstGeom>
        </p:spPr>
        <p:txBody>
          <a:bodyPr anchor="t" rtlCol="false" tIns="0" lIns="0" bIns="0" rIns="0">
            <a:spAutoFit/>
          </a:bodyPr>
          <a:lstStyle/>
          <a:p>
            <a:pPr algn="ctr">
              <a:lnSpc>
                <a:spcPts val="3062"/>
              </a:lnSpc>
            </a:pPr>
            <a:r>
              <a:rPr lang="en-US" sz="2437">
                <a:solidFill>
                  <a:srgbClr val="CAD6DE"/>
                </a:solidFill>
                <a:latin typeface="Arimo"/>
                <a:ea typeface="Arimo"/>
                <a:cs typeface="Arimo"/>
                <a:sym typeface="Arimo"/>
              </a:rPr>
              <a:t>Option C</a:t>
            </a:r>
          </a:p>
        </p:txBody>
      </p:sp>
      <p:sp>
        <p:nvSpPr>
          <p:cNvPr name="TextBox 32" id="32"/>
          <p:cNvSpPr txBox="true"/>
          <p:nvPr/>
        </p:nvSpPr>
        <p:spPr>
          <a:xfrm rot="0">
            <a:off x="7898458" y="3621881"/>
            <a:ext cx="5843736" cy="1358653"/>
          </a:xfrm>
          <a:prstGeom prst="rect">
            <a:avLst/>
          </a:prstGeom>
        </p:spPr>
        <p:txBody>
          <a:bodyPr anchor="t" rtlCol="false" tIns="0" lIns="0" bIns="0" rIns="0">
            <a:spAutoFit/>
          </a:bodyPr>
          <a:lstStyle/>
          <a:p>
            <a:pPr algn="ctr">
              <a:lnSpc>
                <a:spcPts val="3312"/>
              </a:lnSpc>
            </a:pPr>
            <a:r>
              <a:rPr lang="en-US" sz="2062">
                <a:solidFill>
                  <a:srgbClr val="CAD6DE"/>
                </a:solidFill>
                <a:latin typeface="Cabin"/>
                <a:ea typeface="Cabin"/>
                <a:cs typeface="Cabin"/>
                <a:sym typeface="Cabin"/>
              </a:rPr>
              <a:t>API and Kafka are actually the same thing—just marketing jargon to confuse freshers in job interviews and make senior developers feel smart</a:t>
            </a:r>
          </a:p>
        </p:txBody>
      </p:sp>
      <p:grpSp>
        <p:nvGrpSpPr>
          <p:cNvPr name="Group 33" id="33"/>
          <p:cNvGrpSpPr/>
          <p:nvPr/>
        </p:nvGrpSpPr>
        <p:grpSpPr>
          <a:xfrm rot="0">
            <a:off x="14158466" y="6041156"/>
            <a:ext cx="28575" cy="795486"/>
            <a:chOff x="0" y="0"/>
            <a:chExt cx="38100" cy="1060648"/>
          </a:xfrm>
        </p:grpSpPr>
        <p:sp>
          <p:nvSpPr>
            <p:cNvPr name="Freeform 34" id="34"/>
            <p:cNvSpPr/>
            <p:nvPr/>
          </p:nvSpPr>
          <p:spPr>
            <a:xfrm flipH="false" flipV="false" rot="0">
              <a:off x="0" y="0"/>
              <a:ext cx="38100" cy="1060704"/>
            </a:xfrm>
            <a:custGeom>
              <a:avLst/>
              <a:gdLst/>
              <a:ahLst/>
              <a:cxnLst/>
              <a:rect r="r" b="b" t="t" l="l"/>
              <a:pathLst>
                <a:path h="1060704" w="38100">
                  <a:moveTo>
                    <a:pt x="0" y="19050"/>
                  </a:moveTo>
                  <a:cubicBezTo>
                    <a:pt x="0" y="8509"/>
                    <a:pt x="8509" y="0"/>
                    <a:pt x="19050" y="0"/>
                  </a:cubicBezTo>
                  <a:cubicBezTo>
                    <a:pt x="29591" y="0"/>
                    <a:pt x="38100" y="8509"/>
                    <a:pt x="38100" y="19050"/>
                  </a:cubicBezTo>
                  <a:lnTo>
                    <a:pt x="38100" y="1041654"/>
                  </a:lnTo>
                  <a:cubicBezTo>
                    <a:pt x="38100" y="1052195"/>
                    <a:pt x="29591" y="1060704"/>
                    <a:pt x="19050" y="1060704"/>
                  </a:cubicBezTo>
                  <a:cubicBezTo>
                    <a:pt x="8509" y="1060704"/>
                    <a:pt x="0" y="1052068"/>
                    <a:pt x="0" y="1041654"/>
                  </a:cubicBezTo>
                  <a:close/>
                </a:path>
              </a:pathLst>
            </a:custGeom>
            <a:solidFill>
              <a:srgbClr val="49606E"/>
            </a:solidFill>
          </p:spPr>
        </p:sp>
      </p:grpSp>
      <p:grpSp>
        <p:nvGrpSpPr>
          <p:cNvPr name="Group 35" id="35"/>
          <p:cNvGrpSpPr/>
          <p:nvPr/>
        </p:nvGrpSpPr>
        <p:grpSpPr>
          <a:xfrm rot="0">
            <a:off x="13874502" y="5742905"/>
            <a:ext cx="596653" cy="596653"/>
            <a:chOff x="0" y="0"/>
            <a:chExt cx="795537" cy="795537"/>
          </a:xfrm>
        </p:grpSpPr>
        <p:sp>
          <p:nvSpPr>
            <p:cNvPr name="Freeform 36" id="36"/>
            <p:cNvSpPr/>
            <p:nvPr/>
          </p:nvSpPr>
          <p:spPr>
            <a:xfrm flipH="false" flipV="false" rot="0">
              <a:off x="0" y="0"/>
              <a:ext cx="795528" cy="795528"/>
            </a:xfrm>
            <a:custGeom>
              <a:avLst/>
              <a:gdLst/>
              <a:ahLst/>
              <a:cxnLst/>
              <a:rect r="r" b="b" t="t" l="l"/>
              <a:pathLst>
                <a:path h="795528" w="795528">
                  <a:moveTo>
                    <a:pt x="0" y="53086"/>
                  </a:moveTo>
                  <a:cubicBezTo>
                    <a:pt x="0" y="23749"/>
                    <a:pt x="23749" y="0"/>
                    <a:pt x="53086" y="0"/>
                  </a:cubicBezTo>
                  <a:lnTo>
                    <a:pt x="742442" y="0"/>
                  </a:lnTo>
                  <a:cubicBezTo>
                    <a:pt x="771779" y="0"/>
                    <a:pt x="795528" y="23749"/>
                    <a:pt x="795528" y="53086"/>
                  </a:cubicBezTo>
                  <a:lnTo>
                    <a:pt x="795528" y="742442"/>
                  </a:lnTo>
                  <a:cubicBezTo>
                    <a:pt x="795528" y="771779"/>
                    <a:pt x="771779" y="795528"/>
                    <a:pt x="742442" y="795528"/>
                  </a:cubicBezTo>
                  <a:lnTo>
                    <a:pt x="53086" y="795528"/>
                  </a:lnTo>
                  <a:cubicBezTo>
                    <a:pt x="23749" y="795528"/>
                    <a:pt x="0" y="771779"/>
                    <a:pt x="0" y="742442"/>
                  </a:cubicBezTo>
                  <a:close/>
                </a:path>
              </a:pathLst>
            </a:custGeom>
            <a:solidFill>
              <a:srgbClr val="304755"/>
            </a:solidFill>
          </p:spPr>
        </p:sp>
      </p:grpSp>
      <p:sp>
        <p:nvSpPr>
          <p:cNvPr name="TextBox 37" id="37"/>
          <p:cNvSpPr txBox="true"/>
          <p:nvPr/>
        </p:nvSpPr>
        <p:spPr>
          <a:xfrm rot="0">
            <a:off x="13985602" y="5845299"/>
            <a:ext cx="374303" cy="429816"/>
          </a:xfrm>
          <a:prstGeom prst="rect">
            <a:avLst/>
          </a:prstGeom>
        </p:spPr>
        <p:txBody>
          <a:bodyPr anchor="t" rtlCol="false" tIns="0" lIns="0" bIns="0" rIns="0">
            <a:spAutoFit/>
          </a:bodyPr>
          <a:lstStyle/>
          <a:p>
            <a:pPr algn="ctr">
              <a:lnSpc>
                <a:spcPts val="2937"/>
              </a:lnSpc>
            </a:pPr>
            <a:r>
              <a:rPr lang="en-US" sz="2937">
                <a:solidFill>
                  <a:srgbClr val="CAD6DE"/>
                </a:solidFill>
                <a:latin typeface="Arimo"/>
                <a:ea typeface="Arimo"/>
                <a:cs typeface="Arimo"/>
                <a:sym typeface="Arimo"/>
              </a:rPr>
              <a:t>4</a:t>
            </a:r>
          </a:p>
        </p:txBody>
      </p:sp>
      <p:sp>
        <p:nvSpPr>
          <p:cNvPr name="TextBox 38" id="38"/>
          <p:cNvSpPr txBox="true"/>
          <p:nvPr/>
        </p:nvSpPr>
        <p:spPr>
          <a:xfrm rot="0">
            <a:off x="12613035" y="7082879"/>
            <a:ext cx="3119735" cy="408980"/>
          </a:xfrm>
          <a:prstGeom prst="rect">
            <a:avLst/>
          </a:prstGeom>
        </p:spPr>
        <p:txBody>
          <a:bodyPr anchor="t" rtlCol="false" tIns="0" lIns="0" bIns="0" rIns="0">
            <a:spAutoFit/>
          </a:bodyPr>
          <a:lstStyle/>
          <a:p>
            <a:pPr algn="ctr">
              <a:lnSpc>
                <a:spcPts val="3062"/>
              </a:lnSpc>
            </a:pPr>
            <a:r>
              <a:rPr lang="en-US" sz="2437">
                <a:solidFill>
                  <a:srgbClr val="CAD6DE"/>
                </a:solidFill>
                <a:latin typeface="Arimo"/>
                <a:ea typeface="Arimo"/>
                <a:cs typeface="Arimo"/>
                <a:sym typeface="Arimo"/>
              </a:rPr>
              <a:t>Option D</a:t>
            </a:r>
          </a:p>
        </p:txBody>
      </p:sp>
      <p:sp>
        <p:nvSpPr>
          <p:cNvPr name="TextBox 39" id="39"/>
          <p:cNvSpPr txBox="true"/>
          <p:nvPr/>
        </p:nvSpPr>
        <p:spPr>
          <a:xfrm rot="0">
            <a:off x="11251109" y="7565231"/>
            <a:ext cx="5843736" cy="1358653"/>
          </a:xfrm>
          <a:prstGeom prst="rect">
            <a:avLst/>
          </a:prstGeom>
        </p:spPr>
        <p:txBody>
          <a:bodyPr anchor="t" rtlCol="false" tIns="0" lIns="0" bIns="0" rIns="0">
            <a:spAutoFit/>
          </a:bodyPr>
          <a:lstStyle/>
          <a:p>
            <a:pPr algn="ctr">
              <a:lnSpc>
                <a:spcPts val="3312"/>
              </a:lnSpc>
            </a:pPr>
            <a:r>
              <a:rPr lang="en-US" sz="2062">
                <a:solidFill>
                  <a:srgbClr val="CAD6DE"/>
                </a:solidFill>
                <a:latin typeface="Cabin"/>
                <a:ea typeface="Cabin"/>
                <a:cs typeface="Cabin"/>
                <a:sym typeface="Cabin"/>
              </a:rPr>
              <a:t>Kafka orders the product, API delivers it on a bike, and both take turns writing your 5-star review because you're too lazy to do it yourself</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sp>
        <p:nvSpPr>
          <p:cNvPr name="TextBox 8" id="8"/>
          <p:cNvSpPr txBox="true"/>
          <p:nvPr/>
        </p:nvSpPr>
        <p:spPr>
          <a:xfrm rot="0">
            <a:off x="523577" y="373261"/>
            <a:ext cx="4455616" cy="478036"/>
          </a:xfrm>
          <a:prstGeom prst="rect">
            <a:avLst/>
          </a:prstGeom>
        </p:spPr>
        <p:txBody>
          <a:bodyPr anchor="t" rtlCol="false" tIns="0" lIns="0" bIns="0" rIns="0">
            <a:spAutoFit/>
          </a:bodyPr>
          <a:lstStyle/>
          <a:p>
            <a:pPr algn="l">
              <a:lnSpc>
                <a:spcPts val="3437"/>
              </a:lnSpc>
            </a:pPr>
            <a:r>
              <a:rPr lang="en-US" sz="2750">
                <a:solidFill>
                  <a:srgbClr val="FFFFFF"/>
                </a:solidFill>
                <a:latin typeface="Arimo"/>
                <a:ea typeface="Arimo"/>
                <a:cs typeface="Arimo"/>
                <a:sym typeface="Arimo"/>
              </a:rPr>
              <a:t>Answer Key Revealed</a:t>
            </a:r>
          </a:p>
        </p:txBody>
      </p:sp>
      <p:grpSp>
        <p:nvGrpSpPr>
          <p:cNvPr name="Group 9" id="9"/>
          <p:cNvGrpSpPr/>
          <p:nvPr/>
        </p:nvGrpSpPr>
        <p:grpSpPr>
          <a:xfrm rot="0">
            <a:off x="523577" y="1150441"/>
            <a:ext cx="8545563" cy="1446460"/>
            <a:chOff x="0" y="0"/>
            <a:chExt cx="11394083" cy="1928613"/>
          </a:xfrm>
        </p:grpSpPr>
        <p:sp>
          <p:nvSpPr>
            <p:cNvPr name="Freeform 10" id="10"/>
            <p:cNvSpPr/>
            <p:nvPr/>
          </p:nvSpPr>
          <p:spPr>
            <a:xfrm flipH="false" flipV="false" rot="0">
              <a:off x="0" y="0"/>
              <a:ext cx="11394186" cy="1928622"/>
            </a:xfrm>
            <a:custGeom>
              <a:avLst/>
              <a:gdLst/>
              <a:ahLst/>
              <a:cxnLst/>
              <a:rect r="r" b="b" t="t" l="l"/>
              <a:pathLst>
                <a:path h="1928622" w="11394186">
                  <a:moveTo>
                    <a:pt x="0" y="29972"/>
                  </a:moveTo>
                  <a:cubicBezTo>
                    <a:pt x="0" y="13462"/>
                    <a:pt x="13462" y="0"/>
                    <a:pt x="29972" y="0"/>
                  </a:cubicBezTo>
                  <a:lnTo>
                    <a:pt x="11364214" y="0"/>
                  </a:lnTo>
                  <a:cubicBezTo>
                    <a:pt x="11380724" y="0"/>
                    <a:pt x="11394186" y="13462"/>
                    <a:pt x="11394186" y="29972"/>
                  </a:cubicBezTo>
                  <a:lnTo>
                    <a:pt x="11394186" y="1898650"/>
                  </a:lnTo>
                  <a:cubicBezTo>
                    <a:pt x="11394186" y="1915160"/>
                    <a:pt x="11380724" y="1928622"/>
                    <a:pt x="11364214" y="1928622"/>
                  </a:cubicBezTo>
                  <a:lnTo>
                    <a:pt x="29972" y="1928622"/>
                  </a:lnTo>
                  <a:cubicBezTo>
                    <a:pt x="13462" y="1928622"/>
                    <a:pt x="0" y="1915160"/>
                    <a:pt x="0" y="1898650"/>
                  </a:cubicBezTo>
                  <a:close/>
                </a:path>
              </a:pathLst>
            </a:custGeom>
            <a:solidFill>
              <a:srgbClr val="304755"/>
            </a:solidFill>
          </p:spPr>
        </p:sp>
      </p:grpSp>
      <p:grpSp>
        <p:nvGrpSpPr>
          <p:cNvPr name="Group 11" id="11"/>
          <p:cNvGrpSpPr/>
          <p:nvPr/>
        </p:nvGrpSpPr>
        <p:grpSpPr>
          <a:xfrm rot="0">
            <a:off x="673150" y="1300014"/>
            <a:ext cx="448716" cy="448716"/>
            <a:chOff x="0" y="0"/>
            <a:chExt cx="598288" cy="598288"/>
          </a:xfrm>
        </p:grpSpPr>
        <p:sp>
          <p:nvSpPr>
            <p:cNvPr name="Freeform 12" id="12"/>
            <p:cNvSpPr/>
            <p:nvPr/>
          </p:nvSpPr>
          <p:spPr>
            <a:xfrm flipH="false" flipV="false" rot="0">
              <a:off x="0" y="0"/>
              <a:ext cx="598297" cy="598297"/>
            </a:xfrm>
            <a:custGeom>
              <a:avLst/>
              <a:gdLst/>
              <a:ahLst/>
              <a:cxnLst/>
              <a:rect r="r" b="b" t="t" l="l"/>
              <a:pathLst>
                <a:path h="598297" w="598297">
                  <a:moveTo>
                    <a:pt x="0" y="299085"/>
                  </a:moveTo>
                  <a:cubicBezTo>
                    <a:pt x="0" y="133985"/>
                    <a:pt x="133985" y="0"/>
                    <a:pt x="299085" y="0"/>
                  </a:cubicBezTo>
                  <a:cubicBezTo>
                    <a:pt x="464185" y="0"/>
                    <a:pt x="598297" y="133985"/>
                    <a:pt x="598297" y="299085"/>
                  </a:cubicBezTo>
                  <a:cubicBezTo>
                    <a:pt x="598297" y="464185"/>
                    <a:pt x="464312" y="598297"/>
                    <a:pt x="299085" y="598297"/>
                  </a:cubicBezTo>
                  <a:cubicBezTo>
                    <a:pt x="133858" y="598297"/>
                    <a:pt x="0" y="464312"/>
                    <a:pt x="0" y="299085"/>
                  </a:cubicBezTo>
                  <a:close/>
                </a:path>
              </a:pathLst>
            </a:custGeom>
            <a:solidFill>
              <a:srgbClr val="0A988B"/>
            </a:solidFill>
          </p:spPr>
        </p:sp>
      </p:grpSp>
      <p:sp>
        <p:nvSpPr>
          <p:cNvPr name="Freeform 13" id="13" descr="preencoded.png"/>
          <p:cNvSpPr/>
          <p:nvPr/>
        </p:nvSpPr>
        <p:spPr>
          <a:xfrm flipH="false" flipV="false" rot="0">
            <a:off x="796529" y="1423244"/>
            <a:ext cx="201960" cy="201960"/>
          </a:xfrm>
          <a:custGeom>
            <a:avLst/>
            <a:gdLst/>
            <a:ahLst/>
            <a:cxnLst/>
            <a:rect r="r" b="b" t="t" l="l"/>
            <a:pathLst>
              <a:path h="201960" w="201960">
                <a:moveTo>
                  <a:pt x="0" y="0"/>
                </a:moveTo>
                <a:lnTo>
                  <a:pt x="201960" y="0"/>
                </a:lnTo>
                <a:lnTo>
                  <a:pt x="201960" y="201960"/>
                </a:lnTo>
                <a:lnTo>
                  <a:pt x="0" y="201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673150" y="1879252"/>
            <a:ext cx="1760041" cy="239018"/>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Round 1</a:t>
            </a:r>
          </a:p>
        </p:txBody>
      </p:sp>
      <p:sp>
        <p:nvSpPr>
          <p:cNvPr name="TextBox 15" id="15"/>
          <p:cNvSpPr txBox="true"/>
          <p:nvPr/>
        </p:nvSpPr>
        <p:spPr>
          <a:xfrm rot="0">
            <a:off x="673150" y="2150864"/>
            <a:ext cx="8246417" cy="296466"/>
          </a:xfrm>
          <a:prstGeom prst="rect">
            <a:avLst/>
          </a:prstGeom>
        </p:spPr>
        <p:txBody>
          <a:bodyPr anchor="t" rtlCol="false" tIns="0" lIns="0" bIns="0" rIns="0">
            <a:spAutoFit/>
          </a:bodyPr>
          <a:lstStyle/>
          <a:p>
            <a:pPr algn="l">
              <a:lnSpc>
                <a:spcPts val="1874"/>
              </a:lnSpc>
            </a:pPr>
            <a:r>
              <a:rPr lang="en-US" sz="1124" b="true">
                <a:solidFill>
                  <a:srgbClr val="CAD6DE"/>
                </a:solidFill>
                <a:latin typeface="Cabin Bold"/>
                <a:ea typeface="Cabin Bold"/>
                <a:cs typeface="Cabin Bold"/>
                <a:sym typeface="Cabin Bold"/>
              </a:rPr>
              <a:t>Answer: B</a:t>
            </a:r>
            <a:r>
              <a:rPr lang="en-US" sz="1124">
                <a:solidFill>
                  <a:srgbClr val="CAD6DE"/>
                </a:solidFill>
                <a:latin typeface="Cabin"/>
                <a:ea typeface="Cabin"/>
                <a:cs typeface="Cabin"/>
                <a:sym typeface="Cabin"/>
              </a:rPr>
              <a:t> — APIs act as intermediaries, just like waiters taking orders between you and the kitchen!</a:t>
            </a:r>
          </a:p>
        </p:txBody>
      </p:sp>
      <p:grpSp>
        <p:nvGrpSpPr>
          <p:cNvPr name="Group 16" id="16"/>
          <p:cNvGrpSpPr/>
          <p:nvPr/>
        </p:nvGrpSpPr>
        <p:grpSpPr>
          <a:xfrm rot="0">
            <a:off x="9218711" y="1150441"/>
            <a:ext cx="8545711" cy="1446460"/>
            <a:chOff x="0" y="0"/>
            <a:chExt cx="11394282" cy="1928613"/>
          </a:xfrm>
        </p:grpSpPr>
        <p:sp>
          <p:nvSpPr>
            <p:cNvPr name="Freeform 17" id="17"/>
            <p:cNvSpPr/>
            <p:nvPr/>
          </p:nvSpPr>
          <p:spPr>
            <a:xfrm flipH="false" flipV="false" rot="0">
              <a:off x="0" y="0"/>
              <a:ext cx="11394313" cy="1928622"/>
            </a:xfrm>
            <a:custGeom>
              <a:avLst/>
              <a:gdLst/>
              <a:ahLst/>
              <a:cxnLst/>
              <a:rect r="r" b="b" t="t" l="l"/>
              <a:pathLst>
                <a:path h="1928622" w="11394313">
                  <a:moveTo>
                    <a:pt x="0" y="29972"/>
                  </a:moveTo>
                  <a:cubicBezTo>
                    <a:pt x="0" y="13462"/>
                    <a:pt x="13462" y="0"/>
                    <a:pt x="29972" y="0"/>
                  </a:cubicBezTo>
                  <a:lnTo>
                    <a:pt x="11364341" y="0"/>
                  </a:lnTo>
                  <a:cubicBezTo>
                    <a:pt x="11380851" y="0"/>
                    <a:pt x="11394313" y="13462"/>
                    <a:pt x="11394313" y="29972"/>
                  </a:cubicBezTo>
                  <a:lnTo>
                    <a:pt x="11394313" y="1898650"/>
                  </a:lnTo>
                  <a:cubicBezTo>
                    <a:pt x="11394313" y="1915160"/>
                    <a:pt x="11380851" y="1928622"/>
                    <a:pt x="11364341" y="1928622"/>
                  </a:cubicBezTo>
                  <a:lnTo>
                    <a:pt x="29972" y="1928622"/>
                  </a:lnTo>
                  <a:cubicBezTo>
                    <a:pt x="13462" y="1928622"/>
                    <a:pt x="0" y="1915160"/>
                    <a:pt x="0" y="1898650"/>
                  </a:cubicBezTo>
                  <a:close/>
                </a:path>
              </a:pathLst>
            </a:custGeom>
            <a:solidFill>
              <a:srgbClr val="304755"/>
            </a:solidFill>
          </p:spPr>
        </p:sp>
      </p:grpSp>
      <p:grpSp>
        <p:nvGrpSpPr>
          <p:cNvPr name="Group 18" id="18"/>
          <p:cNvGrpSpPr/>
          <p:nvPr/>
        </p:nvGrpSpPr>
        <p:grpSpPr>
          <a:xfrm rot="0">
            <a:off x="9368284" y="1300014"/>
            <a:ext cx="448716" cy="448716"/>
            <a:chOff x="0" y="0"/>
            <a:chExt cx="598288" cy="598288"/>
          </a:xfrm>
        </p:grpSpPr>
        <p:sp>
          <p:nvSpPr>
            <p:cNvPr name="Freeform 19" id="19"/>
            <p:cNvSpPr/>
            <p:nvPr/>
          </p:nvSpPr>
          <p:spPr>
            <a:xfrm flipH="false" flipV="false" rot="0">
              <a:off x="0" y="0"/>
              <a:ext cx="598297" cy="598297"/>
            </a:xfrm>
            <a:custGeom>
              <a:avLst/>
              <a:gdLst/>
              <a:ahLst/>
              <a:cxnLst/>
              <a:rect r="r" b="b" t="t" l="l"/>
              <a:pathLst>
                <a:path h="598297" w="598297">
                  <a:moveTo>
                    <a:pt x="0" y="299085"/>
                  </a:moveTo>
                  <a:cubicBezTo>
                    <a:pt x="0" y="133985"/>
                    <a:pt x="133985" y="0"/>
                    <a:pt x="299085" y="0"/>
                  </a:cubicBezTo>
                  <a:cubicBezTo>
                    <a:pt x="464185" y="0"/>
                    <a:pt x="598297" y="133985"/>
                    <a:pt x="598297" y="299085"/>
                  </a:cubicBezTo>
                  <a:cubicBezTo>
                    <a:pt x="598297" y="464185"/>
                    <a:pt x="464312" y="598297"/>
                    <a:pt x="299085" y="598297"/>
                  </a:cubicBezTo>
                  <a:cubicBezTo>
                    <a:pt x="133858" y="598297"/>
                    <a:pt x="0" y="464312"/>
                    <a:pt x="0" y="299085"/>
                  </a:cubicBezTo>
                  <a:close/>
                </a:path>
              </a:pathLst>
            </a:custGeom>
            <a:solidFill>
              <a:srgbClr val="0A988B"/>
            </a:solidFill>
          </p:spPr>
        </p:sp>
      </p:grpSp>
      <p:sp>
        <p:nvSpPr>
          <p:cNvPr name="Freeform 20" id="20" descr="preencoded.png"/>
          <p:cNvSpPr/>
          <p:nvPr/>
        </p:nvSpPr>
        <p:spPr>
          <a:xfrm flipH="false" flipV="false" rot="0">
            <a:off x="9491662" y="1423244"/>
            <a:ext cx="201960" cy="201960"/>
          </a:xfrm>
          <a:custGeom>
            <a:avLst/>
            <a:gdLst/>
            <a:ahLst/>
            <a:cxnLst/>
            <a:rect r="r" b="b" t="t" l="l"/>
            <a:pathLst>
              <a:path h="201960" w="201960">
                <a:moveTo>
                  <a:pt x="0" y="0"/>
                </a:moveTo>
                <a:lnTo>
                  <a:pt x="201960" y="0"/>
                </a:lnTo>
                <a:lnTo>
                  <a:pt x="201960" y="201960"/>
                </a:lnTo>
                <a:lnTo>
                  <a:pt x="0" y="2019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9368284" y="1879252"/>
            <a:ext cx="1760041" cy="239018"/>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Round 2</a:t>
            </a:r>
          </a:p>
        </p:txBody>
      </p:sp>
      <p:sp>
        <p:nvSpPr>
          <p:cNvPr name="TextBox 22" id="22"/>
          <p:cNvSpPr txBox="true"/>
          <p:nvPr/>
        </p:nvSpPr>
        <p:spPr>
          <a:xfrm rot="0">
            <a:off x="9368284" y="2150864"/>
            <a:ext cx="8246566" cy="296466"/>
          </a:xfrm>
          <a:prstGeom prst="rect">
            <a:avLst/>
          </a:prstGeom>
        </p:spPr>
        <p:txBody>
          <a:bodyPr anchor="t" rtlCol="false" tIns="0" lIns="0" bIns="0" rIns="0">
            <a:spAutoFit/>
          </a:bodyPr>
          <a:lstStyle/>
          <a:p>
            <a:pPr algn="l">
              <a:lnSpc>
                <a:spcPts val="1874"/>
              </a:lnSpc>
            </a:pPr>
            <a:r>
              <a:rPr lang="en-US" sz="1124" b="true">
                <a:solidFill>
                  <a:srgbClr val="CAD6DE"/>
                </a:solidFill>
                <a:latin typeface="Cabin Bold"/>
                <a:ea typeface="Cabin Bold"/>
                <a:cs typeface="Cabin Bold"/>
                <a:sym typeface="Cabin Bold"/>
              </a:rPr>
              <a:t>Answer: C</a:t>
            </a:r>
            <a:r>
              <a:rPr lang="en-US" sz="1124">
                <a:solidFill>
                  <a:srgbClr val="CAD6DE"/>
                </a:solidFill>
                <a:latin typeface="Cabin"/>
                <a:ea typeface="Cabin"/>
                <a:cs typeface="Cabin"/>
                <a:sym typeface="Cabin"/>
              </a:rPr>
              <a:t> — POST method saves new items to cart. Poor connectivity = incomplete saves!</a:t>
            </a:r>
          </a:p>
        </p:txBody>
      </p:sp>
      <p:grpSp>
        <p:nvGrpSpPr>
          <p:cNvPr name="Group 23" id="23"/>
          <p:cNvGrpSpPr/>
          <p:nvPr/>
        </p:nvGrpSpPr>
        <p:grpSpPr>
          <a:xfrm rot="0">
            <a:off x="523577" y="2746474"/>
            <a:ext cx="8545563" cy="1446460"/>
            <a:chOff x="0" y="0"/>
            <a:chExt cx="11394083" cy="1928613"/>
          </a:xfrm>
        </p:grpSpPr>
        <p:sp>
          <p:nvSpPr>
            <p:cNvPr name="Freeform 24" id="24"/>
            <p:cNvSpPr/>
            <p:nvPr/>
          </p:nvSpPr>
          <p:spPr>
            <a:xfrm flipH="false" flipV="false" rot="0">
              <a:off x="0" y="0"/>
              <a:ext cx="11394186" cy="1928622"/>
            </a:xfrm>
            <a:custGeom>
              <a:avLst/>
              <a:gdLst/>
              <a:ahLst/>
              <a:cxnLst/>
              <a:rect r="r" b="b" t="t" l="l"/>
              <a:pathLst>
                <a:path h="1928622" w="11394186">
                  <a:moveTo>
                    <a:pt x="0" y="29972"/>
                  </a:moveTo>
                  <a:cubicBezTo>
                    <a:pt x="0" y="13462"/>
                    <a:pt x="13462" y="0"/>
                    <a:pt x="29972" y="0"/>
                  </a:cubicBezTo>
                  <a:lnTo>
                    <a:pt x="11364214" y="0"/>
                  </a:lnTo>
                  <a:cubicBezTo>
                    <a:pt x="11380724" y="0"/>
                    <a:pt x="11394186" y="13462"/>
                    <a:pt x="11394186" y="29972"/>
                  </a:cubicBezTo>
                  <a:lnTo>
                    <a:pt x="11394186" y="1898650"/>
                  </a:lnTo>
                  <a:cubicBezTo>
                    <a:pt x="11394186" y="1915160"/>
                    <a:pt x="11380724" y="1928622"/>
                    <a:pt x="11364214" y="1928622"/>
                  </a:cubicBezTo>
                  <a:lnTo>
                    <a:pt x="29972" y="1928622"/>
                  </a:lnTo>
                  <a:cubicBezTo>
                    <a:pt x="13462" y="1928622"/>
                    <a:pt x="0" y="1915160"/>
                    <a:pt x="0" y="1898650"/>
                  </a:cubicBezTo>
                  <a:close/>
                </a:path>
              </a:pathLst>
            </a:custGeom>
            <a:solidFill>
              <a:srgbClr val="304755"/>
            </a:solidFill>
          </p:spPr>
        </p:sp>
      </p:grpSp>
      <p:grpSp>
        <p:nvGrpSpPr>
          <p:cNvPr name="Group 25" id="25"/>
          <p:cNvGrpSpPr/>
          <p:nvPr/>
        </p:nvGrpSpPr>
        <p:grpSpPr>
          <a:xfrm rot="0">
            <a:off x="673150" y="2896046"/>
            <a:ext cx="448716" cy="448716"/>
            <a:chOff x="0" y="0"/>
            <a:chExt cx="598288" cy="598288"/>
          </a:xfrm>
        </p:grpSpPr>
        <p:sp>
          <p:nvSpPr>
            <p:cNvPr name="Freeform 26" id="26"/>
            <p:cNvSpPr/>
            <p:nvPr/>
          </p:nvSpPr>
          <p:spPr>
            <a:xfrm flipH="false" flipV="false" rot="0">
              <a:off x="0" y="0"/>
              <a:ext cx="598297" cy="598297"/>
            </a:xfrm>
            <a:custGeom>
              <a:avLst/>
              <a:gdLst/>
              <a:ahLst/>
              <a:cxnLst/>
              <a:rect r="r" b="b" t="t" l="l"/>
              <a:pathLst>
                <a:path h="598297" w="598297">
                  <a:moveTo>
                    <a:pt x="0" y="299085"/>
                  </a:moveTo>
                  <a:cubicBezTo>
                    <a:pt x="0" y="133985"/>
                    <a:pt x="133985" y="0"/>
                    <a:pt x="299085" y="0"/>
                  </a:cubicBezTo>
                  <a:cubicBezTo>
                    <a:pt x="464185" y="0"/>
                    <a:pt x="598297" y="133985"/>
                    <a:pt x="598297" y="299085"/>
                  </a:cubicBezTo>
                  <a:cubicBezTo>
                    <a:pt x="598297" y="464185"/>
                    <a:pt x="464312" y="598297"/>
                    <a:pt x="299085" y="598297"/>
                  </a:cubicBezTo>
                  <a:cubicBezTo>
                    <a:pt x="133858" y="598297"/>
                    <a:pt x="0" y="464312"/>
                    <a:pt x="0" y="299085"/>
                  </a:cubicBezTo>
                  <a:close/>
                </a:path>
              </a:pathLst>
            </a:custGeom>
            <a:solidFill>
              <a:srgbClr val="0A988B"/>
            </a:solidFill>
          </p:spPr>
        </p:sp>
      </p:grpSp>
      <p:sp>
        <p:nvSpPr>
          <p:cNvPr name="Freeform 27" id="27" descr="preencoded.png"/>
          <p:cNvSpPr/>
          <p:nvPr/>
        </p:nvSpPr>
        <p:spPr>
          <a:xfrm flipH="false" flipV="false" rot="0">
            <a:off x="796529" y="3019276"/>
            <a:ext cx="201960" cy="201960"/>
          </a:xfrm>
          <a:custGeom>
            <a:avLst/>
            <a:gdLst/>
            <a:ahLst/>
            <a:cxnLst/>
            <a:rect r="r" b="b" t="t" l="l"/>
            <a:pathLst>
              <a:path h="201960" w="201960">
                <a:moveTo>
                  <a:pt x="0" y="0"/>
                </a:moveTo>
                <a:lnTo>
                  <a:pt x="201960" y="0"/>
                </a:lnTo>
                <a:lnTo>
                  <a:pt x="201960" y="201960"/>
                </a:lnTo>
                <a:lnTo>
                  <a:pt x="0" y="201960"/>
                </a:lnTo>
                <a:lnTo>
                  <a:pt x="0" y="0"/>
                </a:lnTo>
                <a:close/>
              </a:path>
            </a:pathLst>
          </a:custGeom>
          <a:blipFill>
            <a:blip r:embed="rId9">
              <a:extLst>
                <a:ext uri="{96DAC541-7B7A-43D3-8B79-37D633B846F1}">
                  <asvg:svgBlip xmlns:asvg="http://schemas.microsoft.com/office/drawing/2016/SVG/main" r:embed="rId10"/>
                </a:ext>
              </a:extLst>
            </a:blip>
            <a:stretch>
              <a:fillRect l="-4545" t="0" r="-4545" b="0"/>
            </a:stretch>
          </a:blipFill>
        </p:spPr>
      </p:sp>
      <p:sp>
        <p:nvSpPr>
          <p:cNvPr name="TextBox 28" id="28"/>
          <p:cNvSpPr txBox="true"/>
          <p:nvPr/>
        </p:nvSpPr>
        <p:spPr>
          <a:xfrm rot="0">
            <a:off x="673150" y="3475285"/>
            <a:ext cx="1760041" cy="239018"/>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Round 3</a:t>
            </a:r>
          </a:p>
        </p:txBody>
      </p:sp>
      <p:sp>
        <p:nvSpPr>
          <p:cNvPr name="TextBox 29" id="29"/>
          <p:cNvSpPr txBox="true"/>
          <p:nvPr/>
        </p:nvSpPr>
        <p:spPr>
          <a:xfrm rot="0">
            <a:off x="673150" y="3746896"/>
            <a:ext cx="8246417" cy="296466"/>
          </a:xfrm>
          <a:prstGeom prst="rect">
            <a:avLst/>
          </a:prstGeom>
        </p:spPr>
        <p:txBody>
          <a:bodyPr anchor="t" rtlCol="false" tIns="0" lIns="0" bIns="0" rIns="0">
            <a:spAutoFit/>
          </a:bodyPr>
          <a:lstStyle/>
          <a:p>
            <a:pPr algn="l">
              <a:lnSpc>
                <a:spcPts val="1874"/>
              </a:lnSpc>
            </a:pPr>
            <a:r>
              <a:rPr lang="en-US" sz="1124" b="true">
                <a:solidFill>
                  <a:srgbClr val="CAD6DE"/>
                </a:solidFill>
                <a:latin typeface="Cabin Bold"/>
                <a:ea typeface="Cabin Bold"/>
                <a:cs typeface="Cabin Bold"/>
                <a:sym typeface="Cabin Bold"/>
              </a:rPr>
              <a:t>Answer: B</a:t>
            </a:r>
            <a:r>
              <a:rPr lang="en-US" sz="1124">
                <a:solidFill>
                  <a:srgbClr val="CAD6DE"/>
                </a:solidFill>
                <a:latin typeface="Cabin"/>
                <a:ea typeface="Cabin"/>
                <a:cs typeface="Cabin"/>
                <a:sym typeface="Cabin"/>
              </a:rPr>
              <a:t> — OAuth 2.0 lets one service vouch for you on another, enabling social logins!</a:t>
            </a:r>
          </a:p>
        </p:txBody>
      </p:sp>
      <p:grpSp>
        <p:nvGrpSpPr>
          <p:cNvPr name="Group 30" id="30"/>
          <p:cNvGrpSpPr/>
          <p:nvPr/>
        </p:nvGrpSpPr>
        <p:grpSpPr>
          <a:xfrm rot="0">
            <a:off x="9218711" y="2746474"/>
            <a:ext cx="8545711" cy="1446460"/>
            <a:chOff x="0" y="0"/>
            <a:chExt cx="11394282" cy="1928613"/>
          </a:xfrm>
        </p:grpSpPr>
        <p:sp>
          <p:nvSpPr>
            <p:cNvPr name="Freeform 31" id="31"/>
            <p:cNvSpPr/>
            <p:nvPr/>
          </p:nvSpPr>
          <p:spPr>
            <a:xfrm flipH="false" flipV="false" rot="0">
              <a:off x="0" y="0"/>
              <a:ext cx="11394313" cy="1928622"/>
            </a:xfrm>
            <a:custGeom>
              <a:avLst/>
              <a:gdLst/>
              <a:ahLst/>
              <a:cxnLst/>
              <a:rect r="r" b="b" t="t" l="l"/>
              <a:pathLst>
                <a:path h="1928622" w="11394313">
                  <a:moveTo>
                    <a:pt x="0" y="29972"/>
                  </a:moveTo>
                  <a:cubicBezTo>
                    <a:pt x="0" y="13462"/>
                    <a:pt x="13462" y="0"/>
                    <a:pt x="29972" y="0"/>
                  </a:cubicBezTo>
                  <a:lnTo>
                    <a:pt x="11364341" y="0"/>
                  </a:lnTo>
                  <a:cubicBezTo>
                    <a:pt x="11380851" y="0"/>
                    <a:pt x="11394313" y="13462"/>
                    <a:pt x="11394313" y="29972"/>
                  </a:cubicBezTo>
                  <a:lnTo>
                    <a:pt x="11394313" y="1898650"/>
                  </a:lnTo>
                  <a:cubicBezTo>
                    <a:pt x="11394313" y="1915160"/>
                    <a:pt x="11380851" y="1928622"/>
                    <a:pt x="11364341" y="1928622"/>
                  </a:cubicBezTo>
                  <a:lnTo>
                    <a:pt x="29972" y="1928622"/>
                  </a:lnTo>
                  <a:cubicBezTo>
                    <a:pt x="13462" y="1928622"/>
                    <a:pt x="0" y="1915160"/>
                    <a:pt x="0" y="1898650"/>
                  </a:cubicBezTo>
                  <a:close/>
                </a:path>
              </a:pathLst>
            </a:custGeom>
            <a:solidFill>
              <a:srgbClr val="304755"/>
            </a:solidFill>
          </p:spPr>
        </p:sp>
      </p:grpSp>
      <p:grpSp>
        <p:nvGrpSpPr>
          <p:cNvPr name="Group 32" id="32"/>
          <p:cNvGrpSpPr/>
          <p:nvPr/>
        </p:nvGrpSpPr>
        <p:grpSpPr>
          <a:xfrm rot="0">
            <a:off x="9368284" y="2896046"/>
            <a:ext cx="448716" cy="448716"/>
            <a:chOff x="0" y="0"/>
            <a:chExt cx="598288" cy="598288"/>
          </a:xfrm>
        </p:grpSpPr>
        <p:sp>
          <p:nvSpPr>
            <p:cNvPr name="Freeform 33" id="33"/>
            <p:cNvSpPr/>
            <p:nvPr/>
          </p:nvSpPr>
          <p:spPr>
            <a:xfrm flipH="false" flipV="false" rot="0">
              <a:off x="0" y="0"/>
              <a:ext cx="598297" cy="598297"/>
            </a:xfrm>
            <a:custGeom>
              <a:avLst/>
              <a:gdLst/>
              <a:ahLst/>
              <a:cxnLst/>
              <a:rect r="r" b="b" t="t" l="l"/>
              <a:pathLst>
                <a:path h="598297" w="598297">
                  <a:moveTo>
                    <a:pt x="0" y="299085"/>
                  </a:moveTo>
                  <a:cubicBezTo>
                    <a:pt x="0" y="133985"/>
                    <a:pt x="133985" y="0"/>
                    <a:pt x="299085" y="0"/>
                  </a:cubicBezTo>
                  <a:cubicBezTo>
                    <a:pt x="464185" y="0"/>
                    <a:pt x="598297" y="133985"/>
                    <a:pt x="598297" y="299085"/>
                  </a:cubicBezTo>
                  <a:cubicBezTo>
                    <a:pt x="598297" y="464185"/>
                    <a:pt x="464312" y="598297"/>
                    <a:pt x="299085" y="598297"/>
                  </a:cubicBezTo>
                  <a:cubicBezTo>
                    <a:pt x="133858" y="598297"/>
                    <a:pt x="0" y="464312"/>
                    <a:pt x="0" y="299085"/>
                  </a:cubicBezTo>
                  <a:close/>
                </a:path>
              </a:pathLst>
            </a:custGeom>
            <a:solidFill>
              <a:srgbClr val="0A988B"/>
            </a:solidFill>
          </p:spPr>
        </p:sp>
      </p:grpSp>
      <p:sp>
        <p:nvSpPr>
          <p:cNvPr name="Freeform 34" id="34" descr="preencoded.png"/>
          <p:cNvSpPr/>
          <p:nvPr/>
        </p:nvSpPr>
        <p:spPr>
          <a:xfrm flipH="false" flipV="false" rot="0">
            <a:off x="9491662" y="3019276"/>
            <a:ext cx="201960" cy="201960"/>
          </a:xfrm>
          <a:custGeom>
            <a:avLst/>
            <a:gdLst/>
            <a:ahLst/>
            <a:cxnLst/>
            <a:rect r="r" b="b" t="t" l="l"/>
            <a:pathLst>
              <a:path h="201960" w="201960">
                <a:moveTo>
                  <a:pt x="0" y="0"/>
                </a:moveTo>
                <a:lnTo>
                  <a:pt x="201960" y="0"/>
                </a:lnTo>
                <a:lnTo>
                  <a:pt x="201960" y="201960"/>
                </a:lnTo>
                <a:lnTo>
                  <a:pt x="0" y="20196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5" id="35"/>
          <p:cNvSpPr txBox="true"/>
          <p:nvPr/>
        </p:nvSpPr>
        <p:spPr>
          <a:xfrm rot="0">
            <a:off x="9368284" y="3475285"/>
            <a:ext cx="1760041" cy="239018"/>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Round 4</a:t>
            </a:r>
          </a:p>
        </p:txBody>
      </p:sp>
      <p:sp>
        <p:nvSpPr>
          <p:cNvPr name="TextBox 36" id="36"/>
          <p:cNvSpPr txBox="true"/>
          <p:nvPr/>
        </p:nvSpPr>
        <p:spPr>
          <a:xfrm rot="0">
            <a:off x="9368284" y="3746896"/>
            <a:ext cx="8246566" cy="296466"/>
          </a:xfrm>
          <a:prstGeom prst="rect">
            <a:avLst/>
          </a:prstGeom>
        </p:spPr>
        <p:txBody>
          <a:bodyPr anchor="t" rtlCol="false" tIns="0" lIns="0" bIns="0" rIns="0">
            <a:spAutoFit/>
          </a:bodyPr>
          <a:lstStyle/>
          <a:p>
            <a:pPr algn="l">
              <a:lnSpc>
                <a:spcPts val="1874"/>
              </a:lnSpc>
            </a:pPr>
            <a:r>
              <a:rPr lang="en-US" sz="1124" b="true">
                <a:solidFill>
                  <a:srgbClr val="CAD6DE"/>
                </a:solidFill>
                <a:latin typeface="Cabin Bold"/>
                <a:ea typeface="Cabin Bold"/>
                <a:cs typeface="Cabin Bold"/>
                <a:sym typeface="Cabin Bold"/>
              </a:rPr>
              <a:t>Answer: B</a:t>
            </a:r>
            <a:r>
              <a:rPr lang="en-US" sz="1124">
                <a:solidFill>
                  <a:srgbClr val="CAD6DE"/>
                </a:solidFill>
                <a:latin typeface="Cabin"/>
                <a:ea typeface="Cabin"/>
                <a:cs typeface="Cabin"/>
                <a:sym typeface="Cabin"/>
              </a:rPr>
              <a:t> — Kafka streams real-time data like GPS locations for live tracking updates!</a:t>
            </a:r>
          </a:p>
        </p:txBody>
      </p:sp>
      <p:grpSp>
        <p:nvGrpSpPr>
          <p:cNvPr name="Group 37" id="37"/>
          <p:cNvGrpSpPr/>
          <p:nvPr/>
        </p:nvGrpSpPr>
        <p:grpSpPr>
          <a:xfrm rot="0">
            <a:off x="523577" y="4361110"/>
            <a:ext cx="8545563" cy="1446460"/>
            <a:chOff x="0" y="0"/>
            <a:chExt cx="11394083" cy="1928613"/>
          </a:xfrm>
        </p:grpSpPr>
        <p:sp>
          <p:nvSpPr>
            <p:cNvPr name="Freeform 38" id="38"/>
            <p:cNvSpPr/>
            <p:nvPr/>
          </p:nvSpPr>
          <p:spPr>
            <a:xfrm flipH="false" flipV="false" rot="0">
              <a:off x="0" y="0"/>
              <a:ext cx="11394186" cy="1928622"/>
            </a:xfrm>
            <a:custGeom>
              <a:avLst/>
              <a:gdLst/>
              <a:ahLst/>
              <a:cxnLst/>
              <a:rect r="r" b="b" t="t" l="l"/>
              <a:pathLst>
                <a:path h="1928622" w="11394186">
                  <a:moveTo>
                    <a:pt x="0" y="29972"/>
                  </a:moveTo>
                  <a:cubicBezTo>
                    <a:pt x="0" y="13462"/>
                    <a:pt x="13462" y="0"/>
                    <a:pt x="29972" y="0"/>
                  </a:cubicBezTo>
                  <a:lnTo>
                    <a:pt x="11364214" y="0"/>
                  </a:lnTo>
                  <a:cubicBezTo>
                    <a:pt x="11380724" y="0"/>
                    <a:pt x="11394186" y="13462"/>
                    <a:pt x="11394186" y="29972"/>
                  </a:cubicBezTo>
                  <a:lnTo>
                    <a:pt x="11394186" y="1898650"/>
                  </a:lnTo>
                  <a:cubicBezTo>
                    <a:pt x="11394186" y="1915160"/>
                    <a:pt x="11380724" y="1928622"/>
                    <a:pt x="11364214" y="1928622"/>
                  </a:cubicBezTo>
                  <a:lnTo>
                    <a:pt x="29972" y="1928622"/>
                  </a:lnTo>
                  <a:cubicBezTo>
                    <a:pt x="13462" y="1928622"/>
                    <a:pt x="0" y="1915160"/>
                    <a:pt x="0" y="1898650"/>
                  </a:cubicBezTo>
                  <a:close/>
                </a:path>
              </a:pathLst>
            </a:custGeom>
            <a:solidFill>
              <a:srgbClr val="304755"/>
            </a:solidFill>
          </p:spPr>
        </p:sp>
      </p:grpSp>
      <p:grpSp>
        <p:nvGrpSpPr>
          <p:cNvPr name="Group 39" id="39"/>
          <p:cNvGrpSpPr/>
          <p:nvPr/>
        </p:nvGrpSpPr>
        <p:grpSpPr>
          <a:xfrm rot="0">
            <a:off x="673150" y="4510682"/>
            <a:ext cx="448716" cy="448716"/>
            <a:chOff x="0" y="0"/>
            <a:chExt cx="598288" cy="598288"/>
          </a:xfrm>
        </p:grpSpPr>
        <p:sp>
          <p:nvSpPr>
            <p:cNvPr name="Freeform 40" id="40"/>
            <p:cNvSpPr/>
            <p:nvPr/>
          </p:nvSpPr>
          <p:spPr>
            <a:xfrm flipH="false" flipV="false" rot="0">
              <a:off x="0" y="0"/>
              <a:ext cx="598297" cy="598297"/>
            </a:xfrm>
            <a:custGeom>
              <a:avLst/>
              <a:gdLst/>
              <a:ahLst/>
              <a:cxnLst/>
              <a:rect r="r" b="b" t="t" l="l"/>
              <a:pathLst>
                <a:path h="598297" w="598297">
                  <a:moveTo>
                    <a:pt x="0" y="299085"/>
                  </a:moveTo>
                  <a:cubicBezTo>
                    <a:pt x="0" y="133985"/>
                    <a:pt x="133985" y="0"/>
                    <a:pt x="299085" y="0"/>
                  </a:cubicBezTo>
                  <a:cubicBezTo>
                    <a:pt x="464185" y="0"/>
                    <a:pt x="598297" y="133985"/>
                    <a:pt x="598297" y="299085"/>
                  </a:cubicBezTo>
                  <a:cubicBezTo>
                    <a:pt x="598297" y="464185"/>
                    <a:pt x="464312" y="598297"/>
                    <a:pt x="299085" y="598297"/>
                  </a:cubicBezTo>
                  <a:cubicBezTo>
                    <a:pt x="133858" y="598297"/>
                    <a:pt x="0" y="464312"/>
                    <a:pt x="0" y="299085"/>
                  </a:cubicBezTo>
                  <a:close/>
                </a:path>
              </a:pathLst>
            </a:custGeom>
            <a:solidFill>
              <a:srgbClr val="0A988B"/>
            </a:solidFill>
          </p:spPr>
        </p:sp>
      </p:grpSp>
      <p:sp>
        <p:nvSpPr>
          <p:cNvPr name="Freeform 41" id="41" descr="preencoded.png"/>
          <p:cNvSpPr/>
          <p:nvPr/>
        </p:nvSpPr>
        <p:spPr>
          <a:xfrm flipH="false" flipV="false" rot="0">
            <a:off x="796529" y="4633912"/>
            <a:ext cx="201960" cy="201960"/>
          </a:xfrm>
          <a:custGeom>
            <a:avLst/>
            <a:gdLst/>
            <a:ahLst/>
            <a:cxnLst/>
            <a:rect r="r" b="b" t="t" l="l"/>
            <a:pathLst>
              <a:path h="201960" w="201960">
                <a:moveTo>
                  <a:pt x="0" y="0"/>
                </a:moveTo>
                <a:lnTo>
                  <a:pt x="201960" y="0"/>
                </a:lnTo>
                <a:lnTo>
                  <a:pt x="201960" y="201960"/>
                </a:lnTo>
                <a:lnTo>
                  <a:pt x="0" y="201960"/>
                </a:lnTo>
                <a:lnTo>
                  <a:pt x="0" y="0"/>
                </a:lnTo>
                <a:close/>
              </a:path>
            </a:pathLst>
          </a:custGeom>
          <a:blipFill>
            <a:blip r:embed="rId13">
              <a:extLst>
                <a:ext uri="{96DAC541-7B7A-43D3-8B79-37D633B846F1}">
                  <asvg:svgBlip xmlns:asvg="http://schemas.microsoft.com/office/drawing/2016/SVG/main" r:embed="rId14"/>
                </a:ext>
              </a:extLst>
            </a:blip>
            <a:stretch>
              <a:fillRect l="0" t="-9090" r="0" b="-9090"/>
            </a:stretch>
          </a:blipFill>
        </p:spPr>
      </p:sp>
      <p:sp>
        <p:nvSpPr>
          <p:cNvPr name="TextBox 42" id="42"/>
          <p:cNvSpPr txBox="true"/>
          <p:nvPr/>
        </p:nvSpPr>
        <p:spPr>
          <a:xfrm rot="0">
            <a:off x="673150" y="5089922"/>
            <a:ext cx="1760041" cy="239017"/>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Round 5</a:t>
            </a:r>
          </a:p>
        </p:txBody>
      </p:sp>
      <p:sp>
        <p:nvSpPr>
          <p:cNvPr name="TextBox 43" id="43"/>
          <p:cNvSpPr txBox="true"/>
          <p:nvPr/>
        </p:nvSpPr>
        <p:spPr>
          <a:xfrm rot="0">
            <a:off x="673150" y="5361534"/>
            <a:ext cx="8246417" cy="296466"/>
          </a:xfrm>
          <a:prstGeom prst="rect">
            <a:avLst/>
          </a:prstGeom>
        </p:spPr>
        <p:txBody>
          <a:bodyPr anchor="t" rtlCol="false" tIns="0" lIns="0" bIns="0" rIns="0">
            <a:spAutoFit/>
          </a:bodyPr>
          <a:lstStyle/>
          <a:p>
            <a:pPr algn="l">
              <a:lnSpc>
                <a:spcPts val="1874"/>
              </a:lnSpc>
            </a:pPr>
            <a:r>
              <a:rPr lang="en-US" sz="1124" b="true">
                <a:solidFill>
                  <a:srgbClr val="CAD6DE"/>
                </a:solidFill>
                <a:latin typeface="Cabin Bold"/>
                <a:ea typeface="Cabin Bold"/>
                <a:cs typeface="Cabin Bold"/>
                <a:sym typeface="Cabin Bold"/>
              </a:rPr>
              <a:t>Answer: B</a:t>
            </a:r>
            <a:r>
              <a:rPr lang="en-US" sz="1124">
                <a:solidFill>
                  <a:srgbClr val="CAD6DE"/>
                </a:solidFill>
                <a:latin typeface="Cabin"/>
                <a:ea typeface="Cabin"/>
                <a:cs typeface="Cabin"/>
                <a:sym typeface="Cabin"/>
              </a:rPr>
              <a:t> — Topics categorise messages, partitions enable parallel processing for scalability!</a:t>
            </a:r>
          </a:p>
        </p:txBody>
      </p:sp>
      <p:grpSp>
        <p:nvGrpSpPr>
          <p:cNvPr name="Group 44" id="44"/>
          <p:cNvGrpSpPr/>
          <p:nvPr/>
        </p:nvGrpSpPr>
        <p:grpSpPr>
          <a:xfrm rot="0">
            <a:off x="9218711" y="4361110"/>
            <a:ext cx="8545711" cy="1446460"/>
            <a:chOff x="0" y="0"/>
            <a:chExt cx="11394282" cy="1928613"/>
          </a:xfrm>
        </p:grpSpPr>
        <p:sp>
          <p:nvSpPr>
            <p:cNvPr name="Freeform 45" id="45"/>
            <p:cNvSpPr/>
            <p:nvPr/>
          </p:nvSpPr>
          <p:spPr>
            <a:xfrm flipH="false" flipV="false" rot="0">
              <a:off x="0" y="0"/>
              <a:ext cx="11394313" cy="1928622"/>
            </a:xfrm>
            <a:custGeom>
              <a:avLst/>
              <a:gdLst/>
              <a:ahLst/>
              <a:cxnLst/>
              <a:rect r="r" b="b" t="t" l="l"/>
              <a:pathLst>
                <a:path h="1928622" w="11394313">
                  <a:moveTo>
                    <a:pt x="0" y="29972"/>
                  </a:moveTo>
                  <a:cubicBezTo>
                    <a:pt x="0" y="13462"/>
                    <a:pt x="13462" y="0"/>
                    <a:pt x="29972" y="0"/>
                  </a:cubicBezTo>
                  <a:lnTo>
                    <a:pt x="11364341" y="0"/>
                  </a:lnTo>
                  <a:cubicBezTo>
                    <a:pt x="11380851" y="0"/>
                    <a:pt x="11394313" y="13462"/>
                    <a:pt x="11394313" y="29972"/>
                  </a:cubicBezTo>
                  <a:lnTo>
                    <a:pt x="11394313" y="1898650"/>
                  </a:lnTo>
                  <a:cubicBezTo>
                    <a:pt x="11394313" y="1915160"/>
                    <a:pt x="11380851" y="1928622"/>
                    <a:pt x="11364341" y="1928622"/>
                  </a:cubicBezTo>
                  <a:lnTo>
                    <a:pt x="29972" y="1928622"/>
                  </a:lnTo>
                  <a:cubicBezTo>
                    <a:pt x="13462" y="1928622"/>
                    <a:pt x="0" y="1915160"/>
                    <a:pt x="0" y="1898650"/>
                  </a:cubicBezTo>
                  <a:close/>
                </a:path>
              </a:pathLst>
            </a:custGeom>
            <a:solidFill>
              <a:srgbClr val="304755"/>
            </a:solidFill>
          </p:spPr>
        </p:sp>
      </p:grpSp>
      <p:grpSp>
        <p:nvGrpSpPr>
          <p:cNvPr name="Group 46" id="46"/>
          <p:cNvGrpSpPr/>
          <p:nvPr/>
        </p:nvGrpSpPr>
        <p:grpSpPr>
          <a:xfrm rot="0">
            <a:off x="9368284" y="4510682"/>
            <a:ext cx="448716" cy="448716"/>
            <a:chOff x="0" y="0"/>
            <a:chExt cx="598288" cy="598288"/>
          </a:xfrm>
        </p:grpSpPr>
        <p:sp>
          <p:nvSpPr>
            <p:cNvPr name="Freeform 47" id="47"/>
            <p:cNvSpPr/>
            <p:nvPr/>
          </p:nvSpPr>
          <p:spPr>
            <a:xfrm flipH="false" flipV="false" rot="0">
              <a:off x="0" y="0"/>
              <a:ext cx="598297" cy="598297"/>
            </a:xfrm>
            <a:custGeom>
              <a:avLst/>
              <a:gdLst/>
              <a:ahLst/>
              <a:cxnLst/>
              <a:rect r="r" b="b" t="t" l="l"/>
              <a:pathLst>
                <a:path h="598297" w="598297">
                  <a:moveTo>
                    <a:pt x="0" y="299085"/>
                  </a:moveTo>
                  <a:cubicBezTo>
                    <a:pt x="0" y="133985"/>
                    <a:pt x="133985" y="0"/>
                    <a:pt x="299085" y="0"/>
                  </a:cubicBezTo>
                  <a:cubicBezTo>
                    <a:pt x="464185" y="0"/>
                    <a:pt x="598297" y="133985"/>
                    <a:pt x="598297" y="299085"/>
                  </a:cubicBezTo>
                  <a:cubicBezTo>
                    <a:pt x="598297" y="464185"/>
                    <a:pt x="464312" y="598297"/>
                    <a:pt x="299085" y="598297"/>
                  </a:cubicBezTo>
                  <a:cubicBezTo>
                    <a:pt x="133858" y="598297"/>
                    <a:pt x="0" y="464312"/>
                    <a:pt x="0" y="299085"/>
                  </a:cubicBezTo>
                  <a:close/>
                </a:path>
              </a:pathLst>
            </a:custGeom>
            <a:solidFill>
              <a:srgbClr val="0A988B"/>
            </a:solidFill>
          </p:spPr>
        </p:sp>
      </p:grpSp>
      <p:sp>
        <p:nvSpPr>
          <p:cNvPr name="Freeform 48" id="48" descr="preencoded.png"/>
          <p:cNvSpPr/>
          <p:nvPr/>
        </p:nvSpPr>
        <p:spPr>
          <a:xfrm flipH="false" flipV="false" rot="0">
            <a:off x="9491662" y="4633912"/>
            <a:ext cx="201960" cy="201960"/>
          </a:xfrm>
          <a:custGeom>
            <a:avLst/>
            <a:gdLst/>
            <a:ahLst/>
            <a:cxnLst/>
            <a:rect r="r" b="b" t="t" l="l"/>
            <a:pathLst>
              <a:path h="201960" w="201960">
                <a:moveTo>
                  <a:pt x="0" y="0"/>
                </a:moveTo>
                <a:lnTo>
                  <a:pt x="201960" y="0"/>
                </a:lnTo>
                <a:lnTo>
                  <a:pt x="201960" y="201960"/>
                </a:lnTo>
                <a:lnTo>
                  <a:pt x="0" y="201960"/>
                </a:lnTo>
                <a:lnTo>
                  <a:pt x="0" y="0"/>
                </a:lnTo>
                <a:close/>
              </a:path>
            </a:pathLst>
          </a:custGeom>
          <a:blipFill>
            <a:blip r:embed="rId15">
              <a:extLst>
                <a:ext uri="{96DAC541-7B7A-43D3-8B79-37D633B846F1}">
                  <asvg:svgBlip xmlns:asvg="http://schemas.microsoft.com/office/drawing/2016/SVG/main" r:embed="rId16"/>
                </a:ext>
              </a:extLst>
            </a:blip>
            <a:stretch>
              <a:fillRect l="0" t="-6818" r="0" b="-6818"/>
            </a:stretch>
          </a:blipFill>
        </p:spPr>
      </p:sp>
      <p:sp>
        <p:nvSpPr>
          <p:cNvPr name="TextBox 49" id="49"/>
          <p:cNvSpPr txBox="true"/>
          <p:nvPr/>
        </p:nvSpPr>
        <p:spPr>
          <a:xfrm rot="0">
            <a:off x="9368284" y="5089922"/>
            <a:ext cx="1760041" cy="239017"/>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Round 6</a:t>
            </a:r>
          </a:p>
        </p:txBody>
      </p:sp>
      <p:sp>
        <p:nvSpPr>
          <p:cNvPr name="TextBox 50" id="50"/>
          <p:cNvSpPr txBox="true"/>
          <p:nvPr/>
        </p:nvSpPr>
        <p:spPr>
          <a:xfrm rot="0">
            <a:off x="9368284" y="5361534"/>
            <a:ext cx="8246566" cy="296466"/>
          </a:xfrm>
          <a:prstGeom prst="rect">
            <a:avLst/>
          </a:prstGeom>
        </p:spPr>
        <p:txBody>
          <a:bodyPr anchor="t" rtlCol="false" tIns="0" lIns="0" bIns="0" rIns="0">
            <a:spAutoFit/>
          </a:bodyPr>
          <a:lstStyle/>
          <a:p>
            <a:pPr algn="l">
              <a:lnSpc>
                <a:spcPts val="1874"/>
              </a:lnSpc>
            </a:pPr>
            <a:r>
              <a:rPr lang="en-US" sz="1124" b="true">
                <a:solidFill>
                  <a:srgbClr val="CAD6DE"/>
                </a:solidFill>
                <a:latin typeface="Cabin Bold"/>
                <a:ea typeface="Cabin Bold"/>
                <a:cs typeface="Cabin Bold"/>
                <a:sym typeface="Cabin Bold"/>
              </a:rPr>
              <a:t>Answer: B</a:t>
            </a:r>
            <a:r>
              <a:rPr lang="en-US" sz="1124">
                <a:solidFill>
                  <a:srgbClr val="CAD6DE"/>
                </a:solidFill>
                <a:latin typeface="Cabin"/>
                <a:ea typeface="Cabin"/>
                <a:cs typeface="Cabin"/>
                <a:sym typeface="Cabin"/>
              </a:rPr>
              <a:t> — Producers create/publish content, consumers receive and process those notifications!</a:t>
            </a:r>
          </a:p>
        </p:txBody>
      </p:sp>
      <p:grpSp>
        <p:nvGrpSpPr>
          <p:cNvPr name="Group 51" id="51"/>
          <p:cNvGrpSpPr/>
          <p:nvPr/>
        </p:nvGrpSpPr>
        <p:grpSpPr>
          <a:xfrm rot="0">
            <a:off x="523577" y="5957144"/>
            <a:ext cx="8545563" cy="1446460"/>
            <a:chOff x="0" y="0"/>
            <a:chExt cx="11394083" cy="1928613"/>
          </a:xfrm>
        </p:grpSpPr>
        <p:sp>
          <p:nvSpPr>
            <p:cNvPr name="Freeform 52" id="52"/>
            <p:cNvSpPr/>
            <p:nvPr/>
          </p:nvSpPr>
          <p:spPr>
            <a:xfrm flipH="false" flipV="false" rot="0">
              <a:off x="0" y="0"/>
              <a:ext cx="11394186" cy="1928622"/>
            </a:xfrm>
            <a:custGeom>
              <a:avLst/>
              <a:gdLst/>
              <a:ahLst/>
              <a:cxnLst/>
              <a:rect r="r" b="b" t="t" l="l"/>
              <a:pathLst>
                <a:path h="1928622" w="11394186">
                  <a:moveTo>
                    <a:pt x="0" y="29972"/>
                  </a:moveTo>
                  <a:cubicBezTo>
                    <a:pt x="0" y="13462"/>
                    <a:pt x="13462" y="0"/>
                    <a:pt x="29972" y="0"/>
                  </a:cubicBezTo>
                  <a:lnTo>
                    <a:pt x="11364214" y="0"/>
                  </a:lnTo>
                  <a:cubicBezTo>
                    <a:pt x="11380724" y="0"/>
                    <a:pt x="11394186" y="13462"/>
                    <a:pt x="11394186" y="29972"/>
                  </a:cubicBezTo>
                  <a:lnTo>
                    <a:pt x="11394186" y="1898650"/>
                  </a:lnTo>
                  <a:cubicBezTo>
                    <a:pt x="11394186" y="1915160"/>
                    <a:pt x="11380724" y="1928622"/>
                    <a:pt x="11364214" y="1928622"/>
                  </a:cubicBezTo>
                  <a:lnTo>
                    <a:pt x="29972" y="1928622"/>
                  </a:lnTo>
                  <a:cubicBezTo>
                    <a:pt x="13462" y="1928622"/>
                    <a:pt x="0" y="1915160"/>
                    <a:pt x="0" y="1898650"/>
                  </a:cubicBezTo>
                  <a:close/>
                </a:path>
              </a:pathLst>
            </a:custGeom>
            <a:solidFill>
              <a:srgbClr val="304755"/>
            </a:solidFill>
          </p:spPr>
        </p:sp>
      </p:grpSp>
      <p:grpSp>
        <p:nvGrpSpPr>
          <p:cNvPr name="Group 53" id="53"/>
          <p:cNvGrpSpPr/>
          <p:nvPr/>
        </p:nvGrpSpPr>
        <p:grpSpPr>
          <a:xfrm rot="0">
            <a:off x="673150" y="6106716"/>
            <a:ext cx="448716" cy="448716"/>
            <a:chOff x="0" y="0"/>
            <a:chExt cx="598288" cy="598288"/>
          </a:xfrm>
        </p:grpSpPr>
        <p:sp>
          <p:nvSpPr>
            <p:cNvPr name="Freeform 54" id="54"/>
            <p:cNvSpPr/>
            <p:nvPr/>
          </p:nvSpPr>
          <p:spPr>
            <a:xfrm flipH="false" flipV="false" rot="0">
              <a:off x="0" y="0"/>
              <a:ext cx="598297" cy="598297"/>
            </a:xfrm>
            <a:custGeom>
              <a:avLst/>
              <a:gdLst/>
              <a:ahLst/>
              <a:cxnLst/>
              <a:rect r="r" b="b" t="t" l="l"/>
              <a:pathLst>
                <a:path h="598297" w="598297">
                  <a:moveTo>
                    <a:pt x="0" y="299085"/>
                  </a:moveTo>
                  <a:cubicBezTo>
                    <a:pt x="0" y="133985"/>
                    <a:pt x="133985" y="0"/>
                    <a:pt x="299085" y="0"/>
                  </a:cubicBezTo>
                  <a:cubicBezTo>
                    <a:pt x="464185" y="0"/>
                    <a:pt x="598297" y="133985"/>
                    <a:pt x="598297" y="299085"/>
                  </a:cubicBezTo>
                  <a:cubicBezTo>
                    <a:pt x="598297" y="464185"/>
                    <a:pt x="464312" y="598297"/>
                    <a:pt x="299085" y="598297"/>
                  </a:cubicBezTo>
                  <a:cubicBezTo>
                    <a:pt x="133858" y="598297"/>
                    <a:pt x="0" y="464312"/>
                    <a:pt x="0" y="299085"/>
                  </a:cubicBezTo>
                  <a:close/>
                </a:path>
              </a:pathLst>
            </a:custGeom>
            <a:solidFill>
              <a:srgbClr val="0A988B"/>
            </a:solidFill>
          </p:spPr>
        </p:sp>
      </p:grpSp>
      <p:sp>
        <p:nvSpPr>
          <p:cNvPr name="Freeform 55" id="55" descr="preencoded.png"/>
          <p:cNvSpPr/>
          <p:nvPr/>
        </p:nvSpPr>
        <p:spPr>
          <a:xfrm flipH="false" flipV="false" rot="0">
            <a:off x="796529" y="6229945"/>
            <a:ext cx="201960" cy="201960"/>
          </a:xfrm>
          <a:custGeom>
            <a:avLst/>
            <a:gdLst/>
            <a:ahLst/>
            <a:cxnLst/>
            <a:rect r="r" b="b" t="t" l="l"/>
            <a:pathLst>
              <a:path h="201960" w="201960">
                <a:moveTo>
                  <a:pt x="0" y="0"/>
                </a:moveTo>
                <a:lnTo>
                  <a:pt x="201960" y="0"/>
                </a:lnTo>
                <a:lnTo>
                  <a:pt x="201960" y="201960"/>
                </a:lnTo>
                <a:lnTo>
                  <a:pt x="0" y="201960"/>
                </a:lnTo>
                <a:lnTo>
                  <a:pt x="0" y="0"/>
                </a:lnTo>
                <a:close/>
              </a:path>
            </a:pathLst>
          </a:custGeom>
          <a:blipFill>
            <a:blip r:embed="rId17">
              <a:extLst>
                <a:ext uri="{96DAC541-7B7A-43D3-8B79-37D633B846F1}">
                  <asvg:svgBlip xmlns:asvg="http://schemas.microsoft.com/office/drawing/2016/SVG/main" r:embed="rId18"/>
                </a:ext>
              </a:extLst>
            </a:blip>
            <a:stretch>
              <a:fillRect l="0" t="-6818" r="0" b="-6818"/>
            </a:stretch>
          </a:blipFill>
        </p:spPr>
      </p:sp>
      <p:sp>
        <p:nvSpPr>
          <p:cNvPr name="TextBox 56" id="56"/>
          <p:cNvSpPr txBox="true"/>
          <p:nvPr/>
        </p:nvSpPr>
        <p:spPr>
          <a:xfrm rot="0">
            <a:off x="673150" y="6685955"/>
            <a:ext cx="1760041" cy="239017"/>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Round 7</a:t>
            </a:r>
          </a:p>
        </p:txBody>
      </p:sp>
      <p:sp>
        <p:nvSpPr>
          <p:cNvPr name="TextBox 57" id="57"/>
          <p:cNvSpPr txBox="true"/>
          <p:nvPr/>
        </p:nvSpPr>
        <p:spPr>
          <a:xfrm rot="0">
            <a:off x="673150" y="6957566"/>
            <a:ext cx="8246417" cy="296466"/>
          </a:xfrm>
          <a:prstGeom prst="rect">
            <a:avLst/>
          </a:prstGeom>
        </p:spPr>
        <p:txBody>
          <a:bodyPr anchor="t" rtlCol="false" tIns="0" lIns="0" bIns="0" rIns="0">
            <a:spAutoFit/>
          </a:bodyPr>
          <a:lstStyle/>
          <a:p>
            <a:pPr algn="l">
              <a:lnSpc>
                <a:spcPts val="1874"/>
              </a:lnSpc>
            </a:pPr>
            <a:r>
              <a:rPr lang="en-US" sz="1124" b="true">
                <a:solidFill>
                  <a:srgbClr val="CAD6DE"/>
                </a:solidFill>
                <a:latin typeface="Cabin Bold"/>
                <a:ea typeface="Cabin Bold"/>
                <a:cs typeface="Cabin Bold"/>
                <a:sym typeface="Cabin Bold"/>
              </a:rPr>
              <a:t>Answer: B</a:t>
            </a:r>
            <a:r>
              <a:rPr lang="en-US" sz="1124">
                <a:solidFill>
                  <a:srgbClr val="CAD6DE"/>
                </a:solidFill>
                <a:latin typeface="Cabin"/>
                <a:ea typeface="Cabin"/>
                <a:cs typeface="Cabin"/>
                <a:sym typeface="Cabin"/>
              </a:rPr>
              <a:t> — Kafka streams live events in milliseconds, faster than traditional broadcast delays!</a:t>
            </a:r>
          </a:p>
        </p:txBody>
      </p:sp>
      <p:grpSp>
        <p:nvGrpSpPr>
          <p:cNvPr name="Group 58" id="58"/>
          <p:cNvGrpSpPr/>
          <p:nvPr/>
        </p:nvGrpSpPr>
        <p:grpSpPr>
          <a:xfrm rot="0">
            <a:off x="9218711" y="5957144"/>
            <a:ext cx="8545711" cy="1446460"/>
            <a:chOff x="0" y="0"/>
            <a:chExt cx="11394282" cy="1928613"/>
          </a:xfrm>
        </p:grpSpPr>
        <p:sp>
          <p:nvSpPr>
            <p:cNvPr name="Freeform 59" id="59"/>
            <p:cNvSpPr/>
            <p:nvPr/>
          </p:nvSpPr>
          <p:spPr>
            <a:xfrm flipH="false" flipV="false" rot="0">
              <a:off x="0" y="0"/>
              <a:ext cx="11394313" cy="1928622"/>
            </a:xfrm>
            <a:custGeom>
              <a:avLst/>
              <a:gdLst/>
              <a:ahLst/>
              <a:cxnLst/>
              <a:rect r="r" b="b" t="t" l="l"/>
              <a:pathLst>
                <a:path h="1928622" w="11394313">
                  <a:moveTo>
                    <a:pt x="0" y="29972"/>
                  </a:moveTo>
                  <a:cubicBezTo>
                    <a:pt x="0" y="13462"/>
                    <a:pt x="13462" y="0"/>
                    <a:pt x="29972" y="0"/>
                  </a:cubicBezTo>
                  <a:lnTo>
                    <a:pt x="11364341" y="0"/>
                  </a:lnTo>
                  <a:cubicBezTo>
                    <a:pt x="11380851" y="0"/>
                    <a:pt x="11394313" y="13462"/>
                    <a:pt x="11394313" y="29972"/>
                  </a:cubicBezTo>
                  <a:lnTo>
                    <a:pt x="11394313" y="1898650"/>
                  </a:lnTo>
                  <a:cubicBezTo>
                    <a:pt x="11394313" y="1915160"/>
                    <a:pt x="11380851" y="1928622"/>
                    <a:pt x="11364341" y="1928622"/>
                  </a:cubicBezTo>
                  <a:lnTo>
                    <a:pt x="29972" y="1928622"/>
                  </a:lnTo>
                  <a:cubicBezTo>
                    <a:pt x="13462" y="1928622"/>
                    <a:pt x="0" y="1915160"/>
                    <a:pt x="0" y="1898650"/>
                  </a:cubicBezTo>
                  <a:close/>
                </a:path>
              </a:pathLst>
            </a:custGeom>
            <a:solidFill>
              <a:srgbClr val="304755"/>
            </a:solidFill>
          </p:spPr>
        </p:sp>
      </p:grpSp>
      <p:grpSp>
        <p:nvGrpSpPr>
          <p:cNvPr name="Group 60" id="60"/>
          <p:cNvGrpSpPr/>
          <p:nvPr/>
        </p:nvGrpSpPr>
        <p:grpSpPr>
          <a:xfrm rot="0">
            <a:off x="9368284" y="6106716"/>
            <a:ext cx="448716" cy="448716"/>
            <a:chOff x="0" y="0"/>
            <a:chExt cx="598288" cy="598288"/>
          </a:xfrm>
        </p:grpSpPr>
        <p:sp>
          <p:nvSpPr>
            <p:cNvPr name="Freeform 61" id="61"/>
            <p:cNvSpPr/>
            <p:nvPr/>
          </p:nvSpPr>
          <p:spPr>
            <a:xfrm flipH="false" flipV="false" rot="0">
              <a:off x="0" y="0"/>
              <a:ext cx="598297" cy="598297"/>
            </a:xfrm>
            <a:custGeom>
              <a:avLst/>
              <a:gdLst/>
              <a:ahLst/>
              <a:cxnLst/>
              <a:rect r="r" b="b" t="t" l="l"/>
              <a:pathLst>
                <a:path h="598297" w="598297">
                  <a:moveTo>
                    <a:pt x="0" y="299085"/>
                  </a:moveTo>
                  <a:cubicBezTo>
                    <a:pt x="0" y="133985"/>
                    <a:pt x="133985" y="0"/>
                    <a:pt x="299085" y="0"/>
                  </a:cubicBezTo>
                  <a:cubicBezTo>
                    <a:pt x="464185" y="0"/>
                    <a:pt x="598297" y="133985"/>
                    <a:pt x="598297" y="299085"/>
                  </a:cubicBezTo>
                  <a:cubicBezTo>
                    <a:pt x="598297" y="464185"/>
                    <a:pt x="464312" y="598297"/>
                    <a:pt x="299085" y="598297"/>
                  </a:cubicBezTo>
                  <a:cubicBezTo>
                    <a:pt x="133858" y="598297"/>
                    <a:pt x="0" y="464312"/>
                    <a:pt x="0" y="299085"/>
                  </a:cubicBezTo>
                  <a:close/>
                </a:path>
              </a:pathLst>
            </a:custGeom>
            <a:solidFill>
              <a:srgbClr val="0A988B"/>
            </a:solidFill>
          </p:spPr>
        </p:sp>
      </p:grpSp>
      <p:sp>
        <p:nvSpPr>
          <p:cNvPr name="Freeform 62" id="62" descr="preencoded.png"/>
          <p:cNvSpPr/>
          <p:nvPr/>
        </p:nvSpPr>
        <p:spPr>
          <a:xfrm flipH="false" flipV="false" rot="0">
            <a:off x="9491662" y="6229945"/>
            <a:ext cx="201960" cy="201960"/>
          </a:xfrm>
          <a:custGeom>
            <a:avLst/>
            <a:gdLst/>
            <a:ahLst/>
            <a:cxnLst/>
            <a:rect r="r" b="b" t="t" l="l"/>
            <a:pathLst>
              <a:path h="201960" w="201960">
                <a:moveTo>
                  <a:pt x="0" y="0"/>
                </a:moveTo>
                <a:lnTo>
                  <a:pt x="201960" y="0"/>
                </a:lnTo>
                <a:lnTo>
                  <a:pt x="201960" y="201960"/>
                </a:lnTo>
                <a:lnTo>
                  <a:pt x="0" y="20196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63" id="63"/>
          <p:cNvSpPr txBox="true"/>
          <p:nvPr/>
        </p:nvSpPr>
        <p:spPr>
          <a:xfrm rot="0">
            <a:off x="9368284" y="6685955"/>
            <a:ext cx="1760041" cy="239017"/>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Round 8</a:t>
            </a:r>
          </a:p>
        </p:txBody>
      </p:sp>
      <p:sp>
        <p:nvSpPr>
          <p:cNvPr name="TextBox 64" id="64"/>
          <p:cNvSpPr txBox="true"/>
          <p:nvPr/>
        </p:nvSpPr>
        <p:spPr>
          <a:xfrm rot="0">
            <a:off x="9368284" y="6957566"/>
            <a:ext cx="8246566" cy="296466"/>
          </a:xfrm>
          <a:prstGeom prst="rect">
            <a:avLst/>
          </a:prstGeom>
        </p:spPr>
        <p:txBody>
          <a:bodyPr anchor="t" rtlCol="false" tIns="0" lIns="0" bIns="0" rIns="0">
            <a:spAutoFit/>
          </a:bodyPr>
          <a:lstStyle/>
          <a:p>
            <a:pPr algn="l">
              <a:lnSpc>
                <a:spcPts val="1874"/>
              </a:lnSpc>
            </a:pPr>
            <a:r>
              <a:rPr lang="en-US" sz="1124" b="true">
                <a:solidFill>
                  <a:srgbClr val="CAD6DE"/>
                </a:solidFill>
                <a:latin typeface="Cabin Bold"/>
                <a:ea typeface="Cabin Bold"/>
                <a:cs typeface="Cabin Bold"/>
                <a:sym typeface="Cabin Bold"/>
              </a:rPr>
              <a:t>Answer: B</a:t>
            </a:r>
            <a:r>
              <a:rPr lang="en-US" sz="1124">
                <a:solidFill>
                  <a:srgbClr val="CAD6DE"/>
                </a:solidFill>
                <a:latin typeface="Cabin"/>
                <a:ea typeface="Cabin"/>
                <a:cs typeface="Cabin"/>
                <a:sym typeface="Cabin"/>
              </a:rPr>
              <a:t> — APIs handle requests/responses, Kafka streams continuous real-time status updates!</a:t>
            </a:r>
          </a:p>
        </p:txBody>
      </p:sp>
      <p:grpSp>
        <p:nvGrpSpPr>
          <p:cNvPr name="Group 65" id="65"/>
          <p:cNvGrpSpPr/>
          <p:nvPr/>
        </p:nvGrpSpPr>
        <p:grpSpPr>
          <a:xfrm rot="0">
            <a:off x="523577" y="7646539"/>
            <a:ext cx="17240845" cy="28129"/>
            <a:chOff x="0" y="0"/>
            <a:chExt cx="22987793" cy="37505"/>
          </a:xfrm>
        </p:grpSpPr>
        <p:sp>
          <p:nvSpPr>
            <p:cNvPr name="Freeform 66" id="66"/>
            <p:cNvSpPr/>
            <p:nvPr/>
          </p:nvSpPr>
          <p:spPr>
            <a:xfrm flipH="false" flipV="false" rot="0">
              <a:off x="0" y="0"/>
              <a:ext cx="22987763" cy="37465"/>
            </a:xfrm>
            <a:custGeom>
              <a:avLst/>
              <a:gdLst/>
              <a:ahLst/>
              <a:cxnLst/>
              <a:rect r="r" b="b" t="t" l="l"/>
              <a:pathLst>
                <a:path h="37465" w="22987763">
                  <a:moveTo>
                    <a:pt x="0" y="0"/>
                  </a:moveTo>
                  <a:lnTo>
                    <a:pt x="22987763" y="0"/>
                  </a:lnTo>
                  <a:lnTo>
                    <a:pt x="22987763" y="37465"/>
                  </a:lnTo>
                  <a:lnTo>
                    <a:pt x="0" y="37465"/>
                  </a:lnTo>
                  <a:close/>
                </a:path>
              </a:pathLst>
            </a:custGeom>
            <a:solidFill>
              <a:srgbClr val="CAD6DE">
                <a:alpha val="24706"/>
              </a:srgbClr>
            </a:solidFill>
          </p:spPr>
        </p:sp>
      </p:grpSp>
      <p:sp>
        <p:nvSpPr>
          <p:cNvPr name="TextBox 67" id="67"/>
          <p:cNvSpPr txBox="true"/>
          <p:nvPr/>
        </p:nvSpPr>
        <p:spPr>
          <a:xfrm rot="0">
            <a:off x="523577" y="7870329"/>
            <a:ext cx="2112169" cy="292448"/>
          </a:xfrm>
          <a:prstGeom prst="rect">
            <a:avLst/>
          </a:prstGeom>
        </p:spPr>
        <p:txBody>
          <a:bodyPr anchor="t" rtlCol="false" tIns="0" lIns="0" bIns="0" rIns="0">
            <a:spAutoFit/>
          </a:bodyPr>
          <a:lstStyle/>
          <a:p>
            <a:pPr algn="l">
              <a:lnSpc>
                <a:spcPts val="2062"/>
              </a:lnSpc>
            </a:pPr>
            <a:r>
              <a:rPr lang="en-US" sz="1625">
                <a:solidFill>
                  <a:srgbClr val="FFFFFF"/>
                </a:solidFill>
                <a:latin typeface="Arimo"/>
                <a:ea typeface="Arimo"/>
                <a:cs typeface="Arimo"/>
                <a:sym typeface="Arimo"/>
              </a:rPr>
              <a:t>Scoring Guide</a:t>
            </a:r>
          </a:p>
        </p:txBody>
      </p:sp>
      <p:sp>
        <p:nvSpPr>
          <p:cNvPr name="TextBox 68" id="68"/>
          <p:cNvSpPr txBox="true"/>
          <p:nvPr/>
        </p:nvSpPr>
        <p:spPr>
          <a:xfrm rot="0">
            <a:off x="523577" y="8518922"/>
            <a:ext cx="5622280" cy="436513"/>
          </a:xfrm>
          <a:prstGeom prst="rect">
            <a:avLst/>
          </a:prstGeom>
        </p:spPr>
        <p:txBody>
          <a:bodyPr anchor="t" rtlCol="false" tIns="0" lIns="0" bIns="0" rIns="0">
            <a:spAutoFit/>
          </a:bodyPr>
          <a:lstStyle/>
          <a:p>
            <a:pPr algn="ctr">
              <a:lnSpc>
                <a:spcPts val="3875"/>
              </a:lnSpc>
            </a:pPr>
            <a:r>
              <a:rPr lang="en-US" sz="3875">
                <a:solidFill>
                  <a:srgbClr val="CAD6DE"/>
                </a:solidFill>
                <a:latin typeface="Arimo"/>
                <a:ea typeface="Arimo"/>
                <a:cs typeface="Arimo"/>
                <a:sym typeface="Arimo"/>
              </a:rPr>
              <a:t>8</a:t>
            </a:r>
          </a:p>
        </p:txBody>
      </p:sp>
      <p:sp>
        <p:nvSpPr>
          <p:cNvPr name="TextBox 69" id="69"/>
          <p:cNvSpPr txBox="true"/>
          <p:nvPr/>
        </p:nvSpPr>
        <p:spPr>
          <a:xfrm rot="0">
            <a:off x="2454622" y="9123164"/>
            <a:ext cx="1760041" cy="239017"/>
          </a:xfrm>
          <a:prstGeom prst="rect">
            <a:avLst/>
          </a:prstGeom>
        </p:spPr>
        <p:txBody>
          <a:bodyPr anchor="t" rtlCol="false" tIns="0" lIns="0" bIns="0" rIns="0">
            <a:spAutoFit/>
          </a:bodyPr>
          <a:lstStyle/>
          <a:p>
            <a:pPr algn="ctr">
              <a:lnSpc>
                <a:spcPts val="1687"/>
              </a:lnSpc>
            </a:pPr>
            <a:r>
              <a:rPr lang="en-US" sz="1375">
                <a:solidFill>
                  <a:srgbClr val="CAD6DE"/>
                </a:solidFill>
                <a:latin typeface="Arimo"/>
                <a:ea typeface="Arimo"/>
                <a:cs typeface="Arimo"/>
                <a:sym typeface="Arimo"/>
              </a:rPr>
              <a:t>Perfect Score!</a:t>
            </a:r>
          </a:p>
        </p:txBody>
      </p:sp>
      <p:sp>
        <p:nvSpPr>
          <p:cNvPr name="TextBox 70" id="70"/>
          <p:cNvSpPr txBox="true"/>
          <p:nvPr/>
        </p:nvSpPr>
        <p:spPr>
          <a:xfrm rot="0">
            <a:off x="523577" y="9394775"/>
            <a:ext cx="5622280" cy="296466"/>
          </a:xfrm>
          <a:prstGeom prst="rect">
            <a:avLst/>
          </a:prstGeom>
        </p:spPr>
        <p:txBody>
          <a:bodyPr anchor="t" rtlCol="false" tIns="0" lIns="0" bIns="0" rIns="0">
            <a:spAutoFit/>
          </a:bodyPr>
          <a:lstStyle/>
          <a:p>
            <a:pPr algn="ctr">
              <a:lnSpc>
                <a:spcPts val="1874"/>
              </a:lnSpc>
            </a:pPr>
            <a:r>
              <a:rPr lang="en-US" sz="1124">
                <a:solidFill>
                  <a:srgbClr val="CAD6DE"/>
                </a:solidFill>
                <a:latin typeface="Cabin"/>
                <a:ea typeface="Cabin"/>
                <a:cs typeface="Cabin"/>
                <a:sym typeface="Cabin"/>
              </a:rPr>
              <a:t>You're an API-Kafka master! Time to put these skills on your CV and demand a raise!</a:t>
            </a:r>
          </a:p>
        </p:txBody>
      </p:sp>
      <p:sp>
        <p:nvSpPr>
          <p:cNvPr name="TextBox 71" id="71"/>
          <p:cNvSpPr txBox="true"/>
          <p:nvPr/>
        </p:nvSpPr>
        <p:spPr>
          <a:xfrm rot="0">
            <a:off x="6332785" y="8518922"/>
            <a:ext cx="5622280" cy="436513"/>
          </a:xfrm>
          <a:prstGeom prst="rect">
            <a:avLst/>
          </a:prstGeom>
        </p:spPr>
        <p:txBody>
          <a:bodyPr anchor="t" rtlCol="false" tIns="0" lIns="0" bIns="0" rIns="0">
            <a:spAutoFit/>
          </a:bodyPr>
          <a:lstStyle/>
          <a:p>
            <a:pPr algn="ctr">
              <a:lnSpc>
                <a:spcPts val="3875"/>
              </a:lnSpc>
            </a:pPr>
            <a:r>
              <a:rPr lang="en-US" sz="3875">
                <a:solidFill>
                  <a:srgbClr val="CAD6DE"/>
                </a:solidFill>
                <a:latin typeface="Arimo"/>
                <a:ea typeface="Arimo"/>
                <a:cs typeface="Arimo"/>
                <a:sym typeface="Arimo"/>
              </a:rPr>
              <a:t>5-7</a:t>
            </a:r>
          </a:p>
        </p:txBody>
      </p:sp>
      <p:sp>
        <p:nvSpPr>
          <p:cNvPr name="TextBox 72" id="72"/>
          <p:cNvSpPr txBox="true"/>
          <p:nvPr/>
        </p:nvSpPr>
        <p:spPr>
          <a:xfrm rot="0">
            <a:off x="8263830" y="9123164"/>
            <a:ext cx="1760041" cy="239017"/>
          </a:xfrm>
          <a:prstGeom prst="rect">
            <a:avLst/>
          </a:prstGeom>
        </p:spPr>
        <p:txBody>
          <a:bodyPr anchor="t" rtlCol="false" tIns="0" lIns="0" bIns="0" rIns="0">
            <a:spAutoFit/>
          </a:bodyPr>
          <a:lstStyle/>
          <a:p>
            <a:pPr algn="ctr">
              <a:lnSpc>
                <a:spcPts val="1687"/>
              </a:lnSpc>
            </a:pPr>
            <a:r>
              <a:rPr lang="en-US" sz="1375">
                <a:solidFill>
                  <a:srgbClr val="CAD6DE"/>
                </a:solidFill>
                <a:latin typeface="Arimo"/>
                <a:ea typeface="Arimo"/>
                <a:cs typeface="Arimo"/>
                <a:sym typeface="Arimo"/>
              </a:rPr>
              <a:t>Pretty Good!</a:t>
            </a:r>
          </a:p>
        </p:txBody>
      </p:sp>
      <p:sp>
        <p:nvSpPr>
          <p:cNvPr name="TextBox 73" id="73"/>
          <p:cNvSpPr txBox="true"/>
          <p:nvPr/>
        </p:nvSpPr>
        <p:spPr>
          <a:xfrm rot="0">
            <a:off x="6332785" y="9394775"/>
            <a:ext cx="5622280" cy="535781"/>
          </a:xfrm>
          <a:prstGeom prst="rect">
            <a:avLst/>
          </a:prstGeom>
        </p:spPr>
        <p:txBody>
          <a:bodyPr anchor="t" rtlCol="false" tIns="0" lIns="0" bIns="0" rIns="0">
            <a:spAutoFit/>
          </a:bodyPr>
          <a:lstStyle/>
          <a:p>
            <a:pPr algn="ctr">
              <a:lnSpc>
                <a:spcPts val="1874"/>
              </a:lnSpc>
            </a:pPr>
            <a:r>
              <a:rPr lang="en-US" sz="1124">
                <a:solidFill>
                  <a:srgbClr val="CAD6DE"/>
                </a:solidFill>
                <a:latin typeface="Cabin"/>
                <a:ea typeface="Cabin"/>
                <a:cs typeface="Cabin"/>
                <a:sym typeface="Cabin"/>
              </a:rPr>
              <a:t>Solid understanding! A few more samosas and revision sessions will get you to expert level!</a:t>
            </a:r>
          </a:p>
        </p:txBody>
      </p:sp>
      <p:sp>
        <p:nvSpPr>
          <p:cNvPr name="TextBox 74" id="74"/>
          <p:cNvSpPr txBox="true"/>
          <p:nvPr/>
        </p:nvSpPr>
        <p:spPr>
          <a:xfrm rot="0">
            <a:off x="12141994" y="8518922"/>
            <a:ext cx="5622429" cy="436513"/>
          </a:xfrm>
          <a:prstGeom prst="rect">
            <a:avLst/>
          </a:prstGeom>
        </p:spPr>
        <p:txBody>
          <a:bodyPr anchor="t" rtlCol="false" tIns="0" lIns="0" bIns="0" rIns="0">
            <a:spAutoFit/>
          </a:bodyPr>
          <a:lstStyle/>
          <a:p>
            <a:pPr algn="ctr">
              <a:lnSpc>
                <a:spcPts val="3875"/>
              </a:lnSpc>
            </a:pPr>
            <a:r>
              <a:rPr lang="en-US" sz="3875">
                <a:solidFill>
                  <a:srgbClr val="CAD6DE"/>
                </a:solidFill>
                <a:latin typeface="Arimo"/>
                <a:ea typeface="Arimo"/>
                <a:cs typeface="Arimo"/>
                <a:sym typeface="Arimo"/>
              </a:rPr>
              <a:t>0-4</a:t>
            </a:r>
          </a:p>
        </p:txBody>
      </p:sp>
      <p:sp>
        <p:nvSpPr>
          <p:cNvPr name="TextBox 75" id="75"/>
          <p:cNvSpPr txBox="true"/>
          <p:nvPr/>
        </p:nvSpPr>
        <p:spPr>
          <a:xfrm rot="0">
            <a:off x="14073187" y="9123164"/>
            <a:ext cx="1760041" cy="239017"/>
          </a:xfrm>
          <a:prstGeom prst="rect">
            <a:avLst/>
          </a:prstGeom>
        </p:spPr>
        <p:txBody>
          <a:bodyPr anchor="t" rtlCol="false" tIns="0" lIns="0" bIns="0" rIns="0">
            <a:spAutoFit/>
          </a:bodyPr>
          <a:lstStyle/>
          <a:p>
            <a:pPr algn="ctr">
              <a:lnSpc>
                <a:spcPts val="1687"/>
              </a:lnSpc>
            </a:pPr>
            <a:r>
              <a:rPr lang="en-US" sz="1375">
                <a:solidFill>
                  <a:srgbClr val="CAD6DE"/>
                </a:solidFill>
                <a:latin typeface="Arimo"/>
                <a:ea typeface="Arimo"/>
                <a:cs typeface="Arimo"/>
                <a:sym typeface="Arimo"/>
              </a:rPr>
              <a:t>Keep Learning!</a:t>
            </a:r>
          </a:p>
        </p:txBody>
      </p:sp>
      <p:sp>
        <p:nvSpPr>
          <p:cNvPr name="TextBox 76" id="76"/>
          <p:cNvSpPr txBox="true"/>
          <p:nvPr/>
        </p:nvSpPr>
        <p:spPr>
          <a:xfrm rot="0">
            <a:off x="12141994" y="9394775"/>
            <a:ext cx="5622429" cy="535781"/>
          </a:xfrm>
          <a:prstGeom prst="rect">
            <a:avLst/>
          </a:prstGeom>
        </p:spPr>
        <p:txBody>
          <a:bodyPr anchor="t" rtlCol="false" tIns="0" lIns="0" bIns="0" rIns="0">
            <a:spAutoFit/>
          </a:bodyPr>
          <a:lstStyle/>
          <a:p>
            <a:pPr algn="ctr">
              <a:lnSpc>
                <a:spcPts val="1874"/>
              </a:lnSpc>
            </a:pPr>
            <a:r>
              <a:rPr lang="en-US" sz="1124">
                <a:solidFill>
                  <a:srgbClr val="CAD6DE"/>
                </a:solidFill>
                <a:latin typeface="Cabin"/>
                <a:ea typeface="Cabin"/>
                <a:cs typeface="Cabin"/>
                <a:sym typeface="Cabin"/>
              </a:rPr>
              <a:t>Don't worry—even the best developers started somewhere! Time for more practice and chai breaks!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DAG4eCqRlwQ</dc:identifier>
  <dcterms:modified xsi:type="dcterms:W3CDTF">2011-08-01T06:04:30Z</dcterms:modified>
  <cp:revision>1</cp:revision>
  <dc:title>API and Kafka Quiz Challenge</dc:title>
</cp:coreProperties>
</file>