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mo" charset="1" panose="020B0604020202020204"/>
      <p:regular r:id="rId16"/>
    </p:embeddedFont>
    <p:embeddedFont>
      <p:font typeface="Cabin" charset="1" panose="00000500000000000000"/>
      <p:regular r:id="rId17"/>
    </p:embeddedFont>
    <p:embeddedFont>
      <p:font typeface="Cabin Bold" charset="1" panose="000008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gamma.app/?utm_source=made-with-gamma" TargetMode="External" Type="http://schemas.openxmlformats.org/officeDocument/2006/relationships/hyperlink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gamma.app/?utm_source=made-with-gamma" TargetMode="External" Type="http://schemas.openxmlformats.org/officeDocument/2006/relationships/hyperlink"/><Relationship Id="rId4" Target="../media/image2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svg" Type="http://schemas.openxmlformats.org/officeDocument/2006/relationships/image"/><Relationship Id="rId11" Target="../media/image22.png" Type="http://schemas.openxmlformats.org/officeDocument/2006/relationships/image"/><Relationship Id="rId12" Target="../media/image23.svg" Type="http://schemas.openxmlformats.org/officeDocument/2006/relationships/image"/><Relationship Id="rId13" Target="../media/image24.png" Type="http://schemas.openxmlformats.org/officeDocument/2006/relationships/image"/><Relationship Id="rId14" Target="../media/image25.svg" Type="http://schemas.openxmlformats.org/officeDocument/2006/relationships/image"/><Relationship Id="rId15" Target="../media/image26.png" Type="http://schemas.openxmlformats.org/officeDocument/2006/relationships/image"/><Relationship Id="rId16" Target="../media/image27.svg" Type="http://schemas.openxmlformats.org/officeDocument/2006/relationships/image"/><Relationship Id="rId17" Target="../media/image28.png" Type="http://schemas.openxmlformats.org/officeDocument/2006/relationships/image"/><Relationship Id="rId18" Target="../media/image29.svg" Type="http://schemas.openxmlformats.org/officeDocument/2006/relationships/image"/><Relationship Id="rId2" Target="../media/image1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2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283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47155" y="3024336"/>
            <a:ext cx="9335691" cy="1817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API and Kafka Quiz Challenge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7155" y="5194995"/>
            <a:ext cx="9335691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283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2757487"/>
            <a:chOff x="0" y="0"/>
            <a:chExt cx="24384000" cy="367665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384000" cy="3676650"/>
            </a:xfrm>
            <a:custGeom>
              <a:avLst/>
              <a:gdLst/>
              <a:ahLst/>
              <a:cxnLst/>
              <a:rect r="r" b="b" t="t" l="l"/>
              <a:pathLst>
                <a:path h="36766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676650"/>
                  </a:lnTo>
                  <a:lnTo>
                    <a:pt x="0" y="3676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6" r="0" b="-86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72120" y="3326011"/>
            <a:ext cx="5874692" cy="686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2"/>
              </a:lnSpc>
            </a:pPr>
            <a:r>
              <a:rPr lang="en-US" sz="406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Round 1: API Basics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2120" y="4082057"/>
            <a:ext cx="11859369" cy="408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You're ordering biryani on Swiggy at 2 AM. What's the API doing?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57832" y="4807000"/>
            <a:ext cx="8290172" cy="2351038"/>
            <a:chOff x="0" y="0"/>
            <a:chExt cx="11053563" cy="313471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9050" y="19050"/>
              <a:ext cx="11015472" cy="3096514"/>
            </a:xfrm>
            <a:custGeom>
              <a:avLst/>
              <a:gdLst/>
              <a:ahLst/>
              <a:cxnLst/>
              <a:rect r="r" b="b" t="t" l="l"/>
              <a:pathLst>
                <a:path h="3096514" w="11015472">
                  <a:moveTo>
                    <a:pt x="0" y="44069"/>
                  </a:moveTo>
                  <a:cubicBezTo>
                    <a:pt x="0" y="19812"/>
                    <a:pt x="19939" y="0"/>
                    <a:pt x="44577" y="0"/>
                  </a:cubicBezTo>
                  <a:lnTo>
                    <a:pt x="10970895" y="0"/>
                  </a:lnTo>
                  <a:cubicBezTo>
                    <a:pt x="10995533" y="0"/>
                    <a:pt x="11015472" y="19812"/>
                    <a:pt x="11015472" y="44069"/>
                  </a:cubicBezTo>
                  <a:lnTo>
                    <a:pt x="11015472" y="3052445"/>
                  </a:lnTo>
                  <a:cubicBezTo>
                    <a:pt x="11015472" y="3076829"/>
                    <a:pt x="10995533" y="3096514"/>
                    <a:pt x="10970895" y="3096514"/>
                  </a:cubicBezTo>
                  <a:lnTo>
                    <a:pt x="44577" y="3096514"/>
                  </a:lnTo>
                  <a:cubicBezTo>
                    <a:pt x="19939" y="3096514"/>
                    <a:pt x="0" y="3076702"/>
                    <a:pt x="0" y="3052445"/>
                  </a:cubicBezTo>
                  <a:close/>
                </a:path>
              </a:pathLst>
            </a:custGeom>
            <a:solidFill>
              <a:srgbClr val="112836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053572" cy="3134614"/>
            </a:xfrm>
            <a:custGeom>
              <a:avLst/>
              <a:gdLst/>
              <a:ahLst/>
              <a:cxnLst/>
              <a:rect r="r" b="b" t="t" l="l"/>
              <a:pathLst>
                <a:path h="3134614" w="11053572">
                  <a:moveTo>
                    <a:pt x="0" y="63119"/>
                  </a:moveTo>
                  <a:cubicBezTo>
                    <a:pt x="0" y="28067"/>
                    <a:pt x="28575" y="0"/>
                    <a:pt x="63627" y="0"/>
                  </a:cubicBezTo>
                  <a:lnTo>
                    <a:pt x="10989945" y="0"/>
                  </a:lnTo>
                  <a:lnTo>
                    <a:pt x="10989945" y="19050"/>
                  </a:lnTo>
                  <a:lnTo>
                    <a:pt x="10989945" y="0"/>
                  </a:lnTo>
                  <a:cubicBezTo>
                    <a:pt x="11024870" y="0"/>
                    <a:pt x="11053572" y="28067"/>
                    <a:pt x="11053572" y="63119"/>
                  </a:cubicBezTo>
                  <a:lnTo>
                    <a:pt x="11034522" y="63119"/>
                  </a:lnTo>
                  <a:lnTo>
                    <a:pt x="11053572" y="63119"/>
                  </a:lnTo>
                  <a:lnTo>
                    <a:pt x="11053572" y="3071495"/>
                  </a:lnTo>
                  <a:lnTo>
                    <a:pt x="11034522" y="3071495"/>
                  </a:lnTo>
                  <a:lnTo>
                    <a:pt x="11053572" y="3071495"/>
                  </a:lnTo>
                  <a:cubicBezTo>
                    <a:pt x="11053572" y="3106547"/>
                    <a:pt x="11024997" y="3134614"/>
                    <a:pt x="10989945" y="3134614"/>
                  </a:cubicBezTo>
                  <a:lnTo>
                    <a:pt x="10989945" y="3115564"/>
                  </a:lnTo>
                  <a:lnTo>
                    <a:pt x="10989945" y="3134614"/>
                  </a:lnTo>
                  <a:lnTo>
                    <a:pt x="63627" y="3134614"/>
                  </a:lnTo>
                  <a:lnTo>
                    <a:pt x="63627" y="3115564"/>
                  </a:lnTo>
                  <a:lnTo>
                    <a:pt x="63627" y="3134614"/>
                  </a:lnTo>
                  <a:cubicBezTo>
                    <a:pt x="28702" y="3134614"/>
                    <a:pt x="0" y="3106547"/>
                    <a:pt x="0" y="3071495"/>
                  </a:cubicBezTo>
                  <a:lnTo>
                    <a:pt x="0" y="63119"/>
                  </a:lnTo>
                  <a:lnTo>
                    <a:pt x="19050" y="63119"/>
                  </a:lnTo>
                  <a:lnTo>
                    <a:pt x="0" y="63119"/>
                  </a:lnTo>
                  <a:moveTo>
                    <a:pt x="38100" y="63119"/>
                  </a:moveTo>
                  <a:lnTo>
                    <a:pt x="38100" y="3071495"/>
                  </a:lnTo>
                  <a:lnTo>
                    <a:pt x="19050" y="3071495"/>
                  </a:lnTo>
                  <a:lnTo>
                    <a:pt x="38100" y="3071495"/>
                  </a:lnTo>
                  <a:cubicBezTo>
                    <a:pt x="38100" y="3085211"/>
                    <a:pt x="49403" y="3096514"/>
                    <a:pt x="63627" y="3096514"/>
                  </a:cubicBezTo>
                  <a:lnTo>
                    <a:pt x="10989945" y="3096514"/>
                  </a:lnTo>
                  <a:cubicBezTo>
                    <a:pt x="11004169" y="3096514"/>
                    <a:pt x="11015472" y="3085084"/>
                    <a:pt x="11015472" y="3071495"/>
                  </a:cubicBezTo>
                  <a:lnTo>
                    <a:pt x="11015472" y="63119"/>
                  </a:lnTo>
                  <a:cubicBezTo>
                    <a:pt x="11015472" y="49403"/>
                    <a:pt x="11004169" y="38100"/>
                    <a:pt x="10989945" y="38100"/>
                  </a:cubicBezTo>
                  <a:lnTo>
                    <a:pt x="63627" y="38100"/>
                  </a:lnTo>
                  <a:lnTo>
                    <a:pt x="63627" y="19050"/>
                  </a:lnTo>
                  <a:lnTo>
                    <a:pt x="63627" y="38100"/>
                  </a:lnTo>
                  <a:cubicBezTo>
                    <a:pt x="49403" y="38100"/>
                    <a:pt x="38100" y="49530"/>
                    <a:pt x="38100" y="63119"/>
                  </a:cubicBezTo>
                  <a:close/>
                </a:path>
              </a:pathLst>
            </a:custGeom>
            <a:solidFill>
              <a:srgbClr val="49606E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00695" y="4849862"/>
            <a:ext cx="8204447" cy="661690"/>
            <a:chOff x="0" y="0"/>
            <a:chExt cx="10939263" cy="88225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39272" cy="882269"/>
            </a:xfrm>
            <a:custGeom>
              <a:avLst/>
              <a:gdLst/>
              <a:ahLst/>
              <a:cxnLst/>
              <a:rect r="r" b="b" t="t" l="l"/>
              <a:pathLst>
                <a:path h="882269" w="10939272">
                  <a:moveTo>
                    <a:pt x="0" y="0"/>
                  </a:moveTo>
                  <a:lnTo>
                    <a:pt x="10939272" y="0"/>
                  </a:lnTo>
                  <a:lnTo>
                    <a:pt x="10939272" y="882269"/>
                  </a:lnTo>
                  <a:lnTo>
                    <a:pt x="0" y="882269"/>
                  </a:lnTo>
                  <a:close/>
                </a:path>
              </a:pathLst>
            </a:custGeom>
            <a:solidFill>
              <a:srgbClr val="304755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4737498" y="5011936"/>
            <a:ext cx="330845" cy="375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562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1259" y="5713065"/>
            <a:ext cx="2595414" cy="34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1259" y="6122194"/>
            <a:ext cx="7763321" cy="772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687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The API is sleeping because it's night time, so your order gets delayed until morning when servers wake up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239994" y="4807000"/>
            <a:ext cx="8290172" cy="2351038"/>
            <a:chOff x="0" y="0"/>
            <a:chExt cx="11053563" cy="313471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9050" y="19050"/>
              <a:ext cx="11015472" cy="3096514"/>
            </a:xfrm>
            <a:custGeom>
              <a:avLst/>
              <a:gdLst/>
              <a:ahLst/>
              <a:cxnLst/>
              <a:rect r="r" b="b" t="t" l="l"/>
              <a:pathLst>
                <a:path h="3096514" w="11015472">
                  <a:moveTo>
                    <a:pt x="0" y="44069"/>
                  </a:moveTo>
                  <a:cubicBezTo>
                    <a:pt x="0" y="19812"/>
                    <a:pt x="19939" y="0"/>
                    <a:pt x="44577" y="0"/>
                  </a:cubicBezTo>
                  <a:lnTo>
                    <a:pt x="10970895" y="0"/>
                  </a:lnTo>
                  <a:cubicBezTo>
                    <a:pt x="10995533" y="0"/>
                    <a:pt x="11015472" y="19812"/>
                    <a:pt x="11015472" y="44069"/>
                  </a:cubicBezTo>
                  <a:lnTo>
                    <a:pt x="11015472" y="3052445"/>
                  </a:lnTo>
                  <a:cubicBezTo>
                    <a:pt x="11015472" y="3076829"/>
                    <a:pt x="10995533" y="3096514"/>
                    <a:pt x="10970895" y="3096514"/>
                  </a:cubicBezTo>
                  <a:lnTo>
                    <a:pt x="44577" y="3096514"/>
                  </a:lnTo>
                  <a:cubicBezTo>
                    <a:pt x="19939" y="3096514"/>
                    <a:pt x="0" y="3076702"/>
                    <a:pt x="0" y="3052445"/>
                  </a:cubicBezTo>
                  <a:close/>
                </a:path>
              </a:pathLst>
            </a:custGeom>
            <a:solidFill>
              <a:srgbClr val="112836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053572" cy="3134614"/>
            </a:xfrm>
            <a:custGeom>
              <a:avLst/>
              <a:gdLst/>
              <a:ahLst/>
              <a:cxnLst/>
              <a:rect r="r" b="b" t="t" l="l"/>
              <a:pathLst>
                <a:path h="3134614" w="11053572">
                  <a:moveTo>
                    <a:pt x="0" y="63119"/>
                  </a:moveTo>
                  <a:cubicBezTo>
                    <a:pt x="0" y="28067"/>
                    <a:pt x="28575" y="0"/>
                    <a:pt x="63627" y="0"/>
                  </a:cubicBezTo>
                  <a:lnTo>
                    <a:pt x="10989945" y="0"/>
                  </a:lnTo>
                  <a:lnTo>
                    <a:pt x="10989945" y="19050"/>
                  </a:lnTo>
                  <a:lnTo>
                    <a:pt x="10989945" y="0"/>
                  </a:lnTo>
                  <a:cubicBezTo>
                    <a:pt x="11024870" y="0"/>
                    <a:pt x="11053572" y="28067"/>
                    <a:pt x="11053572" y="63119"/>
                  </a:cubicBezTo>
                  <a:lnTo>
                    <a:pt x="11034522" y="63119"/>
                  </a:lnTo>
                  <a:lnTo>
                    <a:pt x="11053572" y="63119"/>
                  </a:lnTo>
                  <a:lnTo>
                    <a:pt x="11053572" y="3071495"/>
                  </a:lnTo>
                  <a:lnTo>
                    <a:pt x="11034522" y="3071495"/>
                  </a:lnTo>
                  <a:lnTo>
                    <a:pt x="11053572" y="3071495"/>
                  </a:lnTo>
                  <a:cubicBezTo>
                    <a:pt x="11053572" y="3106547"/>
                    <a:pt x="11024997" y="3134614"/>
                    <a:pt x="10989945" y="3134614"/>
                  </a:cubicBezTo>
                  <a:lnTo>
                    <a:pt x="10989945" y="3115564"/>
                  </a:lnTo>
                  <a:lnTo>
                    <a:pt x="10989945" y="3134614"/>
                  </a:lnTo>
                  <a:lnTo>
                    <a:pt x="63627" y="3134614"/>
                  </a:lnTo>
                  <a:lnTo>
                    <a:pt x="63627" y="3115564"/>
                  </a:lnTo>
                  <a:lnTo>
                    <a:pt x="63627" y="3134614"/>
                  </a:lnTo>
                  <a:cubicBezTo>
                    <a:pt x="28702" y="3134614"/>
                    <a:pt x="0" y="3106547"/>
                    <a:pt x="0" y="3071495"/>
                  </a:cubicBezTo>
                  <a:lnTo>
                    <a:pt x="0" y="63119"/>
                  </a:lnTo>
                  <a:lnTo>
                    <a:pt x="19050" y="63119"/>
                  </a:lnTo>
                  <a:lnTo>
                    <a:pt x="0" y="63119"/>
                  </a:lnTo>
                  <a:moveTo>
                    <a:pt x="38100" y="63119"/>
                  </a:moveTo>
                  <a:lnTo>
                    <a:pt x="38100" y="3071495"/>
                  </a:lnTo>
                  <a:lnTo>
                    <a:pt x="19050" y="3071495"/>
                  </a:lnTo>
                  <a:lnTo>
                    <a:pt x="38100" y="3071495"/>
                  </a:lnTo>
                  <a:cubicBezTo>
                    <a:pt x="38100" y="3085211"/>
                    <a:pt x="49403" y="3096514"/>
                    <a:pt x="63627" y="3096514"/>
                  </a:cubicBezTo>
                  <a:lnTo>
                    <a:pt x="10989945" y="3096514"/>
                  </a:lnTo>
                  <a:cubicBezTo>
                    <a:pt x="11004169" y="3096514"/>
                    <a:pt x="11015472" y="3085084"/>
                    <a:pt x="11015472" y="3071495"/>
                  </a:cubicBezTo>
                  <a:lnTo>
                    <a:pt x="11015472" y="63119"/>
                  </a:lnTo>
                  <a:cubicBezTo>
                    <a:pt x="11015472" y="49403"/>
                    <a:pt x="11004169" y="38100"/>
                    <a:pt x="10989945" y="38100"/>
                  </a:cubicBezTo>
                  <a:lnTo>
                    <a:pt x="63627" y="38100"/>
                  </a:lnTo>
                  <a:lnTo>
                    <a:pt x="63627" y="19050"/>
                  </a:lnTo>
                  <a:lnTo>
                    <a:pt x="63627" y="38100"/>
                  </a:lnTo>
                  <a:cubicBezTo>
                    <a:pt x="49403" y="38100"/>
                    <a:pt x="38100" y="49530"/>
                    <a:pt x="38100" y="63119"/>
                  </a:cubicBezTo>
                  <a:close/>
                </a:path>
              </a:pathLst>
            </a:custGeom>
            <a:solidFill>
              <a:srgbClr val="49606E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282856" y="4849862"/>
            <a:ext cx="8204447" cy="661690"/>
            <a:chOff x="0" y="0"/>
            <a:chExt cx="10939263" cy="88225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39272" cy="882269"/>
            </a:xfrm>
            <a:custGeom>
              <a:avLst/>
              <a:gdLst/>
              <a:ahLst/>
              <a:cxnLst/>
              <a:rect r="r" b="b" t="t" l="l"/>
              <a:pathLst>
                <a:path h="882269" w="10939272">
                  <a:moveTo>
                    <a:pt x="0" y="0"/>
                  </a:moveTo>
                  <a:lnTo>
                    <a:pt x="10939272" y="0"/>
                  </a:lnTo>
                  <a:lnTo>
                    <a:pt x="10939272" y="882269"/>
                  </a:lnTo>
                  <a:lnTo>
                    <a:pt x="0" y="882269"/>
                  </a:lnTo>
                  <a:close/>
                </a:path>
              </a:pathLst>
            </a:custGeom>
            <a:solidFill>
              <a:srgbClr val="304755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3219659" y="5011936"/>
            <a:ext cx="330845" cy="375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562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03420" y="5713065"/>
            <a:ext cx="2595414" cy="34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B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503420" y="6122194"/>
            <a:ext cx="7763321" cy="772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687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Acting as a waiter between you and the restaurant—taking your order, checking availability, and bringing back the confirmation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757832" y="7350026"/>
            <a:ext cx="8290172" cy="2351038"/>
            <a:chOff x="0" y="0"/>
            <a:chExt cx="11053563" cy="313471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9050" y="19050"/>
              <a:ext cx="11015472" cy="3096514"/>
            </a:xfrm>
            <a:custGeom>
              <a:avLst/>
              <a:gdLst/>
              <a:ahLst/>
              <a:cxnLst/>
              <a:rect r="r" b="b" t="t" l="l"/>
              <a:pathLst>
                <a:path h="3096514" w="11015472">
                  <a:moveTo>
                    <a:pt x="0" y="44069"/>
                  </a:moveTo>
                  <a:cubicBezTo>
                    <a:pt x="0" y="19812"/>
                    <a:pt x="19939" y="0"/>
                    <a:pt x="44577" y="0"/>
                  </a:cubicBezTo>
                  <a:lnTo>
                    <a:pt x="10970895" y="0"/>
                  </a:lnTo>
                  <a:cubicBezTo>
                    <a:pt x="10995533" y="0"/>
                    <a:pt x="11015472" y="19812"/>
                    <a:pt x="11015472" y="44069"/>
                  </a:cubicBezTo>
                  <a:lnTo>
                    <a:pt x="11015472" y="3052445"/>
                  </a:lnTo>
                  <a:cubicBezTo>
                    <a:pt x="11015472" y="3076829"/>
                    <a:pt x="10995533" y="3096514"/>
                    <a:pt x="10970895" y="3096514"/>
                  </a:cubicBezTo>
                  <a:lnTo>
                    <a:pt x="44577" y="3096514"/>
                  </a:lnTo>
                  <a:cubicBezTo>
                    <a:pt x="19939" y="3096514"/>
                    <a:pt x="0" y="3076702"/>
                    <a:pt x="0" y="3052445"/>
                  </a:cubicBezTo>
                  <a:close/>
                </a:path>
              </a:pathLst>
            </a:custGeom>
            <a:solidFill>
              <a:srgbClr val="112836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053572" cy="3134614"/>
            </a:xfrm>
            <a:custGeom>
              <a:avLst/>
              <a:gdLst/>
              <a:ahLst/>
              <a:cxnLst/>
              <a:rect r="r" b="b" t="t" l="l"/>
              <a:pathLst>
                <a:path h="3134614" w="11053572">
                  <a:moveTo>
                    <a:pt x="0" y="63119"/>
                  </a:moveTo>
                  <a:cubicBezTo>
                    <a:pt x="0" y="28067"/>
                    <a:pt x="28575" y="0"/>
                    <a:pt x="63627" y="0"/>
                  </a:cubicBezTo>
                  <a:lnTo>
                    <a:pt x="10989945" y="0"/>
                  </a:lnTo>
                  <a:lnTo>
                    <a:pt x="10989945" y="19050"/>
                  </a:lnTo>
                  <a:lnTo>
                    <a:pt x="10989945" y="0"/>
                  </a:lnTo>
                  <a:cubicBezTo>
                    <a:pt x="11024870" y="0"/>
                    <a:pt x="11053572" y="28067"/>
                    <a:pt x="11053572" y="63119"/>
                  </a:cubicBezTo>
                  <a:lnTo>
                    <a:pt x="11034522" y="63119"/>
                  </a:lnTo>
                  <a:lnTo>
                    <a:pt x="11053572" y="63119"/>
                  </a:lnTo>
                  <a:lnTo>
                    <a:pt x="11053572" y="3071495"/>
                  </a:lnTo>
                  <a:lnTo>
                    <a:pt x="11034522" y="3071495"/>
                  </a:lnTo>
                  <a:lnTo>
                    <a:pt x="11053572" y="3071495"/>
                  </a:lnTo>
                  <a:cubicBezTo>
                    <a:pt x="11053572" y="3106547"/>
                    <a:pt x="11024997" y="3134614"/>
                    <a:pt x="10989945" y="3134614"/>
                  </a:cubicBezTo>
                  <a:lnTo>
                    <a:pt x="10989945" y="3115564"/>
                  </a:lnTo>
                  <a:lnTo>
                    <a:pt x="10989945" y="3134614"/>
                  </a:lnTo>
                  <a:lnTo>
                    <a:pt x="63627" y="3134614"/>
                  </a:lnTo>
                  <a:lnTo>
                    <a:pt x="63627" y="3115564"/>
                  </a:lnTo>
                  <a:lnTo>
                    <a:pt x="63627" y="3134614"/>
                  </a:lnTo>
                  <a:cubicBezTo>
                    <a:pt x="28702" y="3134614"/>
                    <a:pt x="0" y="3106547"/>
                    <a:pt x="0" y="3071495"/>
                  </a:cubicBezTo>
                  <a:lnTo>
                    <a:pt x="0" y="63119"/>
                  </a:lnTo>
                  <a:lnTo>
                    <a:pt x="19050" y="63119"/>
                  </a:lnTo>
                  <a:lnTo>
                    <a:pt x="0" y="63119"/>
                  </a:lnTo>
                  <a:moveTo>
                    <a:pt x="38100" y="63119"/>
                  </a:moveTo>
                  <a:lnTo>
                    <a:pt x="38100" y="3071495"/>
                  </a:lnTo>
                  <a:lnTo>
                    <a:pt x="19050" y="3071495"/>
                  </a:lnTo>
                  <a:lnTo>
                    <a:pt x="38100" y="3071495"/>
                  </a:lnTo>
                  <a:cubicBezTo>
                    <a:pt x="38100" y="3085211"/>
                    <a:pt x="49403" y="3096514"/>
                    <a:pt x="63627" y="3096514"/>
                  </a:cubicBezTo>
                  <a:lnTo>
                    <a:pt x="10989945" y="3096514"/>
                  </a:lnTo>
                  <a:cubicBezTo>
                    <a:pt x="11004169" y="3096514"/>
                    <a:pt x="11015472" y="3085084"/>
                    <a:pt x="11015472" y="3071495"/>
                  </a:cubicBezTo>
                  <a:lnTo>
                    <a:pt x="11015472" y="63119"/>
                  </a:lnTo>
                  <a:cubicBezTo>
                    <a:pt x="11015472" y="49403"/>
                    <a:pt x="11004169" y="38100"/>
                    <a:pt x="10989945" y="38100"/>
                  </a:cubicBezTo>
                  <a:lnTo>
                    <a:pt x="63627" y="38100"/>
                  </a:lnTo>
                  <a:lnTo>
                    <a:pt x="63627" y="19050"/>
                  </a:lnTo>
                  <a:lnTo>
                    <a:pt x="63627" y="38100"/>
                  </a:lnTo>
                  <a:cubicBezTo>
                    <a:pt x="49403" y="38100"/>
                    <a:pt x="38100" y="49530"/>
                    <a:pt x="38100" y="63119"/>
                  </a:cubicBezTo>
                  <a:close/>
                </a:path>
              </a:pathLst>
            </a:custGeom>
            <a:solidFill>
              <a:srgbClr val="49606E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00695" y="7392889"/>
            <a:ext cx="8204447" cy="661690"/>
            <a:chOff x="0" y="0"/>
            <a:chExt cx="10939263" cy="88225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39272" cy="882269"/>
            </a:xfrm>
            <a:custGeom>
              <a:avLst/>
              <a:gdLst/>
              <a:ahLst/>
              <a:cxnLst/>
              <a:rect r="r" b="b" t="t" l="l"/>
              <a:pathLst>
                <a:path h="882269" w="10939272">
                  <a:moveTo>
                    <a:pt x="0" y="0"/>
                  </a:moveTo>
                  <a:lnTo>
                    <a:pt x="10939272" y="0"/>
                  </a:lnTo>
                  <a:lnTo>
                    <a:pt x="10939272" y="882269"/>
                  </a:lnTo>
                  <a:lnTo>
                    <a:pt x="0" y="882269"/>
                  </a:lnTo>
                  <a:close/>
                </a:path>
              </a:pathLst>
            </a:custGeom>
            <a:solidFill>
              <a:srgbClr val="304755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4737498" y="7554962"/>
            <a:ext cx="330845" cy="375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562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21259" y="8256091"/>
            <a:ext cx="2595414" cy="34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C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21259" y="8665220"/>
            <a:ext cx="7763321" cy="772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687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Directly cooking the biryani in the cloud and teleporting it to your doorstep using 5G technology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239994" y="7350026"/>
            <a:ext cx="8290172" cy="2351038"/>
            <a:chOff x="0" y="0"/>
            <a:chExt cx="11053563" cy="313471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9050" y="19050"/>
              <a:ext cx="11015472" cy="3096514"/>
            </a:xfrm>
            <a:custGeom>
              <a:avLst/>
              <a:gdLst/>
              <a:ahLst/>
              <a:cxnLst/>
              <a:rect r="r" b="b" t="t" l="l"/>
              <a:pathLst>
                <a:path h="3096514" w="11015472">
                  <a:moveTo>
                    <a:pt x="0" y="44069"/>
                  </a:moveTo>
                  <a:cubicBezTo>
                    <a:pt x="0" y="19812"/>
                    <a:pt x="19939" y="0"/>
                    <a:pt x="44577" y="0"/>
                  </a:cubicBezTo>
                  <a:lnTo>
                    <a:pt x="10970895" y="0"/>
                  </a:lnTo>
                  <a:cubicBezTo>
                    <a:pt x="10995533" y="0"/>
                    <a:pt x="11015472" y="19812"/>
                    <a:pt x="11015472" y="44069"/>
                  </a:cubicBezTo>
                  <a:lnTo>
                    <a:pt x="11015472" y="3052445"/>
                  </a:lnTo>
                  <a:cubicBezTo>
                    <a:pt x="11015472" y="3076829"/>
                    <a:pt x="10995533" y="3096514"/>
                    <a:pt x="10970895" y="3096514"/>
                  </a:cubicBezTo>
                  <a:lnTo>
                    <a:pt x="44577" y="3096514"/>
                  </a:lnTo>
                  <a:cubicBezTo>
                    <a:pt x="19939" y="3096514"/>
                    <a:pt x="0" y="3076702"/>
                    <a:pt x="0" y="3052445"/>
                  </a:cubicBezTo>
                  <a:close/>
                </a:path>
              </a:pathLst>
            </a:custGeom>
            <a:solidFill>
              <a:srgbClr val="112836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053572" cy="3134614"/>
            </a:xfrm>
            <a:custGeom>
              <a:avLst/>
              <a:gdLst/>
              <a:ahLst/>
              <a:cxnLst/>
              <a:rect r="r" b="b" t="t" l="l"/>
              <a:pathLst>
                <a:path h="3134614" w="11053572">
                  <a:moveTo>
                    <a:pt x="0" y="63119"/>
                  </a:moveTo>
                  <a:cubicBezTo>
                    <a:pt x="0" y="28067"/>
                    <a:pt x="28575" y="0"/>
                    <a:pt x="63627" y="0"/>
                  </a:cubicBezTo>
                  <a:lnTo>
                    <a:pt x="10989945" y="0"/>
                  </a:lnTo>
                  <a:lnTo>
                    <a:pt x="10989945" y="19050"/>
                  </a:lnTo>
                  <a:lnTo>
                    <a:pt x="10989945" y="0"/>
                  </a:lnTo>
                  <a:cubicBezTo>
                    <a:pt x="11024870" y="0"/>
                    <a:pt x="11053572" y="28067"/>
                    <a:pt x="11053572" y="63119"/>
                  </a:cubicBezTo>
                  <a:lnTo>
                    <a:pt x="11034522" y="63119"/>
                  </a:lnTo>
                  <a:lnTo>
                    <a:pt x="11053572" y="63119"/>
                  </a:lnTo>
                  <a:lnTo>
                    <a:pt x="11053572" y="3071495"/>
                  </a:lnTo>
                  <a:lnTo>
                    <a:pt x="11034522" y="3071495"/>
                  </a:lnTo>
                  <a:lnTo>
                    <a:pt x="11053572" y="3071495"/>
                  </a:lnTo>
                  <a:cubicBezTo>
                    <a:pt x="11053572" y="3106547"/>
                    <a:pt x="11024997" y="3134614"/>
                    <a:pt x="10989945" y="3134614"/>
                  </a:cubicBezTo>
                  <a:lnTo>
                    <a:pt x="10989945" y="3115564"/>
                  </a:lnTo>
                  <a:lnTo>
                    <a:pt x="10989945" y="3134614"/>
                  </a:lnTo>
                  <a:lnTo>
                    <a:pt x="63627" y="3134614"/>
                  </a:lnTo>
                  <a:lnTo>
                    <a:pt x="63627" y="3115564"/>
                  </a:lnTo>
                  <a:lnTo>
                    <a:pt x="63627" y="3134614"/>
                  </a:lnTo>
                  <a:cubicBezTo>
                    <a:pt x="28702" y="3134614"/>
                    <a:pt x="0" y="3106547"/>
                    <a:pt x="0" y="3071495"/>
                  </a:cubicBezTo>
                  <a:lnTo>
                    <a:pt x="0" y="63119"/>
                  </a:lnTo>
                  <a:lnTo>
                    <a:pt x="19050" y="63119"/>
                  </a:lnTo>
                  <a:lnTo>
                    <a:pt x="0" y="63119"/>
                  </a:lnTo>
                  <a:moveTo>
                    <a:pt x="38100" y="63119"/>
                  </a:moveTo>
                  <a:lnTo>
                    <a:pt x="38100" y="3071495"/>
                  </a:lnTo>
                  <a:lnTo>
                    <a:pt x="19050" y="3071495"/>
                  </a:lnTo>
                  <a:lnTo>
                    <a:pt x="38100" y="3071495"/>
                  </a:lnTo>
                  <a:cubicBezTo>
                    <a:pt x="38100" y="3085211"/>
                    <a:pt x="49403" y="3096514"/>
                    <a:pt x="63627" y="3096514"/>
                  </a:cubicBezTo>
                  <a:lnTo>
                    <a:pt x="10989945" y="3096514"/>
                  </a:lnTo>
                  <a:cubicBezTo>
                    <a:pt x="11004169" y="3096514"/>
                    <a:pt x="11015472" y="3085084"/>
                    <a:pt x="11015472" y="3071495"/>
                  </a:cubicBezTo>
                  <a:lnTo>
                    <a:pt x="11015472" y="63119"/>
                  </a:lnTo>
                  <a:cubicBezTo>
                    <a:pt x="11015472" y="49403"/>
                    <a:pt x="11004169" y="38100"/>
                    <a:pt x="10989945" y="38100"/>
                  </a:cubicBezTo>
                  <a:lnTo>
                    <a:pt x="63627" y="38100"/>
                  </a:lnTo>
                  <a:lnTo>
                    <a:pt x="63627" y="19050"/>
                  </a:lnTo>
                  <a:lnTo>
                    <a:pt x="63627" y="38100"/>
                  </a:lnTo>
                  <a:cubicBezTo>
                    <a:pt x="49403" y="38100"/>
                    <a:pt x="38100" y="49530"/>
                    <a:pt x="38100" y="63119"/>
                  </a:cubicBezTo>
                  <a:close/>
                </a:path>
              </a:pathLst>
            </a:custGeom>
            <a:solidFill>
              <a:srgbClr val="49606E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282856" y="7392889"/>
            <a:ext cx="8204447" cy="661690"/>
            <a:chOff x="0" y="0"/>
            <a:chExt cx="10939263" cy="88225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939272" cy="882269"/>
            </a:xfrm>
            <a:custGeom>
              <a:avLst/>
              <a:gdLst/>
              <a:ahLst/>
              <a:cxnLst/>
              <a:rect r="r" b="b" t="t" l="l"/>
              <a:pathLst>
                <a:path h="882269" w="10939272">
                  <a:moveTo>
                    <a:pt x="0" y="0"/>
                  </a:moveTo>
                  <a:lnTo>
                    <a:pt x="10939272" y="0"/>
                  </a:lnTo>
                  <a:lnTo>
                    <a:pt x="10939272" y="882269"/>
                  </a:lnTo>
                  <a:lnTo>
                    <a:pt x="0" y="882269"/>
                  </a:lnTo>
                  <a:close/>
                </a:path>
              </a:pathLst>
            </a:custGeom>
            <a:solidFill>
              <a:srgbClr val="304755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3219659" y="7554962"/>
            <a:ext cx="330845" cy="375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562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4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503420" y="8256091"/>
            <a:ext cx="2595414" cy="34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D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503420" y="8665220"/>
            <a:ext cx="7763321" cy="772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687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Sending your hunger signals telepathically to the restaurant chef who magically knows what you want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283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54410" y="1425774"/>
            <a:ext cx="9085660" cy="681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37"/>
              </a:lnSpc>
            </a:pPr>
            <a:r>
              <a:rPr lang="en-US" sz="393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Round 2: REST API Adventures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54410" y="2174528"/>
            <a:ext cx="9921180" cy="779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7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You added 5 kurtas to your Myntra cart, but when you refresh, only 2 remain. What REST API method failed?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54410" y="3277641"/>
            <a:ext cx="9921180" cy="1222325"/>
            <a:chOff x="0" y="0"/>
            <a:chExt cx="13228240" cy="16297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228320" cy="1629791"/>
            </a:xfrm>
            <a:custGeom>
              <a:avLst/>
              <a:gdLst/>
              <a:ahLst/>
              <a:cxnLst/>
              <a:rect r="r" b="b" t="t" l="l"/>
              <a:pathLst>
                <a:path h="1629791" w="13228320">
                  <a:moveTo>
                    <a:pt x="0" y="43180"/>
                  </a:moveTo>
                  <a:cubicBezTo>
                    <a:pt x="0" y="19304"/>
                    <a:pt x="19304" y="0"/>
                    <a:pt x="43180" y="0"/>
                  </a:cubicBezTo>
                  <a:lnTo>
                    <a:pt x="13185139" y="0"/>
                  </a:lnTo>
                  <a:cubicBezTo>
                    <a:pt x="13209015" y="0"/>
                    <a:pt x="13228320" y="19304"/>
                    <a:pt x="13228320" y="43180"/>
                  </a:cubicBezTo>
                  <a:lnTo>
                    <a:pt x="13228320" y="1586611"/>
                  </a:lnTo>
                  <a:cubicBezTo>
                    <a:pt x="13228320" y="1610487"/>
                    <a:pt x="13209015" y="1629791"/>
                    <a:pt x="13185139" y="1629791"/>
                  </a:cubicBezTo>
                  <a:lnTo>
                    <a:pt x="43180" y="1629791"/>
                  </a:lnTo>
                  <a:cubicBezTo>
                    <a:pt x="19304" y="1629791"/>
                    <a:pt x="0" y="1610487"/>
                    <a:pt x="0" y="1586611"/>
                  </a:cubicBezTo>
                  <a:close/>
                </a:path>
              </a:pathLst>
            </a:custGeom>
            <a:solidFill>
              <a:srgbClr val="304755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69912" y="3464570"/>
            <a:ext cx="2536180" cy="345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9912" y="3882330"/>
            <a:ext cx="9490174" cy="402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687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DELETE—Someone's jealous ex remotely cleared your cart while you weren't looking at your phone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54410" y="4715470"/>
            <a:ext cx="9921180" cy="1222325"/>
            <a:chOff x="0" y="0"/>
            <a:chExt cx="13228240" cy="162976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228320" cy="1629791"/>
            </a:xfrm>
            <a:custGeom>
              <a:avLst/>
              <a:gdLst/>
              <a:ahLst/>
              <a:cxnLst/>
              <a:rect r="r" b="b" t="t" l="l"/>
              <a:pathLst>
                <a:path h="1629791" w="13228320">
                  <a:moveTo>
                    <a:pt x="0" y="43180"/>
                  </a:moveTo>
                  <a:cubicBezTo>
                    <a:pt x="0" y="19304"/>
                    <a:pt x="19304" y="0"/>
                    <a:pt x="43180" y="0"/>
                  </a:cubicBezTo>
                  <a:lnTo>
                    <a:pt x="13185139" y="0"/>
                  </a:lnTo>
                  <a:cubicBezTo>
                    <a:pt x="13209015" y="0"/>
                    <a:pt x="13228320" y="19304"/>
                    <a:pt x="13228320" y="43180"/>
                  </a:cubicBezTo>
                  <a:lnTo>
                    <a:pt x="13228320" y="1586611"/>
                  </a:lnTo>
                  <a:cubicBezTo>
                    <a:pt x="13228320" y="1610487"/>
                    <a:pt x="13209015" y="1629791"/>
                    <a:pt x="13185139" y="1629791"/>
                  </a:cubicBezTo>
                  <a:lnTo>
                    <a:pt x="43180" y="1629791"/>
                  </a:lnTo>
                  <a:cubicBezTo>
                    <a:pt x="19304" y="1629791"/>
                    <a:pt x="0" y="1610487"/>
                    <a:pt x="0" y="1586611"/>
                  </a:cubicBezTo>
                  <a:close/>
                </a:path>
              </a:pathLst>
            </a:custGeom>
            <a:solidFill>
              <a:srgbClr val="304755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69912" y="4902399"/>
            <a:ext cx="2536180" cy="345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B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9912" y="5320159"/>
            <a:ext cx="9490174" cy="402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687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GET—The API forgot its glasses and couldn't read your cart properly, so it made up random numbers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54410" y="6153299"/>
            <a:ext cx="9921180" cy="1222325"/>
            <a:chOff x="0" y="0"/>
            <a:chExt cx="13228240" cy="162976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228320" cy="1629791"/>
            </a:xfrm>
            <a:custGeom>
              <a:avLst/>
              <a:gdLst/>
              <a:ahLst/>
              <a:cxnLst/>
              <a:rect r="r" b="b" t="t" l="l"/>
              <a:pathLst>
                <a:path h="1629791" w="13228320">
                  <a:moveTo>
                    <a:pt x="0" y="43180"/>
                  </a:moveTo>
                  <a:cubicBezTo>
                    <a:pt x="0" y="19304"/>
                    <a:pt x="19304" y="0"/>
                    <a:pt x="43180" y="0"/>
                  </a:cubicBezTo>
                  <a:lnTo>
                    <a:pt x="13185139" y="0"/>
                  </a:lnTo>
                  <a:cubicBezTo>
                    <a:pt x="13209015" y="0"/>
                    <a:pt x="13228320" y="19304"/>
                    <a:pt x="13228320" y="43180"/>
                  </a:cubicBezTo>
                  <a:lnTo>
                    <a:pt x="13228320" y="1586611"/>
                  </a:lnTo>
                  <a:cubicBezTo>
                    <a:pt x="13228320" y="1610487"/>
                    <a:pt x="13209015" y="1629791"/>
                    <a:pt x="13185139" y="1629791"/>
                  </a:cubicBezTo>
                  <a:lnTo>
                    <a:pt x="43180" y="1629791"/>
                  </a:lnTo>
                  <a:cubicBezTo>
                    <a:pt x="19304" y="1629791"/>
                    <a:pt x="0" y="1610487"/>
                    <a:pt x="0" y="1586611"/>
                  </a:cubicBezTo>
                  <a:close/>
                </a:path>
              </a:pathLst>
            </a:custGeom>
            <a:solidFill>
              <a:srgbClr val="304755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69912" y="6340227"/>
            <a:ext cx="2536180" cy="345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C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69912" y="6757988"/>
            <a:ext cx="9490174" cy="402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687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POST—The API only saved 2 items because your internet was slower than your grandma's 2G phone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754410" y="7591127"/>
            <a:ext cx="9921180" cy="1222325"/>
            <a:chOff x="0" y="0"/>
            <a:chExt cx="13228240" cy="162976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228320" cy="1629791"/>
            </a:xfrm>
            <a:custGeom>
              <a:avLst/>
              <a:gdLst/>
              <a:ahLst/>
              <a:cxnLst/>
              <a:rect r="r" b="b" t="t" l="l"/>
              <a:pathLst>
                <a:path h="1629791" w="13228320">
                  <a:moveTo>
                    <a:pt x="0" y="43180"/>
                  </a:moveTo>
                  <a:cubicBezTo>
                    <a:pt x="0" y="19304"/>
                    <a:pt x="19304" y="0"/>
                    <a:pt x="43180" y="0"/>
                  </a:cubicBezTo>
                  <a:lnTo>
                    <a:pt x="13185139" y="0"/>
                  </a:lnTo>
                  <a:cubicBezTo>
                    <a:pt x="13209015" y="0"/>
                    <a:pt x="13228320" y="19304"/>
                    <a:pt x="13228320" y="43180"/>
                  </a:cubicBezTo>
                  <a:lnTo>
                    <a:pt x="13228320" y="1586611"/>
                  </a:lnTo>
                  <a:cubicBezTo>
                    <a:pt x="13228320" y="1610487"/>
                    <a:pt x="13209015" y="1629791"/>
                    <a:pt x="13185139" y="1629791"/>
                  </a:cubicBezTo>
                  <a:lnTo>
                    <a:pt x="43180" y="1629791"/>
                  </a:lnTo>
                  <a:cubicBezTo>
                    <a:pt x="19304" y="1629791"/>
                    <a:pt x="0" y="1610487"/>
                    <a:pt x="0" y="1586611"/>
                  </a:cubicBezTo>
                  <a:close/>
                </a:path>
              </a:pathLst>
            </a:custGeom>
            <a:solidFill>
              <a:srgbClr val="304755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969912" y="7778055"/>
            <a:ext cx="2536180" cy="345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69912" y="8195816"/>
            <a:ext cx="9490174" cy="402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687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PUT—Your cat walked on the keyboard and accidentally updated your cart while you were making chai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283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602605" y="435322"/>
            <a:ext cx="7727156" cy="544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318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Round 3: API Authentication Fun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02605" y="1431578"/>
            <a:ext cx="8331399" cy="8331399"/>
            <a:chOff x="0" y="0"/>
            <a:chExt cx="11108532" cy="11108532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1108563" cy="11108563"/>
            </a:xfrm>
            <a:custGeom>
              <a:avLst/>
              <a:gdLst/>
              <a:ahLst/>
              <a:cxnLst/>
              <a:rect r="r" b="b" t="t" l="l"/>
              <a:pathLst>
                <a:path h="11108563" w="11108563">
                  <a:moveTo>
                    <a:pt x="0" y="0"/>
                  </a:moveTo>
                  <a:lnTo>
                    <a:pt x="11108563" y="0"/>
                  </a:lnTo>
                  <a:lnTo>
                    <a:pt x="11108563" y="11108563"/>
                  </a:lnTo>
                  <a:lnTo>
                    <a:pt x="0" y="111085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363521" y="1372046"/>
            <a:ext cx="8331399" cy="645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You're trying to login to Instagram using Facebook. What authentication method is this?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363521" y="2469505"/>
            <a:ext cx="8331399" cy="1322486"/>
            <a:chOff x="0" y="0"/>
            <a:chExt cx="11108532" cy="17633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108563" cy="1763268"/>
            </a:xfrm>
            <a:custGeom>
              <a:avLst/>
              <a:gdLst/>
              <a:ahLst/>
              <a:cxnLst/>
              <a:rect r="r" b="b" t="t" l="l"/>
              <a:pathLst>
                <a:path h="1763268" w="11108563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0986643" y="0"/>
                  </a:lnTo>
                  <a:cubicBezTo>
                    <a:pt x="11053953" y="0"/>
                    <a:pt x="11108563" y="54610"/>
                    <a:pt x="11108563" y="121920"/>
                  </a:cubicBezTo>
                  <a:lnTo>
                    <a:pt x="11108563" y="1641348"/>
                  </a:lnTo>
                  <a:cubicBezTo>
                    <a:pt x="11108563" y="1708658"/>
                    <a:pt x="11053953" y="1763268"/>
                    <a:pt x="10986643" y="1763268"/>
                  </a:cubicBezTo>
                  <a:lnTo>
                    <a:pt x="121920" y="1763268"/>
                  </a:lnTo>
                  <a:cubicBezTo>
                    <a:pt x="54610" y="1763268"/>
                    <a:pt x="0" y="1708658"/>
                    <a:pt x="0" y="1641348"/>
                  </a:cubicBezTo>
                  <a:close/>
                </a:path>
              </a:pathLst>
            </a:custGeom>
            <a:solidFill>
              <a:srgbClr val="11283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363521" y="2450455"/>
            <a:ext cx="8331399" cy="76200"/>
            <a:chOff x="0" y="0"/>
            <a:chExt cx="11108532" cy="101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108563" cy="101600"/>
            </a:xfrm>
            <a:custGeom>
              <a:avLst/>
              <a:gdLst/>
              <a:ahLst/>
              <a:cxnLst/>
              <a:rect r="r" b="b" t="t" l="l"/>
              <a:pathLst>
                <a:path h="101600" w="11108563">
                  <a:moveTo>
                    <a:pt x="0" y="34417"/>
                  </a:moveTo>
                  <a:cubicBezTo>
                    <a:pt x="0" y="15367"/>
                    <a:pt x="15367" y="0"/>
                    <a:pt x="34417" y="0"/>
                  </a:cubicBezTo>
                  <a:lnTo>
                    <a:pt x="11074146" y="0"/>
                  </a:lnTo>
                  <a:cubicBezTo>
                    <a:pt x="11093196" y="0"/>
                    <a:pt x="11108563" y="15367"/>
                    <a:pt x="11108563" y="34417"/>
                  </a:cubicBezTo>
                  <a:lnTo>
                    <a:pt x="11108563" y="67183"/>
                  </a:lnTo>
                  <a:cubicBezTo>
                    <a:pt x="11108563" y="86233"/>
                    <a:pt x="11093196" y="101600"/>
                    <a:pt x="11074146" y="101600"/>
                  </a:cubicBezTo>
                  <a:lnTo>
                    <a:pt x="34417" y="101600"/>
                  </a:lnTo>
                  <a:cubicBezTo>
                    <a:pt x="15367" y="101600"/>
                    <a:pt x="0" y="86233"/>
                    <a:pt x="0" y="67183"/>
                  </a:cubicBezTo>
                  <a:close/>
                </a:path>
              </a:pathLst>
            </a:custGeom>
            <a:solidFill>
              <a:srgbClr val="0A988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270930" y="2211289"/>
            <a:ext cx="516582" cy="516583"/>
            <a:chOff x="0" y="0"/>
            <a:chExt cx="688777" cy="68877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8721" cy="688721"/>
            </a:xfrm>
            <a:custGeom>
              <a:avLst/>
              <a:gdLst/>
              <a:ahLst/>
              <a:cxnLst/>
              <a:rect r="r" b="b" t="t" l="l"/>
              <a:pathLst>
                <a:path h="688721" w="688721">
                  <a:moveTo>
                    <a:pt x="0" y="344424"/>
                  </a:moveTo>
                  <a:cubicBezTo>
                    <a:pt x="0" y="154178"/>
                    <a:pt x="154178" y="0"/>
                    <a:pt x="344424" y="0"/>
                  </a:cubicBezTo>
                  <a:cubicBezTo>
                    <a:pt x="534670" y="0"/>
                    <a:pt x="688721" y="154178"/>
                    <a:pt x="688721" y="344424"/>
                  </a:cubicBezTo>
                  <a:cubicBezTo>
                    <a:pt x="688721" y="534670"/>
                    <a:pt x="534543" y="688721"/>
                    <a:pt x="344424" y="688721"/>
                  </a:cubicBezTo>
                  <a:cubicBezTo>
                    <a:pt x="154305" y="688721"/>
                    <a:pt x="0" y="534543"/>
                    <a:pt x="0" y="344424"/>
                  </a:cubicBezTo>
                  <a:close/>
                </a:path>
              </a:pathLst>
            </a:custGeom>
            <a:solidFill>
              <a:srgbClr val="0A988B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3425860" y="2264271"/>
            <a:ext cx="206574" cy="334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62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54766" y="2880866"/>
            <a:ext cx="2025849" cy="272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562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54766" y="3268116"/>
            <a:ext cx="7948910" cy="332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312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Basic Auth—Username "cool_dude_123" and password "password123" written on a sticky note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363521" y="4222402"/>
            <a:ext cx="8331399" cy="1322486"/>
            <a:chOff x="0" y="0"/>
            <a:chExt cx="11108532" cy="176331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108563" cy="1763268"/>
            </a:xfrm>
            <a:custGeom>
              <a:avLst/>
              <a:gdLst/>
              <a:ahLst/>
              <a:cxnLst/>
              <a:rect r="r" b="b" t="t" l="l"/>
              <a:pathLst>
                <a:path h="1763268" w="11108563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0986643" y="0"/>
                  </a:lnTo>
                  <a:cubicBezTo>
                    <a:pt x="11053953" y="0"/>
                    <a:pt x="11108563" y="54610"/>
                    <a:pt x="11108563" y="121920"/>
                  </a:cubicBezTo>
                  <a:lnTo>
                    <a:pt x="11108563" y="1641348"/>
                  </a:lnTo>
                  <a:cubicBezTo>
                    <a:pt x="11108563" y="1708658"/>
                    <a:pt x="11053953" y="1763268"/>
                    <a:pt x="10986643" y="1763268"/>
                  </a:cubicBezTo>
                  <a:lnTo>
                    <a:pt x="121920" y="1763268"/>
                  </a:lnTo>
                  <a:cubicBezTo>
                    <a:pt x="54610" y="1763268"/>
                    <a:pt x="0" y="1708658"/>
                    <a:pt x="0" y="1641348"/>
                  </a:cubicBezTo>
                  <a:close/>
                </a:path>
              </a:pathLst>
            </a:custGeom>
            <a:solidFill>
              <a:srgbClr val="112836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363521" y="4203352"/>
            <a:ext cx="8331399" cy="76200"/>
            <a:chOff x="0" y="0"/>
            <a:chExt cx="11108532" cy="101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108563" cy="101600"/>
            </a:xfrm>
            <a:custGeom>
              <a:avLst/>
              <a:gdLst/>
              <a:ahLst/>
              <a:cxnLst/>
              <a:rect r="r" b="b" t="t" l="l"/>
              <a:pathLst>
                <a:path h="101600" w="11108563">
                  <a:moveTo>
                    <a:pt x="0" y="34417"/>
                  </a:moveTo>
                  <a:cubicBezTo>
                    <a:pt x="0" y="15367"/>
                    <a:pt x="15367" y="0"/>
                    <a:pt x="34417" y="0"/>
                  </a:cubicBezTo>
                  <a:lnTo>
                    <a:pt x="11074146" y="0"/>
                  </a:lnTo>
                  <a:cubicBezTo>
                    <a:pt x="11093196" y="0"/>
                    <a:pt x="11108563" y="15367"/>
                    <a:pt x="11108563" y="34417"/>
                  </a:cubicBezTo>
                  <a:lnTo>
                    <a:pt x="11108563" y="67183"/>
                  </a:lnTo>
                  <a:cubicBezTo>
                    <a:pt x="11108563" y="86233"/>
                    <a:pt x="11093196" y="101600"/>
                    <a:pt x="11074146" y="101600"/>
                  </a:cubicBezTo>
                  <a:lnTo>
                    <a:pt x="34417" y="101600"/>
                  </a:lnTo>
                  <a:cubicBezTo>
                    <a:pt x="15367" y="101600"/>
                    <a:pt x="0" y="86233"/>
                    <a:pt x="0" y="67183"/>
                  </a:cubicBezTo>
                  <a:close/>
                </a:path>
              </a:pathLst>
            </a:custGeom>
            <a:solidFill>
              <a:srgbClr val="0A988B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270930" y="3964186"/>
            <a:ext cx="516582" cy="516582"/>
            <a:chOff x="0" y="0"/>
            <a:chExt cx="688777" cy="68877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88721" cy="688721"/>
            </a:xfrm>
            <a:custGeom>
              <a:avLst/>
              <a:gdLst/>
              <a:ahLst/>
              <a:cxnLst/>
              <a:rect r="r" b="b" t="t" l="l"/>
              <a:pathLst>
                <a:path h="688721" w="688721">
                  <a:moveTo>
                    <a:pt x="0" y="344424"/>
                  </a:moveTo>
                  <a:cubicBezTo>
                    <a:pt x="0" y="154178"/>
                    <a:pt x="154178" y="0"/>
                    <a:pt x="344424" y="0"/>
                  </a:cubicBezTo>
                  <a:cubicBezTo>
                    <a:pt x="534670" y="0"/>
                    <a:pt x="688721" y="154178"/>
                    <a:pt x="688721" y="344424"/>
                  </a:cubicBezTo>
                  <a:cubicBezTo>
                    <a:pt x="688721" y="534670"/>
                    <a:pt x="534543" y="688721"/>
                    <a:pt x="344424" y="688721"/>
                  </a:cubicBezTo>
                  <a:cubicBezTo>
                    <a:pt x="154305" y="688721"/>
                    <a:pt x="0" y="534543"/>
                    <a:pt x="0" y="344424"/>
                  </a:cubicBezTo>
                  <a:close/>
                </a:path>
              </a:pathLst>
            </a:custGeom>
            <a:solidFill>
              <a:srgbClr val="0A988B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3425860" y="4017169"/>
            <a:ext cx="206574" cy="334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62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2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554766" y="4633764"/>
            <a:ext cx="2025849" cy="272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562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B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554766" y="5021015"/>
            <a:ext cx="7948910" cy="332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312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OAuth 2.0—Facebook vouches for you like your friend introducing you at a party: "They're cool, let them in!"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363521" y="5975300"/>
            <a:ext cx="8331399" cy="1322486"/>
            <a:chOff x="0" y="0"/>
            <a:chExt cx="11108532" cy="176331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108563" cy="1763268"/>
            </a:xfrm>
            <a:custGeom>
              <a:avLst/>
              <a:gdLst/>
              <a:ahLst/>
              <a:cxnLst/>
              <a:rect r="r" b="b" t="t" l="l"/>
              <a:pathLst>
                <a:path h="1763268" w="11108563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0986643" y="0"/>
                  </a:lnTo>
                  <a:cubicBezTo>
                    <a:pt x="11053953" y="0"/>
                    <a:pt x="11108563" y="54610"/>
                    <a:pt x="11108563" y="121920"/>
                  </a:cubicBezTo>
                  <a:lnTo>
                    <a:pt x="11108563" y="1641348"/>
                  </a:lnTo>
                  <a:cubicBezTo>
                    <a:pt x="11108563" y="1708658"/>
                    <a:pt x="11053953" y="1763268"/>
                    <a:pt x="10986643" y="1763268"/>
                  </a:cubicBezTo>
                  <a:lnTo>
                    <a:pt x="121920" y="1763268"/>
                  </a:lnTo>
                  <a:cubicBezTo>
                    <a:pt x="54610" y="1763268"/>
                    <a:pt x="0" y="1708658"/>
                    <a:pt x="0" y="1641348"/>
                  </a:cubicBezTo>
                  <a:close/>
                </a:path>
              </a:pathLst>
            </a:custGeom>
            <a:solidFill>
              <a:srgbClr val="112836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363521" y="5956250"/>
            <a:ext cx="8331399" cy="76200"/>
            <a:chOff x="0" y="0"/>
            <a:chExt cx="11108532" cy="1016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108563" cy="101600"/>
            </a:xfrm>
            <a:custGeom>
              <a:avLst/>
              <a:gdLst/>
              <a:ahLst/>
              <a:cxnLst/>
              <a:rect r="r" b="b" t="t" l="l"/>
              <a:pathLst>
                <a:path h="101600" w="11108563">
                  <a:moveTo>
                    <a:pt x="0" y="34417"/>
                  </a:moveTo>
                  <a:cubicBezTo>
                    <a:pt x="0" y="15367"/>
                    <a:pt x="15367" y="0"/>
                    <a:pt x="34417" y="0"/>
                  </a:cubicBezTo>
                  <a:lnTo>
                    <a:pt x="11074146" y="0"/>
                  </a:lnTo>
                  <a:cubicBezTo>
                    <a:pt x="11093196" y="0"/>
                    <a:pt x="11108563" y="15367"/>
                    <a:pt x="11108563" y="34417"/>
                  </a:cubicBezTo>
                  <a:lnTo>
                    <a:pt x="11108563" y="67183"/>
                  </a:lnTo>
                  <a:cubicBezTo>
                    <a:pt x="11108563" y="86233"/>
                    <a:pt x="11093196" y="101600"/>
                    <a:pt x="11074146" y="101600"/>
                  </a:cubicBezTo>
                  <a:lnTo>
                    <a:pt x="34417" y="101600"/>
                  </a:lnTo>
                  <a:cubicBezTo>
                    <a:pt x="15367" y="101600"/>
                    <a:pt x="0" y="86233"/>
                    <a:pt x="0" y="67183"/>
                  </a:cubicBezTo>
                  <a:close/>
                </a:path>
              </a:pathLst>
            </a:custGeom>
            <a:solidFill>
              <a:srgbClr val="0A988B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3270930" y="5717084"/>
            <a:ext cx="516582" cy="516582"/>
            <a:chOff x="0" y="0"/>
            <a:chExt cx="688777" cy="68877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88721" cy="688721"/>
            </a:xfrm>
            <a:custGeom>
              <a:avLst/>
              <a:gdLst/>
              <a:ahLst/>
              <a:cxnLst/>
              <a:rect r="r" b="b" t="t" l="l"/>
              <a:pathLst>
                <a:path h="688721" w="688721">
                  <a:moveTo>
                    <a:pt x="0" y="344424"/>
                  </a:moveTo>
                  <a:cubicBezTo>
                    <a:pt x="0" y="154178"/>
                    <a:pt x="154178" y="0"/>
                    <a:pt x="344424" y="0"/>
                  </a:cubicBezTo>
                  <a:cubicBezTo>
                    <a:pt x="534670" y="0"/>
                    <a:pt x="688721" y="154178"/>
                    <a:pt x="688721" y="344424"/>
                  </a:cubicBezTo>
                  <a:cubicBezTo>
                    <a:pt x="688721" y="534670"/>
                    <a:pt x="534543" y="688721"/>
                    <a:pt x="344424" y="688721"/>
                  </a:cubicBezTo>
                  <a:cubicBezTo>
                    <a:pt x="154305" y="688721"/>
                    <a:pt x="0" y="534543"/>
                    <a:pt x="0" y="344424"/>
                  </a:cubicBezTo>
                  <a:close/>
                </a:path>
              </a:pathLst>
            </a:custGeom>
            <a:solidFill>
              <a:srgbClr val="0A988B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3425860" y="5770066"/>
            <a:ext cx="206574" cy="334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62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554766" y="6386661"/>
            <a:ext cx="2025849" cy="272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562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C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554766" y="6773912"/>
            <a:ext cx="7948910" cy="332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312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API Key—A secret handshake only you and Mark Zuckerberg know about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363521" y="7728197"/>
            <a:ext cx="8331399" cy="1322486"/>
            <a:chOff x="0" y="0"/>
            <a:chExt cx="11108532" cy="176331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1108563" cy="1763268"/>
            </a:xfrm>
            <a:custGeom>
              <a:avLst/>
              <a:gdLst/>
              <a:ahLst/>
              <a:cxnLst/>
              <a:rect r="r" b="b" t="t" l="l"/>
              <a:pathLst>
                <a:path h="1763268" w="11108563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0986643" y="0"/>
                  </a:lnTo>
                  <a:cubicBezTo>
                    <a:pt x="11053953" y="0"/>
                    <a:pt x="11108563" y="54610"/>
                    <a:pt x="11108563" y="121920"/>
                  </a:cubicBezTo>
                  <a:lnTo>
                    <a:pt x="11108563" y="1641348"/>
                  </a:lnTo>
                  <a:cubicBezTo>
                    <a:pt x="11108563" y="1708658"/>
                    <a:pt x="11053953" y="1763268"/>
                    <a:pt x="10986643" y="1763268"/>
                  </a:cubicBezTo>
                  <a:lnTo>
                    <a:pt x="121920" y="1763268"/>
                  </a:lnTo>
                  <a:cubicBezTo>
                    <a:pt x="54610" y="1763268"/>
                    <a:pt x="0" y="1708658"/>
                    <a:pt x="0" y="1641348"/>
                  </a:cubicBezTo>
                  <a:close/>
                </a:path>
              </a:pathLst>
            </a:custGeom>
            <a:solidFill>
              <a:srgbClr val="112836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363521" y="7709147"/>
            <a:ext cx="8331399" cy="76200"/>
            <a:chOff x="0" y="0"/>
            <a:chExt cx="11108532" cy="1016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108563" cy="101600"/>
            </a:xfrm>
            <a:custGeom>
              <a:avLst/>
              <a:gdLst/>
              <a:ahLst/>
              <a:cxnLst/>
              <a:rect r="r" b="b" t="t" l="l"/>
              <a:pathLst>
                <a:path h="101600" w="11108563">
                  <a:moveTo>
                    <a:pt x="0" y="34417"/>
                  </a:moveTo>
                  <a:cubicBezTo>
                    <a:pt x="0" y="15367"/>
                    <a:pt x="15367" y="0"/>
                    <a:pt x="34417" y="0"/>
                  </a:cubicBezTo>
                  <a:lnTo>
                    <a:pt x="11074146" y="0"/>
                  </a:lnTo>
                  <a:cubicBezTo>
                    <a:pt x="11093196" y="0"/>
                    <a:pt x="11108563" y="15367"/>
                    <a:pt x="11108563" y="34417"/>
                  </a:cubicBezTo>
                  <a:lnTo>
                    <a:pt x="11108563" y="67183"/>
                  </a:lnTo>
                  <a:cubicBezTo>
                    <a:pt x="11108563" y="86233"/>
                    <a:pt x="11093196" y="101600"/>
                    <a:pt x="11074146" y="101600"/>
                  </a:cubicBezTo>
                  <a:lnTo>
                    <a:pt x="34417" y="101600"/>
                  </a:lnTo>
                  <a:cubicBezTo>
                    <a:pt x="15367" y="101600"/>
                    <a:pt x="0" y="86233"/>
                    <a:pt x="0" y="67183"/>
                  </a:cubicBezTo>
                  <a:close/>
                </a:path>
              </a:pathLst>
            </a:custGeom>
            <a:solidFill>
              <a:srgbClr val="0A988B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3270930" y="7469981"/>
            <a:ext cx="516582" cy="516582"/>
            <a:chOff x="0" y="0"/>
            <a:chExt cx="688777" cy="68877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88721" cy="688721"/>
            </a:xfrm>
            <a:custGeom>
              <a:avLst/>
              <a:gdLst/>
              <a:ahLst/>
              <a:cxnLst/>
              <a:rect r="r" b="b" t="t" l="l"/>
              <a:pathLst>
                <a:path h="688721" w="688721">
                  <a:moveTo>
                    <a:pt x="0" y="344424"/>
                  </a:moveTo>
                  <a:cubicBezTo>
                    <a:pt x="0" y="154178"/>
                    <a:pt x="154178" y="0"/>
                    <a:pt x="344424" y="0"/>
                  </a:cubicBezTo>
                  <a:cubicBezTo>
                    <a:pt x="534670" y="0"/>
                    <a:pt x="688721" y="154178"/>
                    <a:pt x="688721" y="344424"/>
                  </a:cubicBezTo>
                  <a:cubicBezTo>
                    <a:pt x="688721" y="534670"/>
                    <a:pt x="534543" y="688721"/>
                    <a:pt x="344424" y="688721"/>
                  </a:cubicBezTo>
                  <a:cubicBezTo>
                    <a:pt x="154305" y="688721"/>
                    <a:pt x="0" y="534543"/>
                    <a:pt x="0" y="344424"/>
                  </a:cubicBezTo>
                  <a:close/>
                </a:path>
              </a:pathLst>
            </a:custGeom>
            <a:solidFill>
              <a:srgbClr val="0A988B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13425860" y="7522964"/>
            <a:ext cx="206574" cy="334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62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4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554766" y="8139559"/>
            <a:ext cx="2025849" cy="272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562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D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554766" y="8526810"/>
            <a:ext cx="7948910" cy="332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312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JWT Token—A magical aadhar card that expires every 5 minutes just to annoy you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283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651105" y="862756"/>
            <a:ext cx="8889504" cy="70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7"/>
              </a:lnSpc>
            </a:pPr>
            <a:r>
              <a:rPr lang="en-US" sz="418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Round 4: Kafka Introduction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51105" y="1629370"/>
            <a:ext cx="9843790" cy="828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You ordered pizza and you're obsessively refreshing the Domino's tracker. How is Kafka involved?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651105" y="2797671"/>
            <a:ext cx="1133029" cy="1647081"/>
            <a:chOff x="0" y="0"/>
            <a:chExt cx="1510705" cy="2196108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510665" cy="2196084"/>
            </a:xfrm>
            <a:custGeom>
              <a:avLst/>
              <a:gdLst/>
              <a:ahLst/>
              <a:cxnLst/>
              <a:rect r="r" b="b" t="t" l="l"/>
              <a:pathLst>
                <a:path h="2196084" w="1510665">
                  <a:moveTo>
                    <a:pt x="0" y="0"/>
                  </a:moveTo>
                  <a:lnTo>
                    <a:pt x="1510665" y="0"/>
                  </a:lnTo>
                  <a:lnTo>
                    <a:pt x="1510665" y="2196084"/>
                  </a:lnTo>
                  <a:lnTo>
                    <a:pt x="0" y="21960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" r="-2" b="-3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010650" y="3005138"/>
            <a:ext cx="2666108" cy="352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010650" y="3416945"/>
            <a:ext cx="8484245" cy="801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Kafka is the delivery boy's name, and he's personally updating you via WhatsApp every 30 seconds about traffic conditions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651105" y="4444752"/>
            <a:ext cx="1133029" cy="1647081"/>
            <a:chOff x="0" y="0"/>
            <a:chExt cx="1510705" cy="2196108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1510665" cy="2196084"/>
            </a:xfrm>
            <a:custGeom>
              <a:avLst/>
              <a:gdLst/>
              <a:ahLst/>
              <a:cxnLst/>
              <a:rect r="r" b="b" t="t" l="l"/>
              <a:pathLst>
                <a:path h="2196084" w="1510665">
                  <a:moveTo>
                    <a:pt x="0" y="0"/>
                  </a:moveTo>
                  <a:lnTo>
                    <a:pt x="1510665" y="0"/>
                  </a:lnTo>
                  <a:lnTo>
                    <a:pt x="1510665" y="2196084"/>
                  </a:lnTo>
                  <a:lnTo>
                    <a:pt x="0" y="21960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" r="-2" b="-3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010650" y="4652219"/>
            <a:ext cx="2666108" cy="352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B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010650" y="5064026"/>
            <a:ext cx="8484245" cy="801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Streaming real-time location updates from the delivery bike's GPS—"Your pizza is stuck in Bangalore traffic" notifications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651105" y="6091832"/>
            <a:ext cx="1133029" cy="1647081"/>
            <a:chOff x="0" y="0"/>
            <a:chExt cx="1510705" cy="2196108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1510665" cy="2196084"/>
            </a:xfrm>
            <a:custGeom>
              <a:avLst/>
              <a:gdLst/>
              <a:ahLst/>
              <a:cxnLst/>
              <a:rect r="r" b="b" t="t" l="l"/>
              <a:pathLst>
                <a:path h="2196084" w="1510665">
                  <a:moveTo>
                    <a:pt x="0" y="0"/>
                  </a:moveTo>
                  <a:lnTo>
                    <a:pt x="1510665" y="0"/>
                  </a:lnTo>
                  <a:lnTo>
                    <a:pt x="1510665" y="2196084"/>
                  </a:lnTo>
                  <a:lnTo>
                    <a:pt x="0" y="21960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" r="-2" b="-3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010650" y="6299299"/>
            <a:ext cx="2666108" cy="352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C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010650" y="6711106"/>
            <a:ext cx="8484245" cy="801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A coffee machine at Domino's that powers all their servers (because it's named after Franz Kafka, the writer who loved coffee)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651105" y="7738914"/>
            <a:ext cx="1133029" cy="1647081"/>
            <a:chOff x="0" y="0"/>
            <a:chExt cx="1510705" cy="2196108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1510665" cy="2196084"/>
            </a:xfrm>
            <a:custGeom>
              <a:avLst/>
              <a:gdLst/>
              <a:ahLst/>
              <a:cxnLst/>
              <a:rect r="r" b="b" t="t" l="l"/>
              <a:pathLst>
                <a:path h="2196084" w="1510665">
                  <a:moveTo>
                    <a:pt x="0" y="0"/>
                  </a:moveTo>
                  <a:lnTo>
                    <a:pt x="1510665" y="0"/>
                  </a:lnTo>
                  <a:lnTo>
                    <a:pt x="1510665" y="2196084"/>
                  </a:lnTo>
                  <a:lnTo>
                    <a:pt x="0" y="21960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" r="-2" b="-3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010650" y="7946380"/>
            <a:ext cx="2666108" cy="352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010650" y="8358187"/>
            <a:ext cx="8484245" cy="801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A fortune-telling system that predicts when you'll get hungry and pre-makes your favourite pizza before you even order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283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3024485"/>
            <a:chOff x="0" y="0"/>
            <a:chExt cx="24384000" cy="4032647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384000" cy="4032631"/>
            </a:xfrm>
            <a:custGeom>
              <a:avLst/>
              <a:gdLst/>
              <a:ahLst/>
              <a:cxnLst/>
              <a:rect r="r" b="b" t="t" l="l"/>
              <a:pathLst>
                <a:path h="403263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032631"/>
                  </a:lnTo>
                  <a:lnTo>
                    <a:pt x="0" y="40326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73" r="0" b="-7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846833" y="3652837"/>
            <a:ext cx="12412415" cy="749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Round 5: Kafka Topics and Partitions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6833" y="4470647"/>
            <a:ext cx="16594336" cy="882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8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Your family WhatsApp group has 47 unread messages. How are Kafka topics similar?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46833" y="5715744"/>
            <a:ext cx="16594336" cy="3904804"/>
            <a:chOff x="0" y="0"/>
            <a:chExt cx="22125782" cy="52064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125814" cy="5206365"/>
            </a:xfrm>
            <a:custGeom>
              <a:avLst/>
              <a:gdLst/>
              <a:ahLst/>
              <a:cxnLst/>
              <a:rect r="r" b="b" t="t" l="l"/>
              <a:pathLst>
                <a:path h="5206365" w="22125814">
                  <a:moveTo>
                    <a:pt x="0" y="48387"/>
                  </a:moveTo>
                  <a:cubicBezTo>
                    <a:pt x="0" y="21717"/>
                    <a:pt x="21717" y="0"/>
                    <a:pt x="48387" y="0"/>
                  </a:cubicBezTo>
                  <a:lnTo>
                    <a:pt x="22077426" y="0"/>
                  </a:lnTo>
                  <a:cubicBezTo>
                    <a:pt x="22104096" y="0"/>
                    <a:pt x="22125814" y="21717"/>
                    <a:pt x="22125814" y="48387"/>
                  </a:cubicBezTo>
                  <a:lnTo>
                    <a:pt x="22125814" y="5157978"/>
                  </a:lnTo>
                  <a:cubicBezTo>
                    <a:pt x="22125814" y="5184648"/>
                    <a:pt x="22104096" y="5206365"/>
                    <a:pt x="22077426" y="5206365"/>
                  </a:cubicBezTo>
                  <a:lnTo>
                    <a:pt x="48387" y="5206365"/>
                  </a:lnTo>
                  <a:cubicBezTo>
                    <a:pt x="21717" y="5206365"/>
                    <a:pt x="0" y="5184648"/>
                    <a:pt x="0" y="5157978"/>
                  </a:cubicBezTo>
                  <a:close/>
                </a:path>
              </a:pathLst>
            </a:custGeom>
            <a:solidFill>
              <a:srgbClr val="30475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46833" y="5715744"/>
            <a:ext cx="8297167" cy="2145952"/>
            <a:chOff x="0" y="0"/>
            <a:chExt cx="11062890" cy="28612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62843" cy="2861310"/>
            </a:xfrm>
            <a:custGeom>
              <a:avLst/>
              <a:gdLst/>
              <a:ahLst/>
              <a:cxnLst/>
              <a:rect r="r" b="b" t="t" l="l"/>
              <a:pathLst>
                <a:path h="2861310" w="11062843">
                  <a:moveTo>
                    <a:pt x="0" y="48387"/>
                  </a:moveTo>
                  <a:cubicBezTo>
                    <a:pt x="0" y="21717"/>
                    <a:pt x="21717" y="0"/>
                    <a:pt x="48387" y="0"/>
                  </a:cubicBezTo>
                  <a:lnTo>
                    <a:pt x="11014456" y="0"/>
                  </a:lnTo>
                  <a:cubicBezTo>
                    <a:pt x="11041126" y="0"/>
                    <a:pt x="11062843" y="21717"/>
                    <a:pt x="11062843" y="48387"/>
                  </a:cubicBezTo>
                  <a:lnTo>
                    <a:pt x="11062843" y="2812923"/>
                  </a:lnTo>
                  <a:cubicBezTo>
                    <a:pt x="11062843" y="2839593"/>
                    <a:pt x="11041126" y="2861310"/>
                    <a:pt x="11014456" y="2861310"/>
                  </a:cubicBezTo>
                  <a:lnTo>
                    <a:pt x="48387" y="2861310"/>
                  </a:lnTo>
                  <a:cubicBezTo>
                    <a:pt x="21717" y="2861310"/>
                    <a:pt x="0" y="2839593"/>
                    <a:pt x="0" y="2812923"/>
                  </a:cubicBezTo>
                  <a:close/>
                </a:path>
              </a:pathLst>
            </a:custGeom>
            <a:solidFill>
              <a:srgbClr val="304755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88677" y="5929015"/>
            <a:ext cx="2846635" cy="384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88677" y="6382345"/>
            <a:ext cx="7813476" cy="850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Each topic is like your aunt's forwards—irrelevant, unstoppable, and multiplying faster than you can read them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144000" y="5715744"/>
            <a:ext cx="8297167" cy="2145952"/>
            <a:chOff x="0" y="0"/>
            <a:chExt cx="11062890" cy="286127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062843" cy="2861310"/>
            </a:xfrm>
            <a:custGeom>
              <a:avLst/>
              <a:gdLst/>
              <a:ahLst/>
              <a:cxnLst/>
              <a:rect r="r" b="b" t="t" l="l"/>
              <a:pathLst>
                <a:path h="2861310" w="11062843">
                  <a:moveTo>
                    <a:pt x="0" y="0"/>
                  </a:moveTo>
                  <a:lnTo>
                    <a:pt x="11062843" y="0"/>
                  </a:lnTo>
                  <a:lnTo>
                    <a:pt x="11062843" y="2861310"/>
                  </a:lnTo>
                  <a:lnTo>
                    <a:pt x="0" y="2861310"/>
                  </a:lnTo>
                  <a:close/>
                </a:path>
              </a:pathLst>
            </a:custGeom>
            <a:solidFill>
              <a:srgbClr val="304755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144000" y="5715744"/>
            <a:ext cx="28575" cy="2145952"/>
            <a:chOff x="0" y="0"/>
            <a:chExt cx="38100" cy="286127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8100" cy="2861310"/>
            </a:xfrm>
            <a:custGeom>
              <a:avLst/>
              <a:gdLst/>
              <a:ahLst/>
              <a:cxnLst/>
              <a:rect r="r" b="b" t="t" l="l"/>
              <a:pathLst>
                <a:path h="2861310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2842260"/>
                  </a:lnTo>
                  <a:cubicBezTo>
                    <a:pt x="38100" y="2852801"/>
                    <a:pt x="29591" y="2861310"/>
                    <a:pt x="19050" y="2861310"/>
                  </a:cubicBezTo>
                  <a:cubicBezTo>
                    <a:pt x="8509" y="2861310"/>
                    <a:pt x="0" y="2852801"/>
                    <a:pt x="0" y="2842260"/>
                  </a:cubicBezTo>
                  <a:close/>
                </a:path>
              </a:pathLst>
            </a:custGeom>
            <a:solidFill>
              <a:srgbClr val="49606E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385846" y="5929015"/>
            <a:ext cx="2846635" cy="384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B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85846" y="6382345"/>
            <a:ext cx="7813476" cy="1237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Topics are categories (like "Good Morning" messages, political debates, recipe videos), and partitions split them so multiple people can handle the chaos simultaneously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46833" y="7861697"/>
            <a:ext cx="8297167" cy="1758851"/>
            <a:chOff x="0" y="0"/>
            <a:chExt cx="11062890" cy="234513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062843" cy="2345182"/>
            </a:xfrm>
            <a:custGeom>
              <a:avLst/>
              <a:gdLst/>
              <a:ahLst/>
              <a:cxnLst/>
              <a:rect r="r" b="b" t="t" l="l"/>
              <a:pathLst>
                <a:path h="2345182" w="11062843">
                  <a:moveTo>
                    <a:pt x="0" y="0"/>
                  </a:moveTo>
                  <a:lnTo>
                    <a:pt x="11062843" y="0"/>
                  </a:lnTo>
                  <a:lnTo>
                    <a:pt x="11062843" y="2345182"/>
                  </a:lnTo>
                  <a:lnTo>
                    <a:pt x="0" y="2345182"/>
                  </a:lnTo>
                  <a:close/>
                </a:path>
              </a:pathLst>
            </a:custGeom>
            <a:solidFill>
              <a:srgbClr val="30475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46833" y="7861697"/>
            <a:ext cx="8297167" cy="28575"/>
            <a:chOff x="0" y="0"/>
            <a:chExt cx="11062890" cy="381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062843" cy="38100"/>
            </a:xfrm>
            <a:custGeom>
              <a:avLst/>
              <a:gdLst/>
              <a:ahLst/>
              <a:cxnLst/>
              <a:rect r="r" b="b" t="t" l="l"/>
              <a:pathLst>
                <a:path h="38100" w="11062843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1043793" y="0"/>
                  </a:lnTo>
                  <a:cubicBezTo>
                    <a:pt x="11054335" y="0"/>
                    <a:pt x="11062843" y="8509"/>
                    <a:pt x="11062843" y="19050"/>
                  </a:cubicBezTo>
                  <a:cubicBezTo>
                    <a:pt x="11062843" y="29591"/>
                    <a:pt x="11054335" y="38100"/>
                    <a:pt x="11043793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49606E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088677" y="8074967"/>
            <a:ext cx="2846635" cy="384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C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88677" y="8528298"/>
            <a:ext cx="7813476" cy="850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Partitions are different phone numbers you use to escape the group, but you keep getting added back by determined relatives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144000" y="7861697"/>
            <a:ext cx="8297167" cy="1758851"/>
            <a:chOff x="0" y="0"/>
            <a:chExt cx="11062890" cy="234513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062843" cy="2345182"/>
            </a:xfrm>
            <a:custGeom>
              <a:avLst/>
              <a:gdLst/>
              <a:ahLst/>
              <a:cxnLst/>
              <a:rect r="r" b="b" t="t" l="l"/>
              <a:pathLst>
                <a:path h="2345182" w="11062843">
                  <a:moveTo>
                    <a:pt x="0" y="0"/>
                  </a:moveTo>
                  <a:lnTo>
                    <a:pt x="11062843" y="0"/>
                  </a:lnTo>
                  <a:lnTo>
                    <a:pt x="11062843" y="2345182"/>
                  </a:lnTo>
                  <a:lnTo>
                    <a:pt x="0" y="2345182"/>
                  </a:lnTo>
                  <a:close/>
                </a:path>
              </a:pathLst>
            </a:custGeom>
            <a:solidFill>
              <a:srgbClr val="304755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144000" y="7861697"/>
            <a:ext cx="28575" cy="1758851"/>
            <a:chOff x="0" y="0"/>
            <a:chExt cx="38100" cy="234513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8100" cy="2345182"/>
            </a:xfrm>
            <a:custGeom>
              <a:avLst/>
              <a:gdLst/>
              <a:ahLst/>
              <a:cxnLst/>
              <a:rect r="r" b="b" t="t" l="l"/>
              <a:pathLst>
                <a:path h="2345182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2326132"/>
                  </a:lnTo>
                  <a:cubicBezTo>
                    <a:pt x="38100" y="2336673"/>
                    <a:pt x="29591" y="2345182"/>
                    <a:pt x="19050" y="2345182"/>
                  </a:cubicBezTo>
                  <a:cubicBezTo>
                    <a:pt x="8509" y="2345182"/>
                    <a:pt x="0" y="2336673"/>
                    <a:pt x="0" y="2326132"/>
                  </a:cubicBezTo>
                  <a:close/>
                </a:path>
              </a:pathLst>
            </a:custGeom>
            <a:solidFill>
              <a:srgbClr val="49606E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144000" y="7861697"/>
            <a:ext cx="8297167" cy="28575"/>
            <a:chOff x="0" y="0"/>
            <a:chExt cx="11062890" cy="381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062843" cy="38100"/>
            </a:xfrm>
            <a:custGeom>
              <a:avLst/>
              <a:gdLst/>
              <a:ahLst/>
              <a:cxnLst/>
              <a:rect r="r" b="b" t="t" l="l"/>
              <a:pathLst>
                <a:path h="38100" w="11062843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1043793" y="0"/>
                  </a:lnTo>
                  <a:cubicBezTo>
                    <a:pt x="11054335" y="0"/>
                    <a:pt x="11062843" y="8509"/>
                    <a:pt x="11062843" y="19050"/>
                  </a:cubicBezTo>
                  <a:cubicBezTo>
                    <a:pt x="11062843" y="29591"/>
                    <a:pt x="11054335" y="38100"/>
                    <a:pt x="11043793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49606E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9385846" y="8074967"/>
            <a:ext cx="2846635" cy="384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D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385846" y="8528298"/>
            <a:ext cx="7813476" cy="850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Topics are deleted automatically after 7 days, just like your motivation to reply to everyone's "GM" messages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283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637282" y="462706"/>
            <a:ext cx="9150846" cy="573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7"/>
              </a:lnSpc>
            </a:pPr>
            <a:r>
              <a:rPr lang="en-US" sz="331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Round 6: Producers and Consumers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7282" y="1472356"/>
            <a:ext cx="8284666" cy="983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YouTube keeps sending you notifications for channels you don't even remember subscribing to. Who's the producer and consumer?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37282" y="2584400"/>
            <a:ext cx="182016" cy="303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75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37282" y="2950815"/>
            <a:ext cx="8284666" cy="19050"/>
            <a:chOff x="0" y="0"/>
            <a:chExt cx="11046222" cy="25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046206" cy="25400"/>
            </a:xfrm>
            <a:custGeom>
              <a:avLst/>
              <a:gdLst/>
              <a:ahLst/>
              <a:cxnLst/>
              <a:rect r="r" b="b" t="t" l="l"/>
              <a:pathLst>
                <a:path h="25400" w="11046206">
                  <a:moveTo>
                    <a:pt x="0" y="0"/>
                  </a:moveTo>
                  <a:lnTo>
                    <a:pt x="11046206" y="0"/>
                  </a:lnTo>
                  <a:lnTo>
                    <a:pt x="11046206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A988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37282" y="3051274"/>
            <a:ext cx="2142530" cy="296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25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37282" y="3472606"/>
            <a:ext cx="8284666" cy="6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75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Producer: Your sleep-deprived 3 AM self randomly subscribing. Consumer: Morning-you wondering "Why am I getting cat videos?"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37282" y="4354860"/>
            <a:ext cx="182016" cy="303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75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37282" y="4721275"/>
            <a:ext cx="8284666" cy="19050"/>
            <a:chOff x="0" y="0"/>
            <a:chExt cx="11046222" cy="25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046206" cy="25400"/>
            </a:xfrm>
            <a:custGeom>
              <a:avLst/>
              <a:gdLst/>
              <a:ahLst/>
              <a:cxnLst/>
              <a:rect r="r" b="b" t="t" l="l"/>
              <a:pathLst>
                <a:path h="25400" w="11046206">
                  <a:moveTo>
                    <a:pt x="0" y="0"/>
                  </a:moveTo>
                  <a:lnTo>
                    <a:pt x="11046206" y="0"/>
                  </a:lnTo>
                  <a:lnTo>
                    <a:pt x="11046206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A988B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37282" y="4821734"/>
            <a:ext cx="2142530" cy="296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25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B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37282" y="5243066"/>
            <a:ext cx="8284666" cy="6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75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Producer: YouTube channels posting videos. Consumer: Your notification-addicted brain checking every single ping immediately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37282" y="6125319"/>
            <a:ext cx="182016" cy="303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75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37282" y="6491734"/>
            <a:ext cx="8284666" cy="19050"/>
            <a:chOff x="0" y="0"/>
            <a:chExt cx="11046222" cy="25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046206" cy="25400"/>
            </a:xfrm>
            <a:custGeom>
              <a:avLst/>
              <a:gdLst/>
              <a:ahLst/>
              <a:cxnLst/>
              <a:rect r="r" b="b" t="t" l="l"/>
              <a:pathLst>
                <a:path h="25400" w="11046206">
                  <a:moveTo>
                    <a:pt x="0" y="0"/>
                  </a:moveTo>
                  <a:lnTo>
                    <a:pt x="11046206" y="0"/>
                  </a:lnTo>
                  <a:lnTo>
                    <a:pt x="11046206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A988B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637282" y="6592192"/>
            <a:ext cx="2142530" cy="296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25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C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37282" y="7013525"/>
            <a:ext cx="8284666" cy="6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75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Producer: YouTube's algorithm. Consumer: Your data plan crying as it downloads HD thumbnails you'll never watch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37282" y="7895779"/>
            <a:ext cx="182016" cy="303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75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04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37282" y="8262194"/>
            <a:ext cx="8284666" cy="19050"/>
            <a:chOff x="0" y="0"/>
            <a:chExt cx="11046222" cy="25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046206" cy="25400"/>
            </a:xfrm>
            <a:custGeom>
              <a:avLst/>
              <a:gdLst/>
              <a:ahLst/>
              <a:cxnLst/>
              <a:rect r="r" b="b" t="t" l="l"/>
              <a:pathLst>
                <a:path h="25400" w="11046206">
                  <a:moveTo>
                    <a:pt x="0" y="0"/>
                  </a:moveTo>
                  <a:lnTo>
                    <a:pt x="11046206" y="0"/>
                  </a:lnTo>
                  <a:lnTo>
                    <a:pt x="11046206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A988B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637282" y="8362653"/>
            <a:ext cx="2142530" cy="296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25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37282" y="8783985"/>
            <a:ext cx="8284666" cy="6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75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Producer: Your friend who hacked your account. Consumer: Everyone laughing at your "subscribe to my gaming channel" comments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375576" y="1514178"/>
            <a:ext cx="8284666" cy="8284666"/>
            <a:chOff x="0" y="0"/>
            <a:chExt cx="11046222" cy="11046222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11046206" cy="11046206"/>
            </a:xfrm>
            <a:custGeom>
              <a:avLst/>
              <a:gdLst/>
              <a:ahLst/>
              <a:cxnLst/>
              <a:rect r="r" b="b" t="t" l="l"/>
              <a:pathLst>
                <a:path h="11046206" w="11046206">
                  <a:moveTo>
                    <a:pt x="0" y="0"/>
                  </a:moveTo>
                  <a:lnTo>
                    <a:pt x="11046206" y="0"/>
                  </a:lnTo>
                  <a:lnTo>
                    <a:pt x="11046206" y="11046206"/>
                  </a:lnTo>
                  <a:lnTo>
                    <a:pt x="0" y="110462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283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47155" y="2177951"/>
            <a:ext cx="12378481" cy="937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Round 7: Real-Time Streaming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155" y="3196679"/>
            <a:ext cx="16193690" cy="1093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You're watching IPL, and the score updates faster on Cricbuzz than on TV. What's Kafka's role?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7155" y="5000327"/>
            <a:ext cx="3520231" cy="478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7155" y="5562600"/>
            <a:ext cx="3767881" cy="248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Kafka is the commentator's pet parrot that memorises scores and tweets them out before the TV broadcast catches up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189041" y="5000327"/>
            <a:ext cx="3520231" cy="478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B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189041" y="5562600"/>
            <a:ext cx="3767881" cy="248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Streaming live events from the stadium in milliseconds—every run, wicket, and boundary delivered to your phone before your TV buffers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30929" y="5000327"/>
            <a:ext cx="3520231" cy="478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C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30929" y="5562600"/>
            <a:ext cx="3767881" cy="248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A time machine that shows you future scores, which is why your neighbour's cheering spoils the match for you watching on TV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472815" y="5000327"/>
            <a:ext cx="3520231" cy="478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472815" y="5562600"/>
            <a:ext cx="3768030" cy="2010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A group of data entry interns manually typing scores really, really fast while surviving on samosas and energy drinks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283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28092" y="891182"/>
            <a:ext cx="12350503" cy="827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487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Round 8: API vs Kafka Integration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8092" y="1796206"/>
            <a:ext cx="16431816" cy="964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93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You placed an order on Flipkart during Big Billion Days sale. How do API and Kafka work together in this chaos?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28092" y="6041231"/>
            <a:ext cx="16431816" cy="28575"/>
            <a:chOff x="0" y="0"/>
            <a:chExt cx="21909088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09151" cy="38100"/>
            </a:xfrm>
            <a:custGeom>
              <a:avLst/>
              <a:gdLst/>
              <a:ahLst/>
              <a:cxnLst/>
              <a:rect r="r" b="b" t="t" l="l"/>
              <a:pathLst>
                <a:path h="38100" w="21909151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1890101" y="0"/>
                  </a:lnTo>
                  <a:cubicBezTo>
                    <a:pt x="21900642" y="0"/>
                    <a:pt x="21909151" y="8509"/>
                    <a:pt x="21909151" y="19050"/>
                  </a:cubicBezTo>
                  <a:cubicBezTo>
                    <a:pt x="21909151" y="29591"/>
                    <a:pt x="21900642" y="38100"/>
                    <a:pt x="21890101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49606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100512" y="5245819"/>
            <a:ext cx="28575" cy="795486"/>
            <a:chOff x="0" y="0"/>
            <a:chExt cx="38100" cy="10606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100" cy="1060704"/>
            </a:xfrm>
            <a:custGeom>
              <a:avLst/>
              <a:gdLst/>
              <a:ahLst/>
              <a:cxnLst/>
              <a:rect r="r" b="b" t="t" l="l"/>
              <a:pathLst>
                <a:path h="1060704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041654"/>
                  </a:lnTo>
                  <a:cubicBezTo>
                    <a:pt x="38100" y="1052195"/>
                    <a:pt x="29591" y="1060704"/>
                    <a:pt x="19050" y="1060704"/>
                  </a:cubicBezTo>
                  <a:cubicBezTo>
                    <a:pt x="8509" y="1060704"/>
                    <a:pt x="0" y="1052068"/>
                    <a:pt x="0" y="1041654"/>
                  </a:cubicBezTo>
                  <a:close/>
                </a:path>
              </a:pathLst>
            </a:custGeom>
            <a:solidFill>
              <a:srgbClr val="49606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816549" y="5742905"/>
            <a:ext cx="596653" cy="596653"/>
            <a:chOff x="0" y="0"/>
            <a:chExt cx="795537" cy="79553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95528" cy="795528"/>
            </a:xfrm>
            <a:custGeom>
              <a:avLst/>
              <a:gdLst/>
              <a:ahLst/>
              <a:cxnLst/>
              <a:rect r="r" b="b" t="t" l="l"/>
              <a:pathLst>
                <a:path h="795528" w="795528">
                  <a:moveTo>
                    <a:pt x="0" y="53086"/>
                  </a:moveTo>
                  <a:cubicBezTo>
                    <a:pt x="0" y="23749"/>
                    <a:pt x="23749" y="0"/>
                    <a:pt x="53086" y="0"/>
                  </a:cubicBezTo>
                  <a:lnTo>
                    <a:pt x="742442" y="0"/>
                  </a:lnTo>
                  <a:cubicBezTo>
                    <a:pt x="771779" y="0"/>
                    <a:pt x="795528" y="23749"/>
                    <a:pt x="795528" y="53086"/>
                  </a:cubicBezTo>
                  <a:lnTo>
                    <a:pt x="795528" y="742442"/>
                  </a:lnTo>
                  <a:cubicBezTo>
                    <a:pt x="795528" y="771779"/>
                    <a:pt x="771779" y="795528"/>
                    <a:pt x="742442" y="795528"/>
                  </a:cubicBezTo>
                  <a:lnTo>
                    <a:pt x="53086" y="795528"/>
                  </a:lnTo>
                  <a:cubicBezTo>
                    <a:pt x="23749" y="795528"/>
                    <a:pt x="0" y="771779"/>
                    <a:pt x="0" y="742442"/>
                  </a:cubicBezTo>
                  <a:close/>
                </a:path>
              </a:pathLst>
            </a:custGeom>
            <a:solidFill>
              <a:srgbClr val="304755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3927649" y="5845299"/>
            <a:ext cx="374302" cy="429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7"/>
              </a:lnSpc>
            </a:pPr>
            <a:r>
              <a:rPr lang="en-US" sz="2937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555081" y="3139529"/>
            <a:ext cx="3119735" cy="408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437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93155" y="3621881"/>
            <a:ext cx="5843736" cy="1358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2062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API takes your order while crying, Kafka streams "out of stock" messages, and both blame each other for the disaster in morning standup meetings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453164" y="6041156"/>
            <a:ext cx="28575" cy="795486"/>
            <a:chOff x="0" y="0"/>
            <a:chExt cx="38100" cy="106064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8100" cy="1060704"/>
            </a:xfrm>
            <a:custGeom>
              <a:avLst/>
              <a:gdLst/>
              <a:ahLst/>
              <a:cxnLst/>
              <a:rect r="r" b="b" t="t" l="l"/>
              <a:pathLst>
                <a:path h="1060704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041654"/>
                  </a:lnTo>
                  <a:cubicBezTo>
                    <a:pt x="38100" y="1052195"/>
                    <a:pt x="29591" y="1060704"/>
                    <a:pt x="19050" y="1060704"/>
                  </a:cubicBezTo>
                  <a:cubicBezTo>
                    <a:pt x="8509" y="1060704"/>
                    <a:pt x="0" y="1052068"/>
                    <a:pt x="0" y="1041654"/>
                  </a:cubicBezTo>
                  <a:close/>
                </a:path>
              </a:pathLst>
            </a:custGeom>
            <a:solidFill>
              <a:srgbClr val="49606E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7169200" y="5742905"/>
            <a:ext cx="596653" cy="596653"/>
            <a:chOff x="0" y="0"/>
            <a:chExt cx="795537" cy="79553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95528" cy="795528"/>
            </a:xfrm>
            <a:custGeom>
              <a:avLst/>
              <a:gdLst/>
              <a:ahLst/>
              <a:cxnLst/>
              <a:rect r="r" b="b" t="t" l="l"/>
              <a:pathLst>
                <a:path h="795528" w="795528">
                  <a:moveTo>
                    <a:pt x="0" y="53086"/>
                  </a:moveTo>
                  <a:cubicBezTo>
                    <a:pt x="0" y="23749"/>
                    <a:pt x="23749" y="0"/>
                    <a:pt x="53086" y="0"/>
                  </a:cubicBezTo>
                  <a:lnTo>
                    <a:pt x="742442" y="0"/>
                  </a:lnTo>
                  <a:cubicBezTo>
                    <a:pt x="771779" y="0"/>
                    <a:pt x="795528" y="23749"/>
                    <a:pt x="795528" y="53086"/>
                  </a:cubicBezTo>
                  <a:lnTo>
                    <a:pt x="795528" y="742442"/>
                  </a:lnTo>
                  <a:cubicBezTo>
                    <a:pt x="795528" y="771779"/>
                    <a:pt x="771779" y="795528"/>
                    <a:pt x="742442" y="795528"/>
                  </a:cubicBezTo>
                  <a:lnTo>
                    <a:pt x="53086" y="795528"/>
                  </a:lnTo>
                  <a:cubicBezTo>
                    <a:pt x="23749" y="795528"/>
                    <a:pt x="0" y="771779"/>
                    <a:pt x="0" y="742442"/>
                  </a:cubicBezTo>
                  <a:close/>
                </a:path>
              </a:pathLst>
            </a:custGeom>
            <a:solidFill>
              <a:srgbClr val="304755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7280300" y="5845299"/>
            <a:ext cx="374302" cy="429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7"/>
              </a:lnSpc>
            </a:pPr>
            <a:r>
              <a:rPr lang="en-US" sz="2937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907732" y="7082879"/>
            <a:ext cx="3119735" cy="408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437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B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545806" y="7565231"/>
            <a:ext cx="5843736" cy="1782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2062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API handles your checkout (payment, address), Kafka streams order status updates (packed, shipped, "delivery boy is lost") in real-time to your anxious refreshing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0805815" y="5245819"/>
            <a:ext cx="28575" cy="795486"/>
            <a:chOff x="0" y="0"/>
            <a:chExt cx="38100" cy="106064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8100" cy="1060704"/>
            </a:xfrm>
            <a:custGeom>
              <a:avLst/>
              <a:gdLst/>
              <a:ahLst/>
              <a:cxnLst/>
              <a:rect r="r" b="b" t="t" l="l"/>
              <a:pathLst>
                <a:path h="1060704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041654"/>
                  </a:lnTo>
                  <a:cubicBezTo>
                    <a:pt x="38100" y="1052195"/>
                    <a:pt x="29591" y="1060704"/>
                    <a:pt x="19050" y="1060704"/>
                  </a:cubicBezTo>
                  <a:cubicBezTo>
                    <a:pt x="8509" y="1060704"/>
                    <a:pt x="0" y="1052068"/>
                    <a:pt x="0" y="1041654"/>
                  </a:cubicBezTo>
                  <a:close/>
                </a:path>
              </a:pathLst>
            </a:custGeom>
            <a:solidFill>
              <a:srgbClr val="49606E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521851" y="5742905"/>
            <a:ext cx="596653" cy="596653"/>
            <a:chOff x="0" y="0"/>
            <a:chExt cx="795537" cy="79553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95528" cy="795528"/>
            </a:xfrm>
            <a:custGeom>
              <a:avLst/>
              <a:gdLst/>
              <a:ahLst/>
              <a:cxnLst/>
              <a:rect r="r" b="b" t="t" l="l"/>
              <a:pathLst>
                <a:path h="795528" w="795528">
                  <a:moveTo>
                    <a:pt x="0" y="53086"/>
                  </a:moveTo>
                  <a:cubicBezTo>
                    <a:pt x="0" y="23749"/>
                    <a:pt x="23749" y="0"/>
                    <a:pt x="53086" y="0"/>
                  </a:cubicBezTo>
                  <a:lnTo>
                    <a:pt x="742442" y="0"/>
                  </a:lnTo>
                  <a:cubicBezTo>
                    <a:pt x="771779" y="0"/>
                    <a:pt x="795528" y="23749"/>
                    <a:pt x="795528" y="53086"/>
                  </a:cubicBezTo>
                  <a:lnTo>
                    <a:pt x="795528" y="742442"/>
                  </a:lnTo>
                  <a:cubicBezTo>
                    <a:pt x="795528" y="771779"/>
                    <a:pt x="771779" y="795528"/>
                    <a:pt x="742442" y="795528"/>
                  </a:cubicBezTo>
                  <a:lnTo>
                    <a:pt x="53086" y="795528"/>
                  </a:lnTo>
                  <a:cubicBezTo>
                    <a:pt x="23749" y="795528"/>
                    <a:pt x="0" y="771779"/>
                    <a:pt x="0" y="742442"/>
                  </a:cubicBezTo>
                  <a:close/>
                </a:path>
              </a:pathLst>
            </a:custGeom>
            <a:solidFill>
              <a:srgbClr val="304755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0632951" y="5845299"/>
            <a:ext cx="374303" cy="429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7"/>
              </a:lnSpc>
            </a:pPr>
            <a:r>
              <a:rPr lang="en-US" sz="2937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260384" y="3139529"/>
            <a:ext cx="3119735" cy="408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437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C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898458" y="3621881"/>
            <a:ext cx="5843736" cy="1358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2062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API and Kafka are actually the same thing—just marketing jargon to confuse freshers in job interviews and make senior developers feel smart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4158466" y="6041156"/>
            <a:ext cx="28575" cy="795486"/>
            <a:chOff x="0" y="0"/>
            <a:chExt cx="38100" cy="106064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8100" cy="1060704"/>
            </a:xfrm>
            <a:custGeom>
              <a:avLst/>
              <a:gdLst/>
              <a:ahLst/>
              <a:cxnLst/>
              <a:rect r="r" b="b" t="t" l="l"/>
              <a:pathLst>
                <a:path h="1060704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041654"/>
                  </a:lnTo>
                  <a:cubicBezTo>
                    <a:pt x="38100" y="1052195"/>
                    <a:pt x="29591" y="1060704"/>
                    <a:pt x="19050" y="1060704"/>
                  </a:cubicBezTo>
                  <a:cubicBezTo>
                    <a:pt x="8509" y="1060704"/>
                    <a:pt x="0" y="1052068"/>
                    <a:pt x="0" y="1041654"/>
                  </a:cubicBezTo>
                  <a:close/>
                </a:path>
              </a:pathLst>
            </a:custGeom>
            <a:solidFill>
              <a:srgbClr val="49606E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3874502" y="5742905"/>
            <a:ext cx="596653" cy="596653"/>
            <a:chOff x="0" y="0"/>
            <a:chExt cx="795537" cy="79553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95528" cy="795528"/>
            </a:xfrm>
            <a:custGeom>
              <a:avLst/>
              <a:gdLst/>
              <a:ahLst/>
              <a:cxnLst/>
              <a:rect r="r" b="b" t="t" l="l"/>
              <a:pathLst>
                <a:path h="795528" w="795528">
                  <a:moveTo>
                    <a:pt x="0" y="53086"/>
                  </a:moveTo>
                  <a:cubicBezTo>
                    <a:pt x="0" y="23749"/>
                    <a:pt x="23749" y="0"/>
                    <a:pt x="53086" y="0"/>
                  </a:cubicBezTo>
                  <a:lnTo>
                    <a:pt x="742442" y="0"/>
                  </a:lnTo>
                  <a:cubicBezTo>
                    <a:pt x="771779" y="0"/>
                    <a:pt x="795528" y="23749"/>
                    <a:pt x="795528" y="53086"/>
                  </a:cubicBezTo>
                  <a:lnTo>
                    <a:pt x="795528" y="742442"/>
                  </a:lnTo>
                  <a:cubicBezTo>
                    <a:pt x="795528" y="771779"/>
                    <a:pt x="771779" y="795528"/>
                    <a:pt x="742442" y="795528"/>
                  </a:cubicBezTo>
                  <a:lnTo>
                    <a:pt x="53086" y="795528"/>
                  </a:lnTo>
                  <a:cubicBezTo>
                    <a:pt x="23749" y="795528"/>
                    <a:pt x="0" y="771779"/>
                    <a:pt x="0" y="742442"/>
                  </a:cubicBezTo>
                  <a:close/>
                </a:path>
              </a:pathLst>
            </a:custGeom>
            <a:solidFill>
              <a:srgbClr val="304755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3985602" y="5845299"/>
            <a:ext cx="374303" cy="429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7"/>
              </a:lnSpc>
            </a:pPr>
            <a:r>
              <a:rPr lang="en-US" sz="2937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4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613035" y="7082879"/>
            <a:ext cx="3119735" cy="408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437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Option D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251109" y="7565231"/>
            <a:ext cx="5843736" cy="1358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2062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Kafka orders the product, API delivers it on a bike, and both take turns writing your 5-star review because you're too lazy to do it yourself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283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523577" y="373261"/>
            <a:ext cx="4455616" cy="478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Answer Key Revealed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23577" y="1150441"/>
            <a:ext cx="8545563" cy="1446460"/>
            <a:chOff x="0" y="0"/>
            <a:chExt cx="11394083" cy="192861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94186" cy="1928622"/>
            </a:xfrm>
            <a:custGeom>
              <a:avLst/>
              <a:gdLst/>
              <a:ahLst/>
              <a:cxnLst/>
              <a:rect r="r" b="b" t="t" l="l"/>
              <a:pathLst>
                <a:path h="1928622" w="11394186">
                  <a:moveTo>
                    <a:pt x="0" y="29972"/>
                  </a:moveTo>
                  <a:cubicBezTo>
                    <a:pt x="0" y="13462"/>
                    <a:pt x="13462" y="0"/>
                    <a:pt x="29972" y="0"/>
                  </a:cubicBezTo>
                  <a:lnTo>
                    <a:pt x="11364214" y="0"/>
                  </a:lnTo>
                  <a:cubicBezTo>
                    <a:pt x="11380724" y="0"/>
                    <a:pt x="11394186" y="13462"/>
                    <a:pt x="11394186" y="29972"/>
                  </a:cubicBezTo>
                  <a:lnTo>
                    <a:pt x="11394186" y="1898650"/>
                  </a:lnTo>
                  <a:cubicBezTo>
                    <a:pt x="11394186" y="1915160"/>
                    <a:pt x="11380724" y="1928622"/>
                    <a:pt x="11364214" y="1928622"/>
                  </a:cubicBezTo>
                  <a:lnTo>
                    <a:pt x="29972" y="1928622"/>
                  </a:lnTo>
                  <a:cubicBezTo>
                    <a:pt x="13462" y="1928622"/>
                    <a:pt x="0" y="1915160"/>
                    <a:pt x="0" y="1898650"/>
                  </a:cubicBezTo>
                  <a:close/>
                </a:path>
              </a:pathLst>
            </a:custGeom>
            <a:solidFill>
              <a:srgbClr val="304755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73150" y="1300014"/>
            <a:ext cx="448716" cy="448716"/>
            <a:chOff x="0" y="0"/>
            <a:chExt cx="598288" cy="5982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98297" cy="598297"/>
            </a:xfrm>
            <a:custGeom>
              <a:avLst/>
              <a:gdLst/>
              <a:ahLst/>
              <a:cxnLst/>
              <a:rect r="r" b="b" t="t" l="l"/>
              <a:pathLst>
                <a:path h="598297" w="598297">
                  <a:moveTo>
                    <a:pt x="0" y="299085"/>
                  </a:moveTo>
                  <a:cubicBezTo>
                    <a:pt x="0" y="133985"/>
                    <a:pt x="133985" y="0"/>
                    <a:pt x="299085" y="0"/>
                  </a:cubicBezTo>
                  <a:cubicBezTo>
                    <a:pt x="464185" y="0"/>
                    <a:pt x="598297" y="133985"/>
                    <a:pt x="598297" y="299085"/>
                  </a:cubicBezTo>
                  <a:cubicBezTo>
                    <a:pt x="598297" y="464185"/>
                    <a:pt x="464312" y="598297"/>
                    <a:pt x="299085" y="598297"/>
                  </a:cubicBezTo>
                  <a:cubicBezTo>
                    <a:pt x="133858" y="598297"/>
                    <a:pt x="0" y="464312"/>
                    <a:pt x="0" y="299085"/>
                  </a:cubicBezTo>
                  <a:close/>
                </a:path>
              </a:pathLst>
            </a:custGeom>
            <a:solidFill>
              <a:srgbClr val="0A988B"/>
            </a:solidFill>
          </p:spPr>
        </p:sp>
      </p:grpSp>
      <p:sp>
        <p:nvSpPr>
          <p:cNvPr name="Freeform 11" id="11" descr="preencoded.png"/>
          <p:cNvSpPr/>
          <p:nvPr/>
        </p:nvSpPr>
        <p:spPr>
          <a:xfrm flipH="false" flipV="false" rot="0">
            <a:off x="796529" y="1423244"/>
            <a:ext cx="201960" cy="201960"/>
          </a:xfrm>
          <a:custGeom>
            <a:avLst/>
            <a:gdLst/>
            <a:ahLst/>
            <a:cxnLst/>
            <a:rect r="r" b="b" t="t" l="l"/>
            <a:pathLst>
              <a:path h="201960" w="201960">
                <a:moveTo>
                  <a:pt x="0" y="0"/>
                </a:moveTo>
                <a:lnTo>
                  <a:pt x="201960" y="0"/>
                </a:lnTo>
                <a:lnTo>
                  <a:pt x="201960" y="201960"/>
                </a:lnTo>
                <a:lnTo>
                  <a:pt x="0" y="2019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73150" y="1879252"/>
            <a:ext cx="1760041" cy="239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Round 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73150" y="2150864"/>
            <a:ext cx="8246417" cy="296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124" b="true">
                <a:solidFill>
                  <a:srgbClr val="CAD6DE"/>
                </a:solidFill>
                <a:latin typeface="Cabin Bold"/>
                <a:ea typeface="Cabin Bold"/>
                <a:cs typeface="Cabin Bold"/>
                <a:sym typeface="Cabin Bold"/>
              </a:rPr>
              <a:t>Answer: B</a:t>
            </a:r>
            <a:r>
              <a:rPr lang="en-US" sz="1124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— APIs act as intermediaries, just like waiters taking orders between you and the kitchen!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18711" y="1150441"/>
            <a:ext cx="8545711" cy="1446460"/>
            <a:chOff x="0" y="0"/>
            <a:chExt cx="11394282" cy="192861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394313" cy="1928622"/>
            </a:xfrm>
            <a:custGeom>
              <a:avLst/>
              <a:gdLst/>
              <a:ahLst/>
              <a:cxnLst/>
              <a:rect r="r" b="b" t="t" l="l"/>
              <a:pathLst>
                <a:path h="1928622" w="11394313">
                  <a:moveTo>
                    <a:pt x="0" y="29972"/>
                  </a:moveTo>
                  <a:cubicBezTo>
                    <a:pt x="0" y="13462"/>
                    <a:pt x="13462" y="0"/>
                    <a:pt x="29972" y="0"/>
                  </a:cubicBezTo>
                  <a:lnTo>
                    <a:pt x="11364341" y="0"/>
                  </a:lnTo>
                  <a:cubicBezTo>
                    <a:pt x="11380851" y="0"/>
                    <a:pt x="11394313" y="13462"/>
                    <a:pt x="11394313" y="29972"/>
                  </a:cubicBezTo>
                  <a:lnTo>
                    <a:pt x="11394313" y="1898650"/>
                  </a:lnTo>
                  <a:cubicBezTo>
                    <a:pt x="11394313" y="1915160"/>
                    <a:pt x="11380851" y="1928622"/>
                    <a:pt x="11364341" y="1928622"/>
                  </a:cubicBezTo>
                  <a:lnTo>
                    <a:pt x="29972" y="1928622"/>
                  </a:lnTo>
                  <a:cubicBezTo>
                    <a:pt x="13462" y="1928622"/>
                    <a:pt x="0" y="1915160"/>
                    <a:pt x="0" y="1898650"/>
                  </a:cubicBezTo>
                  <a:close/>
                </a:path>
              </a:pathLst>
            </a:custGeom>
            <a:solidFill>
              <a:srgbClr val="304755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368284" y="1300014"/>
            <a:ext cx="448716" cy="448716"/>
            <a:chOff x="0" y="0"/>
            <a:chExt cx="598288" cy="59828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98297" cy="598297"/>
            </a:xfrm>
            <a:custGeom>
              <a:avLst/>
              <a:gdLst/>
              <a:ahLst/>
              <a:cxnLst/>
              <a:rect r="r" b="b" t="t" l="l"/>
              <a:pathLst>
                <a:path h="598297" w="598297">
                  <a:moveTo>
                    <a:pt x="0" y="299085"/>
                  </a:moveTo>
                  <a:cubicBezTo>
                    <a:pt x="0" y="133985"/>
                    <a:pt x="133985" y="0"/>
                    <a:pt x="299085" y="0"/>
                  </a:cubicBezTo>
                  <a:cubicBezTo>
                    <a:pt x="464185" y="0"/>
                    <a:pt x="598297" y="133985"/>
                    <a:pt x="598297" y="299085"/>
                  </a:cubicBezTo>
                  <a:cubicBezTo>
                    <a:pt x="598297" y="464185"/>
                    <a:pt x="464312" y="598297"/>
                    <a:pt x="299085" y="598297"/>
                  </a:cubicBezTo>
                  <a:cubicBezTo>
                    <a:pt x="133858" y="598297"/>
                    <a:pt x="0" y="464312"/>
                    <a:pt x="0" y="299085"/>
                  </a:cubicBezTo>
                  <a:close/>
                </a:path>
              </a:pathLst>
            </a:custGeom>
            <a:solidFill>
              <a:srgbClr val="0A988B"/>
            </a:solidFill>
          </p:spPr>
        </p:sp>
      </p:grpSp>
      <p:sp>
        <p:nvSpPr>
          <p:cNvPr name="Freeform 18" id="18" descr="preencoded.png"/>
          <p:cNvSpPr/>
          <p:nvPr/>
        </p:nvSpPr>
        <p:spPr>
          <a:xfrm flipH="false" flipV="false" rot="0">
            <a:off x="9491662" y="1423244"/>
            <a:ext cx="201960" cy="201960"/>
          </a:xfrm>
          <a:custGeom>
            <a:avLst/>
            <a:gdLst/>
            <a:ahLst/>
            <a:cxnLst/>
            <a:rect r="r" b="b" t="t" l="l"/>
            <a:pathLst>
              <a:path h="201960" w="201960">
                <a:moveTo>
                  <a:pt x="0" y="0"/>
                </a:moveTo>
                <a:lnTo>
                  <a:pt x="201960" y="0"/>
                </a:lnTo>
                <a:lnTo>
                  <a:pt x="201960" y="201960"/>
                </a:lnTo>
                <a:lnTo>
                  <a:pt x="0" y="201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368284" y="1879252"/>
            <a:ext cx="1760041" cy="239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Round 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368284" y="2150864"/>
            <a:ext cx="8246566" cy="296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124" b="true">
                <a:solidFill>
                  <a:srgbClr val="CAD6DE"/>
                </a:solidFill>
                <a:latin typeface="Cabin Bold"/>
                <a:ea typeface="Cabin Bold"/>
                <a:cs typeface="Cabin Bold"/>
                <a:sym typeface="Cabin Bold"/>
              </a:rPr>
              <a:t>Answer: C</a:t>
            </a:r>
            <a:r>
              <a:rPr lang="en-US" sz="1124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— POST method saves new items to cart. Poor connectivity = incomplete saves!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523577" y="2746474"/>
            <a:ext cx="8545563" cy="1446460"/>
            <a:chOff x="0" y="0"/>
            <a:chExt cx="11394083" cy="192861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394186" cy="1928622"/>
            </a:xfrm>
            <a:custGeom>
              <a:avLst/>
              <a:gdLst/>
              <a:ahLst/>
              <a:cxnLst/>
              <a:rect r="r" b="b" t="t" l="l"/>
              <a:pathLst>
                <a:path h="1928622" w="11394186">
                  <a:moveTo>
                    <a:pt x="0" y="29972"/>
                  </a:moveTo>
                  <a:cubicBezTo>
                    <a:pt x="0" y="13462"/>
                    <a:pt x="13462" y="0"/>
                    <a:pt x="29972" y="0"/>
                  </a:cubicBezTo>
                  <a:lnTo>
                    <a:pt x="11364214" y="0"/>
                  </a:lnTo>
                  <a:cubicBezTo>
                    <a:pt x="11380724" y="0"/>
                    <a:pt x="11394186" y="13462"/>
                    <a:pt x="11394186" y="29972"/>
                  </a:cubicBezTo>
                  <a:lnTo>
                    <a:pt x="11394186" y="1898650"/>
                  </a:lnTo>
                  <a:cubicBezTo>
                    <a:pt x="11394186" y="1915160"/>
                    <a:pt x="11380724" y="1928622"/>
                    <a:pt x="11364214" y="1928622"/>
                  </a:cubicBezTo>
                  <a:lnTo>
                    <a:pt x="29972" y="1928622"/>
                  </a:lnTo>
                  <a:cubicBezTo>
                    <a:pt x="13462" y="1928622"/>
                    <a:pt x="0" y="1915160"/>
                    <a:pt x="0" y="1898650"/>
                  </a:cubicBezTo>
                  <a:close/>
                </a:path>
              </a:pathLst>
            </a:custGeom>
            <a:solidFill>
              <a:srgbClr val="304755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73150" y="2896046"/>
            <a:ext cx="448716" cy="448716"/>
            <a:chOff x="0" y="0"/>
            <a:chExt cx="598288" cy="59828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98297" cy="598297"/>
            </a:xfrm>
            <a:custGeom>
              <a:avLst/>
              <a:gdLst/>
              <a:ahLst/>
              <a:cxnLst/>
              <a:rect r="r" b="b" t="t" l="l"/>
              <a:pathLst>
                <a:path h="598297" w="598297">
                  <a:moveTo>
                    <a:pt x="0" y="299085"/>
                  </a:moveTo>
                  <a:cubicBezTo>
                    <a:pt x="0" y="133985"/>
                    <a:pt x="133985" y="0"/>
                    <a:pt x="299085" y="0"/>
                  </a:cubicBezTo>
                  <a:cubicBezTo>
                    <a:pt x="464185" y="0"/>
                    <a:pt x="598297" y="133985"/>
                    <a:pt x="598297" y="299085"/>
                  </a:cubicBezTo>
                  <a:cubicBezTo>
                    <a:pt x="598297" y="464185"/>
                    <a:pt x="464312" y="598297"/>
                    <a:pt x="299085" y="598297"/>
                  </a:cubicBezTo>
                  <a:cubicBezTo>
                    <a:pt x="133858" y="598297"/>
                    <a:pt x="0" y="464312"/>
                    <a:pt x="0" y="299085"/>
                  </a:cubicBezTo>
                  <a:close/>
                </a:path>
              </a:pathLst>
            </a:custGeom>
            <a:solidFill>
              <a:srgbClr val="0A988B"/>
            </a:solidFill>
          </p:spPr>
        </p:sp>
      </p:grpSp>
      <p:sp>
        <p:nvSpPr>
          <p:cNvPr name="Freeform 25" id="25" descr="preencoded.png"/>
          <p:cNvSpPr/>
          <p:nvPr/>
        </p:nvSpPr>
        <p:spPr>
          <a:xfrm flipH="false" flipV="false" rot="0">
            <a:off x="796529" y="3019276"/>
            <a:ext cx="201960" cy="201960"/>
          </a:xfrm>
          <a:custGeom>
            <a:avLst/>
            <a:gdLst/>
            <a:ahLst/>
            <a:cxnLst/>
            <a:rect r="r" b="b" t="t" l="l"/>
            <a:pathLst>
              <a:path h="201960" w="201960">
                <a:moveTo>
                  <a:pt x="0" y="0"/>
                </a:moveTo>
                <a:lnTo>
                  <a:pt x="201960" y="0"/>
                </a:lnTo>
                <a:lnTo>
                  <a:pt x="201960" y="201960"/>
                </a:lnTo>
                <a:lnTo>
                  <a:pt x="0" y="2019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4545" t="0" r="-4545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673150" y="3475285"/>
            <a:ext cx="1760041" cy="239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Round 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73150" y="3746896"/>
            <a:ext cx="8246417" cy="296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124" b="true">
                <a:solidFill>
                  <a:srgbClr val="CAD6DE"/>
                </a:solidFill>
                <a:latin typeface="Cabin Bold"/>
                <a:ea typeface="Cabin Bold"/>
                <a:cs typeface="Cabin Bold"/>
                <a:sym typeface="Cabin Bold"/>
              </a:rPr>
              <a:t>Answer: B</a:t>
            </a:r>
            <a:r>
              <a:rPr lang="en-US" sz="1124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— OAuth 2.0 lets one service vouch for you on another, enabling social logins!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218711" y="2746474"/>
            <a:ext cx="8545711" cy="1446460"/>
            <a:chOff x="0" y="0"/>
            <a:chExt cx="11394282" cy="192861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394313" cy="1928622"/>
            </a:xfrm>
            <a:custGeom>
              <a:avLst/>
              <a:gdLst/>
              <a:ahLst/>
              <a:cxnLst/>
              <a:rect r="r" b="b" t="t" l="l"/>
              <a:pathLst>
                <a:path h="1928622" w="11394313">
                  <a:moveTo>
                    <a:pt x="0" y="29972"/>
                  </a:moveTo>
                  <a:cubicBezTo>
                    <a:pt x="0" y="13462"/>
                    <a:pt x="13462" y="0"/>
                    <a:pt x="29972" y="0"/>
                  </a:cubicBezTo>
                  <a:lnTo>
                    <a:pt x="11364341" y="0"/>
                  </a:lnTo>
                  <a:cubicBezTo>
                    <a:pt x="11380851" y="0"/>
                    <a:pt x="11394313" y="13462"/>
                    <a:pt x="11394313" y="29972"/>
                  </a:cubicBezTo>
                  <a:lnTo>
                    <a:pt x="11394313" y="1898650"/>
                  </a:lnTo>
                  <a:cubicBezTo>
                    <a:pt x="11394313" y="1915160"/>
                    <a:pt x="11380851" y="1928622"/>
                    <a:pt x="11364341" y="1928622"/>
                  </a:cubicBezTo>
                  <a:lnTo>
                    <a:pt x="29972" y="1928622"/>
                  </a:lnTo>
                  <a:cubicBezTo>
                    <a:pt x="13462" y="1928622"/>
                    <a:pt x="0" y="1915160"/>
                    <a:pt x="0" y="1898650"/>
                  </a:cubicBezTo>
                  <a:close/>
                </a:path>
              </a:pathLst>
            </a:custGeom>
            <a:solidFill>
              <a:srgbClr val="304755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368284" y="2896046"/>
            <a:ext cx="448716" cy="448716"/>
            <a:chOff x="0" y="0"/>
            <a:chExt cx="598288" cy="59828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98297" cy="598297"/>
            </a:xfrm>
            <a:custGeom>
              <a:avLst/>
              <a:gdLst/>
              <a:ahLst/>
              <a:cxnLst/>
              <a:rect r="r" b="b" t="t" l="l"/>
              <a:pathLst>
                <a:path h="598297" w="598297">
                  <a:moveTo>
                    <a:pt x="0" y="299085"/>
                  </a:moveTo>
                  <a:cubicBezTo>
                    <a:pt x="0" y="133985"/>
                    <a:pt x="133985" y="0"/>
                    <a:pt x="299085" y="0"/>
                  </a:cubicBezTo>
                  <a:cubicBezTo>
                    <a:pt x="464185" y="0"/>
                    <a:pt x="598297" y="133985"/>
                    <a:pt x="598297" y="299085"/>
                  </a:cubicBezTo>
                  <a:cubicBezTo>
                    <a:pt x="598297" y="464185"/>
                    <a:pt x="464312" y="598297"/>
                    <a:pt x="299085" y="598297"/>
                  </a:cubicBezTo>
                  <a:cubicBezTo>
                    <a:pt x="133858" y="598297"/>
                    <a:pt x="0" y="464312"/>
                    <a:pt x="0" y="299085"/>
                  </a:cubicBezTo>
                  <a:close/>
                </a:path>
              </a:pathLst>
            </a:custGeom>
            <a:solidFill>
              <a:srgbClr val="0A988B"/>
            </a:solidFill>
          </p:spPr>
        </p:sp>
      </p:grpSp>
      <p:sp>
        <p:nvSpPr>
          <p:cNvPr name="Freeform 32" id="32" descr="preencoded.png"/>
          <p:cNvSpPr/>
          <p:nvPr/>
        </p:nvSpPr>
        <p:spPr>
          <a:xfrm flipH="false" flipV="false" rot="0">
            <a:off x="9491662" y="3019276"/>
            <a:ext cx="201960" cy="201960"/>
          </a:xfrm>
          <a:custGeom>
            <a:avLst/>
            <a:gdLst/>
            <a:ahLst/>
            <a:cxnLst/>
            <a:rect r="r" b="b" t="t" l="l"/>
            <a:pathLst>
              <a:path h="201960" w="201960">
                <a:moveTo>
                  <a:pt x="0" y="0"/>
                </a:moveTo>
                <a:lnTo>
                  <a:pt x="201960" y="0"/>
                </a:lnTo>
                <a:lnTo>
                  <a:pt x="201960" y="201960"/>
                </a:lnTo>
                <a:lnTo>
                  <a:pt x="0" y="20196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9368284" y="3475285"/>
            <a:ext cx="1760041" cy="239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Round 4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368284" y="3746896"/>
            <a:ext cx="8246566" cy="296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124" b="true">
                <a:solidFill>
                  <a:srgbClr val="CAD6DE"/>
                </a:solidFill>
                <a:latin typeface="Cabin Bold"/>
                <a:ea typeface="Cabin Bold"/>
                <a:cs typeface="Cabin Bold"/>
                <a:sym typeface="Cabin Bold"/>
              </a:rPr>
              <a:t>Answer: B</a:t>
            </a:r>
            <a:r>
              <a:rPr lang="en-US" sz="1124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— Kafka streams real-time data like GPS locations for live tracking updates!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523577" y="4361110"/>
            <a:ext cx="8545563" cy="1446460"/>
            <a:chOff x="0" y="0"/>
            <a:chExt cx="11394083" cy="192861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394186" cy="1928622"/>
            </a:xfrm>
            <a:custGeom>
              <a:avLst/>
              <a:gdLst/>
              <a:ahLst/>
              <a:cxnLst/>
              <a:rect r="r" b="b" t="t" l="l"/>
              <a:pathLst>
                <a:path h="1928622" w="11394186">
                  <a:moveTo>
                    <a:pt x="0" y="29972"/>
                  </a:moveTo>
                  <a:cubicBezTo>
                    <a:pt x="0" y="13462"/>
                    <a:pt x="13462" y="0"/>
                    <a:pt x="29972" y="0"/>
                  </a:cubicBezTo>
                  <a:lnTo>
                    <a:pt x="11364214" y="0"/>
                  </a:lnTo>
                  <a:cubicBezTo>
                    <a:pt x="11380724" y="0"/>
                    <a:pt x="11394186" y="13462"/>
                    <a:pt x="11394186" y="29972"/>
                  </a:cubicBezTo>
                  <a:lnTo>
                    <a:pt x="11394186" y="1898650"/>
                  </a:lnTo>
                  <a:cubicBezTo>
                    <a:pt x="11394186" y="1915160"/>
                    <a:pt x="11380724" y="1928622"/>
                    <a:pt x="11364214" y="1928622"/>
                  </a:cubicBezTo>
                  <a:lnTo>
                    <a:pt x="29972" y="1928622"/>
                  </a:lnTo>
                  <a:cubicBezTo>
                    <a:pt x="13462" y="1928622"/>
                    <a:pt x="0" y="1915160"/>
                    <a:pt x="0" y="1898650"/>
                  </a:cubicBezTo>
                  <a:close/>
                </a:path>
              </a:pathLst>
            </a:custGeom>
            <a:solidFill>
              <a:srgbClr val="304755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673150" y="4510682"/>
            <a:ext cx="448716" cy="448716"/>
            <a:chOff x="0" y="0"/>
            <a:chExt cx="598288" cy="59828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98297" cy="598297"/>
            </a:xfrm>
            <a:custGeom>
              <a:avLst/>
              <a:gdLst/>
              <a:ahLst/>
              <a:cxnLst/>
              <a:rect r="r" b="b" t="t" l="l"/>
              <a:pathLst>
                <a:path h="598297" w="598297">
                  <a:moveTo>
                    <a:pt x="0" y="299085"/>
                  </a:moveTo>
                  <a:cubicBezTo>
                    <a:pt x="0" y="133985"/>
                    <a:pt x="133985" y="0"/>
                    <a:pt x="299085" y="0"/>
                  </a:cubicBezTo>
                  <a:cubicBezTo>
                    <a:pt x="464185" y="0"/>
                    <a:pt x="598297" y="133985"/>
                    <a:pt x="598297" y="299085"/>
                  </a:cubicBezTo>
                  <a:cubicBezTo>
                    <a:pt x="598297" y="464185"/>
                    <a:pt x="464312" y="598297"/>
                    <a:pt x="299085" y="598297"/>
                  </a:cubicBezTo>
                  <a:cubicBezTo>
                    <a:pt x="133858" y="598297"/>
                    <a:pt x="0" y="464312"/>
                    <a:pt x="0" y="299085"/>
                  </a:cubicBezTo>
                  <a:close/>
                </a:path>
              </a:pathLst>
            </a:custGeom>
            <a:solidFill>
              <a:srgbClr val="0A988B"/>
            </a:solidFill>
          </p:spPr>
        </p:sp>
      </p:grpSp>
      <p:sp>
        <p:nvSpPr>
          <p:cNvPr name="Freeform 39" id="39" descr="preencoded.png"/>
          <p:cNvSpPr/>
          <p:nvPr/>
        </p:nvSpPr>
        <p:spPr>
          <a:xfrm flipH="false" flipV="false" rot="0">
            <a:off x="796529" y="4633912"/>
            <a:ext cx="201960" cy="201960"/>
          </a:xfrm>
          <a:custGeom>
            <a:avLst/>
            <a:gdLst/>
            <a:ahLst/>
            <a:cxnLst/>
            <a:rect r="r" b="b" t="t" l="l"/>
            <a:pathLst>
              <a:path h="201960" w="201960">
                <a:moveTo>
                  <a:pt x="0" y="0"/>
                </a:moveTo>
                <a:lnTo>
                  <a:pt x="201960" y="0"/>
                </a:lnTo>
                <a:lnTo>
                  <a:pt x="201960" y="201960"/>
                </a:lnTo>
                <a:lnTo>
                  <a:pt x="0" y="20196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9090" r="0" b="-909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673150" y="5089922"/>
            <a:ext cx="1760041" cy="239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Round 5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73150" y="5361534"/>
            <a:ext cx="8246417" cy="296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124" b="true">
                <a:solidFill>
                  <a:srgbClr val="CAD6DE"/>
                </a:solidFill>
                <a:latin typeface="Cabin Bold"/>
                <a:ea typeface="Cabin Bold"/>
                <a:cs typeface="Cabin Bold"/>
                <a:sym typeface="Cabin Bold"/>
              </a:rPr>
              <a:t>Answer: B</a:t>
            </a:r>
            <a:r>
              <a:rPr lang="en-US" sz="1124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— Topics categorise messages, partitions enable parallel processing for scalability!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9218711" y="4361110"/>
            <a:ext cx="8545711" cy="1446460"/>
            <a:chOff x="0" y="0"/>
            <a:chExt cx="11394282" cy="192861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394313" cy="1928622"/>
            </a:xfrm>
            <a:custGeom>
              <a:avLst/>
              <a:gdLst/>
              <a:ahLst/>
              <a:cxnLst/>
              <a:rect r="r" b="b" t="t" l="l"/>
              <a:pathLst>
                <a:path h="1928622" w="11394313">
                  <a:moveTo>
                    <a:pt x="0" y="29972"/>
                  </a:moveTo>
                  <a:cubicBezTo>
                    <a:pt x="0" y="13462"/>
                    <a:pt x="13462" y="0"/>
                    <a:pt x="29972" y="0"/>
                  </a:cubicBezTo>
                  <a:lnTo>
                    <a:pt x="11364341" y="0"/>
                  </a:lnTo>
                  <a:cubicBezTo>
                    <a:pt x="11380851" y="0"/>
                    <a:pt x="11394313" y="13462"/>
                    <a:pt x="11394313" y="29972"/>
                  </a:cubicBezTo>
                  <a:lnTo>
                    <a:pt x="11394313" y="1898650"/>
                  </a:lnTo>
                  <a:cubicBezTo>
                    <a:pt x="11394313" y="1915160"/>
                    <a:pt x="11380851" y="1928622"/>
                    <a:pt x="11364341" y="1928622"/>
                  </a:cubicBezTo>
                  <a:lnTo>
                    <a:pt x="29972" y="1928622"/>
                  </a:lnTo>
                  <a:cubicBezTo>
                    <a:pt x="13462" y="1928622"/>
                    <a:pt x="0" y="1915160"/>
                    <a:pt x="0" y="1898650"/>
                  </a:cubicBezTo>
                  <a:close/>
                </a:path>
              </a:pathLst>
            </a:custGeom>
            <a:solidFill>
              <a:srgbClr val="304755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368284" y="4510682"/>
            <a:ext cx="448716" cy="448716"/>
            <a:chOff x="0" y="0"/>
            <a:chExt cx="598288" cy="59828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98297" cy="598297"/>
            </a:xfrm>
            <a:custGeom>
              <a:avLst/>
              <a:gdLst/>
              <a:ahLst/>
              <a:cxnLst/>
              <a:rect r="r" b="b" t="t" l="l"/>
              <a:pathLst>
                <a:path h="598297" w="598297">
                  <a:moveTo>
                    <a:pt x="0" y="299085"/>
                  </a:moveTo>
                  <a:cubicBezTo>
                    <a:pt x="0" y="133985"/>
                    <a:pt x="133985" y="0"/>
                    <a:pt x="299085" y="0"/>
                  </a:cubicBezTo>
                  <a:cubicBezTo>
                    <a:pt x="464185" y="0"/>
                    <a:pt x="598297" y="133985"/>
                    <a:pt x="598297" y="299085"/>
                  </a:cubicBezTo>
                  <a:cubicBezTo>
                    <a:pt x="598297" y="464185"/>
                    <a:pt x="464312" y="598297"/>
                    <a:pt x="299085" y="598297"/>
                  </a:cubicBezTo>
                  <a:cubicBezTo>
                    <a:pt x="133858" y="598297"/>
                    <a:pt x="0" y="464312"/>
                    <a:pt x="0" y="299085"/>
                  </a:cubicBezTo>
                  <a:close/>
                </a:path>
              </a:pathLst>
            </a:custGeom>
            <a:solidFill>
              <a:srgbClr val="0A988B"/>
            </a:solidFill>
          </p:spPr>
        </p:sp>
      </p:grpSp>
      <p:sp>
        <p:nvSpPr>
          <p:cNvPr name="Freeform 46" id="46" descr="preencoded.png"/>
          <p:cNvSpPr/>
          <p:nvPr/>
        </p:nvSpPr>
        <p:spPr>
          <a:xfrm flipH="false" flipV="false" rot="0">
            <a:off x="9491662" y="4633912"/>
            <a:ext cx="201960" cy="201960"/>
          </a:xfrm>
          <a:custGeom>
            <a:avLst/>
            <a:gdLst/>
            <a:ahLst/>
            <a:cxnLst/>
            <a:rect r="r" b="b" t="t" l="l"/>
            <a:pathLst>
              <a:path h="201960" w="201960">
                <a:moveTo>
                  <a:pt x="0" y="0"/>
                </a:moveTo>
                <a:lnTo>
                  <a:pt x="201960" y="0"/>
                </a:lnTo>
                <a:lnTo>
                  <a:pt x="201960" y="201960"/>
                </a:lnTo>
                <a:lnTo>
                  <a:pt x="0" y="20196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-6818" r="0" b="-6818"/>
            </a:stretch>
          </a:blipFill>
        </p:spPr>
      </p:sp>
      <p:sp>
        <p:nvSpPr>
          <p:cNvPr name="TextBox 47" id="47"/>
          <p:cNvSpPr txBox="true"/>
          <p:nvPr/>
        </p:nvSpPr>
        <p:spPr>
          <a:xfrm rot="0">
            <a:off x="9368284" y="5089922"/>
            <a:ext cx="1760041" cy="239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Round 6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368284" y="5361534"/>
            <a:ext cx="8246566" cy="296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124" b="true">
                <a:solidFill>
                  <a:srgbClr val="CAD6DE"/>
                </a:solidFill>
                <a:latin typeface="Cabin Bold"/>
                <a:ea typeface="Cabin Bold"/>
                <a:cs typeface="Cabin Bold"/>
                <a:sym typeface="Cabin Bold"/>
              </a:rPr>
              <a:t>Answer: B</a:t>
            </a:r>
            <a:r>
              <a:rPr lang="en-US" sz="1124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— Producers create/publish content, consumers receive and process those notifications!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523577" y="5957144"/>
            <a:ext cx="8545563" cy="1446460"/>
            <a:chOff x="0" y="0"/>
            <a:chExt cx="11394083" cy="192861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394186" cy="1928622"/>
            </a:xfrm>
            <a:custGeom>
              <a:avLst/>
              <a:gdLst/>
              <a:ahLst/>
              <a:cxnLst/>
              <a:rect r="r" b="b" t="t" l="l"/>
              <a:pathLst>
                <a:path h="1928622" w="11394186">
                  <a:moveTo>
                    <a:pt x="0" y="29972"/>
                  </a:moveTo>
                  <a:cubicBezTo>
                    <a:pt x="0" y="13462"/>
                    <a:pt x="13462" y="0"/>
                    <a:pt x="29972" y="0"/>
                  </a:cubicBezTo>
                  <a:lnTo>
                    <a:pt x="11364214" y="0"/>
                  </a:lnTo>
                  <a:cubicBezTo>
                    <a:pt x="11380724" y="0"/>
                    <a:pt x="11394186" y="13462"/>
                    <a:pt x="11394186" y="29972"/>
                  </a:cubicBezTo>
                  <a:lnTo>
                    <a:pt x="11394186" y="1898650"/>
                  </a:lnTo>
                  <a:cubicBezTo>
                    <a:pt x="11394186" y="1915160"/>
                    <a:pt x="11380724" y="1928622"/>
                    <a:pt x="11364214" y="1928622"/>
                  </a:cubicBezTo>
                  <a:lnTo>
                    <a:pt x="29972" y="1928622"/>
                  </a:lnTo>
                  <a:cubicBezTo>
                    <a:pt x="13462" y="1928622"/>
                    <a:pt x="0" y="1915160"/>
                    <a:pt x="0" y="1898650"/>
                  </a:cubicBezTo>
                  <a:close/>
                </a:path>
              </a:pathLst>
            </a:custGeom>
            <a:solidFill>
              <a:srgbClr val="304755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673150" y="6106716"/>
            <a:ext cx="448716" cy="448716"/>
            <a:chOff x="0" y="0"/>
            <a:chExt cx="598288" cy="59828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98297" cy="598297"/>
            </a:xfrm>
            <a:custGeom>
              <a:avLst/>
              <a:gdLst/>
              <a:ahLst/>
              <a:cxnLst/>
              <a:rect r="r" b="b" t="t" l="l"/>
              <a:pathLst>
                <a:path h="598297" w="598297">
                  <a:moveTo>
                    <a:pt x="0" y="299085"/>
                  </a:moveTo>
                  <a:cubicBezTo>
                    <a:pt x="0" y="133985"/>
                    <a:pt x="133985" y="0"/>
                    <a:pt x="299085" y="0"/>
                  </a:cubicBezTo>
                  <a:cubicBezTo>
                    <a:pt x="464185" y="0"/>
                    <a:pt x="598297" y="133985"/>
                    <a:pt x="598297" y="299085"/>
                  </a:cubicBezTo>
                  <a:cubicBezTo>
                    <a:pt x="598297" y="464185"/>
                    <a:pt x="464312" y="598297"/>
                    <a:pt x="299085" y="598297"/>
                  </a:cubicBezTo>
                  <a:cubicBezTo>
                    <a:pt x="133858" y="598297"/>
                    <a:pt x="0" y="464312"/>
                    <a:pt x="0" y="299085"/>
                  </a:cubicBezTo>
                  <a:close/>
                </a:path>
              </a:pathLst>
            </a:custGeom>
            <a:solidFill>
              <a:srgbClr val="0A988B"/>
            </a:solidFill>
          </p:spPr>
        </p:sp>
      </p:grpSp>
      <p:sp>
        <p:nvSpPr>
          <p:cNvPr name="Freeform 53" id="53" descr="preencoded.png"/>
          <p:cNvSpPr/>
          <p:nvPr/>
        </p:nvSpPr>
        <p:spPr>
          <a:xfrm flipH="false" flipV="false" rot="0">
            <a:off x="796529" y="6229945"/>
            <a:ext cx="201960" cy="201960"/>
          </a:xfrm>
          <a:custGeom>
            <a:avLst/>
            <a:gdLst/>
            <a:ahLst/>
            <a:cxnLst/>
            <a:rect r="r" b="b" t="t" l="l"/>
            <a:pathLst>
              <a:path h="201960" w="201960">
                <a:moveTo>
                  <a:pt x="0" y="0"/>
                </a:moveTo>
                <a:lnTo>
                  <a:pt x="201960" y="0"/>
                </a:lnTo>
                <a:lnTo>
                  <a:pt x="201960" y="201960"/>
                </a:lnTo>
                <a:lnTo>
                  <a:pt x="0" y="20196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-6818" r="0" b="-6818"/>
            </a:stretch>
          </a:blipFill>
        </p:spPr>
      </p:sp>
      <p:sp>
        <p:nvSpPr>
          <p:cNvPr name="TextBox 54" id="54"/>
          <p:cNvSpPr txBox="true"/>
          <p:nvPr/>
        </p:nvSpPr>
        <p:spPr>
          <a:xfrm rot="0">
            <a:off x="673150" y="6685955"/>
            <a:ext cx="1760041" cy="239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Round 7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673150" y="6957566"/>
            <a:ext cx="8246417" cy="296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124" b="true">
                <a:solidFill>
                  <a:srgbClr val="CAD6DE"/>
                </a:solidFill>
                <a:latin typeface="Cabin Bold"/>
                <a:ea typeface="Cabin Bold"/>
                <a:cs typeface="Cabin Bold"/>
                <a:sym typeface="Cabin Bold"/>
              </a:rPr>
              <a:t>Answer: B</a:t>
            </a:r>
            <a:r>
              <a:rPr lang="en-US" sz="1124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— Kafka streams live events in milliseconds, faster than traditional broadcast delays!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9218711" y="5957144"/>
            <a:ext cx="8545711" cy="1446460"/>
            <a:chOff x="0" y="0"/>
            <a:chExt cx="11394282" cy="192861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1394313" cy="1928622"/>
            </a:xfrm>
            <a:custGeom>
              <a:avLst/>
              <a:gdLst/>
              <a:ahLst/>
              <a:cxnLst/>
              <a:rect r="r" b="b" t="t" l="l"/>
              <a:pathLst>
                <a:path h="1928622" w="11394313">
                  <a:moveTo>
                    <a:pt x="0" y="29972"/>
                  </a:moveTo>
                  <a:cubicBezTo>
                    <a:pt x="0" y="13462"/>
                    <a:pt x="13462" y="0"/>
                    <a:pt x="29972" y="0"/>
                  </a:cubicBezTo>
                  <a:lnTo>
                    <a:pt x="11364341" y="0"/>
                  </a:lnTo>
                  <a:cubicBezTo>
                    <a:pt x="11380851" y="0"/>
                    <a:pt x="11394313" y="13462"/>
                    <a:pt x="11394313" y="29972"/>
                  </a:cubicBezTo>
                  <a:lnTo>
                    <a:pt x="11394313" y="1898650"/>
                  </a:lnTo>
                  <a:cubicBezTo>
                    <a:pt x="11394313" y="1915160"/>
                    <a:pt x="11380851" y="1928622"/>
                    <a:pt x="11364341" y="1928622"/>
                  </a:cubicBezTo>
                  <a:lnTo>
                    <a:pt x="29972" y="1928622"/>
                  </a:lnTo>
                  <a:cubicBezTo>
                    <a:pt x="13462" y="1928622"/>
                    <a:pt x="0" y="1915160"/>
                    <a:pt x="0" y="1898650"/>
                  </a:cubicBezTo>
                  <a:close/>
                </a:path>
              </a:pathLst>
            </a:custGeom>
            <a:solidFill>
              <a:srgbClr val="304755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368284" y="6106716"/>
            <a:ext cx="448716" cy="448716"/>
            <a:chOff x="0" y="0"/>
            <a:chExt cx="598288" cy="59828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98297" cy="598297"/>
            </a:xfrm>
            <a:custGeom>
              <a:avLst/>
              <a:gdLst/>
              <a:ahLst/>
              <a:cxnLst/>
              <a:rect r="r" b="b" t="t" l="l"/>
              <a:pathLst>
                <a:path h="598297" w="598297">
                  <a:moveTo>
                    <a:pt x="0" y="299085"/>
                  </a:moveTo>
                  <a:cubicBezTo>
                    <a:pt x="0" y="133985"/>
                    <a:pt x="133985" y="0"/>
                    <a:pt x="299085" y="0"/>
                  </a:cubicBezTo>
                  <a:cubicBezTo>
                    <a:pt x="464185" y="0"/>
                    <a:pt x="598297" y="133985"/>
                    <a:pt x="598297" y="299085"/>
                  </a:cubicBezTo>
                  <a:cubicBezTo>
                    <a:pt x="598297" y="464185"/>
                    <a:pt x="464312" y="598297"/>
                    <a:pt x="299085" y="598297"/>
                  </a:cubicBezTo>
                  <a:cubicBezTo>
                    <a:pt x="133858" y="598297"/>
                    <a:pt x="0" y="464312"/>
                    <a:pt x="0" y="299085"/>
                  </a:cubicBezTo>
                  <a:close/>
                </a:path>
              </a:pathLst>
            </a:custGeom>
            <a:solidFill>
              <a:srgbClr val="0A988B"/>
            </a:solidFill>
          </p:spPr>
        </p:sp>
      </p:grpSp>
      <p:sp>
        <p:nvSpPr>
          <p:cNvPr name="Freeform 60" id="60" descr="preencoded.png"/>
          <p:cNvSpPr/>
          <p:nvPr/>
        </p:nvSpPr>
        <p:spPr>
          <a:xfrm flipH="false" flipV="false" rot="0">
            <a:off x="9491662" y="6229945"/>
            <a:ext cx="201960" cy="201960"/>
          </a:xfrm>
          <a:custGeom>
            <a:avLst/>
            <a:gdLst/>
            <a:ahLst/>
            <a:cxnLst/>
            <a:rect r="r" b="b" t="t" l="l"/>
            <a:pathLst>
              <a:path h="201960" w="201960">
                <a:moveTo>
                  <a:pt x="0" y="0"/>
                </a:moveTo>
                <a:lnTo>
                  <a:pt x="201960" y="0"/>
                </a:lnTo>
                <a:lnTo>
                  <a:pt x="201960" y="201960"/>
                </a:lnTo>
                <a:lnTo>
                  <a:pt x="0" y="20196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1" id="61"/>
          <p:cNvSpPr txBox="true"/>
          <p:nvPr/>
        </p:nvSpPr>
        <p:spPr>
          <a:xfrm rot="0">
            <a:off x="9368284" y="6685955"/>
            <a:ext cx="1760041" cy="239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Round 8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9368284" y="6957566"/>
            <a:ext cx="8246566" cy="296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124" b="true">
                <a:solidFill>
                  <a:srgbClr val="CAD6DE"/>
                </a:solidFill>
                <a:latin typeface="Cabin Bold"/>
                <a:ea typeface="Cabin Bold"/>
                <a:cs typeface="Cabin Bold"/>
                <a:sym typeface="Cabin Bold"/>
              </a:rPr>
              <a:t>Answer: B</a:t>
            </a:r>
            <a:r>
              <a:rPr lang="en-US" sz="1124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— APIs handle requests/responses, Kafka streams continuous real-time status updates!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523577" y="7646539"/>
            <a:ext cx="17240845" cy="28129"/>
            <a:chOff x="0" y="0"/>
            <a:chExt cx="22987793" cy="37505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2987763" cy="37465"/>
            </a:xfrm>
            <a:custGeom>
              <a:avLst/>
              <a:gdLst/>
              <a:ahLst/>
              <a:cxnLst/>
              <a:rect r="r" b="b" t="t" l="l"/>
              <a:pathLst>
                <a:path h="37465" w="22987763">
                  <a:moveTo>
                    <a:pt x="0" y="0"/>
                  </a:moveTo>
                  <a:lnTo>
                    <a:pt x="22987763" y="0"/>
                  </a:lnTo>
                  <a:lnTo>
                    <a:pt x="22987763" y="37465"/>
                  </a:lnTo>
                  <a:lnTo>
                    <a:pt x="0" y="37465"/>
                  </a:lnTo>
                  <a:close/>
                </a:path>
              </a:pathLst>
            </a:custGeom>
            <a:solidFill>
              <a:srgbClr val="CAD6DE">
                <a:alpha val="24706"/>
              </a:srgbClr>
            </a:solidFill>
          </p:spPr>
        </p:sp>
      </p:grpSp>
      <p:sp>
        <p:nvSpPr>
          <p:cNvPr name="TextBox 65" id="65"/>
          <p:cNvSpPr txBox="true"/>
          <p:nvPr/>
        </p:nvSpPr>
        <p:spPr>
          <a:xfrm rot="0">
            <a:off x="523577" y="7870329"/>
            <a:ext cx="2112169" cy="292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2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Scoring Guide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523577" y="8518922"/>
            <a:ext cx="5622280" cy="436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5"/>
              </a:lnSpc>
            </a:pPr>
            <a:r>
              <a:rPr lang="en-US" sz="3875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8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2454622" y="9123164"/>
            <a:ext cx="1760041" cy="239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sz="1375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Perfect Score!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523577" y="9394775"/>
            <a:ext cx="5622280" cy="296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4"/>
              </a:lnSpc>
            </a:pPr>
            <a:r>
              <a:rPr lang="en-US" sz="1124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You're an API-Kafka master! Time to put these skills on your CV and demand a raise!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6332785" y="8518922"/>
            <a:ext cx="5622280" cy="436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5"/>
              </a:lnSpc>
            </a:pPr>
            <a:r>
              <a:rPr lang="en-US" sz="3875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5-7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8263830" y="9123164"/>
            <a:ext cx="1760041" cy="239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sz="1375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Pretty Good!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6332785" y="9394775"/>
            <a:ext cx="5622280" cy="535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4"/>
              </a:lnSpc>
            </a:pPr>
            <a:r>
              <a:rPr lang="en-US" sz="1124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Solid understanding! A few more samosas and revision sessions will get you to expert level!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2141994" y="8518922"/>
            <a:ext cx="5622429" cy="436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5"/>
              </a:lnSpc>
            </a:pPr>
            <a:r>
              <a:rPr lang="en-US" sz="3875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0-4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4073187" y="9123164"/>
            <a:ext cx="1760041" cy="239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sz="1375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Keep Learning!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2141994" y="9394775"/>
            <a:ext cx="5622429" cy="535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4"/>
              </a:lnSpc>
            </a:pPr>
            <a:r>
              <a:rPr lang="en-US" sz="1124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Don't worry—even the best developers started somewhere! Time for more practice and chai breaks!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DAG4eJTno_M</dc:identifier>
  <dcterms:modified xsi:type="dcterms:W3CDTF">2011-08-01T06:04:30Z</dcterms:modified>
  <cp:revision>1</cp:revision>
  <dc:title>Don't worry—even the best developers started somewhere! Time for more practice and chai breaks!</dc:title>
</cp:coreProperties>
</file>